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0e3342b8f94df1" /><Relationship Type="http://schemas.openxmlformats.org/officeDocument/2006/relationships/extended-properties" Target="/docProps/app.xml" Id="Rf8de8f42c08c4b19" /><Relationship Type="http://schemas.openxmlformats.org/officeDocument/2006/relationships/officeDocument" Target="/ppt/presentation.xml" Id="R986f5ab3944b4432" /></Relationships>
</file>

<file path=ppt/presentation.xml><?xml version="1.0" encoding="utf-8"?>
<p:presentation xmlns:p="http://schemas.openxmlformats.org/presentationml/2006/main">
  <p:sldMasterIdLst>
    <p:sldMasterId xmlns:r="http://schemas.openxmlformats.org/officeDocument/2006/relationships" id="2147483648" r:id="R3ca061d5fd5f4fcc"/>
  </p:sldMasterIdLst>
  <p:notesMasterIdLst>
    <p:notesMasterId xmlns:r="http://schemas.openxmlformats.org/officeDocument/2006/relationships" r:id="R431e8f93252b472d"/>
  </p:notesMasterIdLst>
  <p:sldIdLst>
    <p:sldId xmlns:r="http://schemas.openxmlformats.org/officeDocument/2006/relationships" id="256" r:id="Rf6d7091dbb9d42f2"/>
    <p:sldId xmlns:r="http://schemas.openxmlformats.org/officeDocument/2006/relationships" id="257" r:id="Rf5ebbeb2ca394acc"/>
    <p:sldId xmlns:r="http://schemas.openxmlformats.org/officeDocument/2006/relationships" id="258" r:id="R3b1ef9fdd2704247"/>
    <p:sldId xmlns:r="http://schemas.openxmlformats.org/officeDocument/2006/relationships" id="259" r:id="Rb72daed03d0b4878"/>
    <p:sldId xmlns:r="http://schemas.openxmlformats.org/officeDocument/2006/relationships" id="260" r:id="R0b8b32bb030f4adb"/>
    <p:sldId xmlns:r="http://schemas.openxmlformats.org/officeDocument/2006/relationships" id="261" r:id="R2ab1a1ba77514b86"/>
    <p:sldId xmlns:r="http://schemas.openxmlformats.org/officeDocument/2006/relationships" id="262" r:id="Rf949e040fb9742d0"/>
    <p:sldId xmlns:r="http://schemas.openxmlformats.org/officeDocument/2006/relationships" id="263" r:id="Rc8815a3e1fae4afc"/>
    <p:sldId xmlns:r="http://schemas.openxmlformats.org/officeDocument/2006/relationships" id="264" r:id="R05effd5a825a42d9"/>
    <p:sldId xmlns:r="http://schemas.openxmlformats.org/officeDocument/2006/relationships" id="265" r:id="R259d4b073a6746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1cf7d9971b4d84" /><Relationship Type="http://schemas.openxmlformats.org/officeDocument/2006/relationships/slideMaster" Target="/ppt/slideMasters/slideMaster1.xml" Id="R3ca061d5fd5f4fcc" /><Relationship Type="http://schemas.openxmlformats.org/officeDocument/2006/relationships/notesMaster" Target="/ppt/notesMasters/notesMaster1.xml" Id="R431e8f93252b472d" /><Relationship Type="http://schemas.openxmlformats.org/officeDocument/2006/relationships/presProps" Target="/ppt/presProps.xml" Id="R1b9471b2b681467d" /><Relationship Type="http://schemas.openxmlformats.org/officeDocument/2006/relationships/tableStyles" Target="/ppt/tableStyles.xml" Id="R68e36fd7ac424f79" /><Relationship Type="http://schemas.openxmlformats.org/officeDocument/2006/relationships/slide" Target="/ppt/slides/slide1.xml" Id="Rf6d7091dbb9d42f2" /><Relationship Type="http://schemas.openxmlformats.org/officeDocument/2006/relationships/slide" Target="/ppt/slides/slide2.xml" Id="Rf5ebbeb2ca394acc" /><Relationship Type="http://schemas.openxmlformats.org/officeDocument/2006/relationships/slide" Target="/ppt/slides/slide3.xml" Id="R3b1ef9fdd2704247" /><Relationship Type="http://schemas.openxmlformats.org/officeDocument/2006/relationships/slide" Target="/ppt/slides/slide4.xml" Id="Rb72daed03d0b4878" /><Relationship Type="http://schemas.openxmlformats.org/officeDocument/2006/relationships/slide" Target="/ppt/slides/slide5.xml" Id="R0b8b32bb030f4adb" /><Relationship Type="http://schemas.openxmlformats.org/officeDocument/2006/relationships/slide" Target="/ppt/slides/slide6.xml" Id="R2ab1a1ba77514b86" /><Relationship Type="http://schemas.openxmlformats.org/officeDocument/2006/relationships/slide" Target="/ppt/slides/slide7.xml" Id="Rf949e040fb9742d0" /><Relationship Type="http://schemas.openxmlformats.org/officeDocument/2006/relationships/slide" Target="/ppt/slides/slide8.xml" Id="Rc8815a3e1fae4afc" /><Relationship Type="http://schemas.openxmlformats.org/officeDocument/2006/relationships/slide" Target="/ppt/slides/slide9.xml" Id="R05effd5a825a42d9" /><Relationship Type="http://schemas.openxmlformats.org/officeDocument/2006/relationships/slide" Target="/ppt/slides/slide10.xml" Id="R259d4b073a6746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00a290f5964d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0a6025d3444853" /><Relationship Type="http://schemas.openxmlformats.org/officeDocument/2006/relationships/notesMaster" Target="/ppt/notesMasters/notesMaster1.xml" Id="R6e4aa33353094e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2fdc94fd7d4022" /><Relationship Type="http://schemas.openxmlformats.org/officeDocument/2006/relationships/notesMaster" Target="/ppt/notesMasters/notesMaster1.xml" Id="Rda04fa7bbe0c46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c7e6172815417e" /><Relationship Type="http://schemas.openxmlformats.org/officeDocument/2006/relationships/notesMaster" Target="/ppt/notesMasters/notesMaster1.xml" Id="R8bd6ed9cf36a46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37d4c3e3534755" /><Relationship Type="http://schemas.openxmlformats.org/officeDocument/2006/relationships/notesMaster" Target="/ppt/notesMasters/notesMaster1.xml" Id="Racce3caf1a7e47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7537f2ea56416a" /><Relationship Type="http://schemas.openxmlformats.org/officeDocument/2006/relationships/notesMaster" Target="/ppt/notesMasters/notesMaster1.xml" Id="R83cfe0e8808444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836909472a4e7d" /><Relationship Type="http://schemas.openxmlformats.org/officeDocument/2006/relationships/notesMaster" Target="/ppt/notesMasters/notesMaster1.xml" Id="Rc90d6a2088bf49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867fb55cd24ce8" /><Relationship Type="http://schemas.openxmlformats.org/officeDocument/2006/relationships/notesMaster" Target="/ppt/notesMasters/notesMaster1.xml" Id="R7f1f98aceb724a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9fc3d8387a48c0" /><Relationship Type="http://schemas.openxmlformats.org/officeDocument/2006/relationships/notesMaster" Target="/ppt/notesMasters/notesMaster1.xml" Id="R365a17a10d5e45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77e7e2b5644677" /><Relationship Type="http://schemas.openxmlformats.org/officeDocument/2006/relationships/notesMaster" Target="/ppt/notesMasters/notesMaster1.xml" Id="Racf6a34caa194e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5de16b8f594a62" /><Relationship Type="http://schemas.openxmlformats.org/officeDocument/2006/relationships/notesMaster" Target="/ppt/notesMasters/notesMaster1.xml" Id="R4b57ac73818b42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D:/chuyen-de-chuyen-sau/Chuyên đề chuyên sâu.docx; SHA-256 2425ffb1b8c109a410a93a30e76c99251d234fa20ab33efbb9922bdc44f0e92f.</a:t>
            </a:r>
          </a:p>
          <a:p xmlns:a="http://schemas.openxmlformats.org/drawingml/2006/main">
            <a:r>
              <a:t/>
            </a:r>
          </a:p>
          <a:p xmlns:a="http://schemas.openxmlformats.org/drawingml/2006/main">
            <a:r>
              <a:t>Kính thưa cô và các thầy cô, em là Đoàn Ngọc Hoàng Minh. Chuyên đề của em nghiên cứu cách tạo đặc trưng từ log để phục vụ phát hiện tấn công. Vấn đề em theo đuổi không chỉ là đổi log thành vector. Em muốn biết khi gom nhiều sự kiện vào một vector thì thông tin an ninh nào còn lại, thông tin nào mất đi, và mình có cách nào kiểm tra điều đó mà không tự đánh lừa bằng một điểm số đẹp. Em xin đi từ câu hỏi ấy đến phương pháp, rồi trình bày kết quả thực nghiệm, kể cả kết quả chưa ủng hộ giả thuyết ban đầu.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Một dòng log thường kể được rất ít. Nó cho biết một sự kiện đã xảy ra, nhưng ý nghĩa an ninh của sự kiện ấy còn phụ thuộc vào cái gì xảy ra trước đó, thực thể nào liên quan và tham số cụ thể là gì. Vì vậy, nếu chỉ đếm mẫu hoặc tần suất, ta dễ bỏ sót quan hệ và tham số. Nếu chỉ đọc chuỗi, ta giữ được diễn biến nhưng chưa chắc nhìn rõ các phụ thuộc giữa nhiều thực thể. Nếu dựng đồ thị, quan hệ hiện ra rõ hơn, đổi lại chi phí xử lý tăng lên.</a:t>
            </a:r>
          </a:p>
          <a:p xmlns:a="http://schemas.openxmlformats.org/drawingml/2006/main">
            <a:r>
              <a:t/>
            </a:r>
          </a:p>
          <a:p xmlns:a="http://schemas.openxmlformats.org/drawingml/2006/main">
            <a:r>
              <a:t>Từ khảo sát ở Chương 1, em rút ra năm khoảng trống. Trên slide em đã đặt chúng ở phía bên phải; trong 15 phút này em tập trung vào ba khoảng trống chi phối cách làm: giữ ngữ nghĩa tham số, kết hợp chuỗi với đồ thị mà không làm hỏng biểu diễn tốt sẵn có, và kiểm soát rò rỉ khi đánh giá. Hai khoảng trống còn lại — nhãn an ninh mức thô và quyền riêng tư — được đưa vào khung thiết kế nhưng chưa có thực nghiệm đầy đủ.</a:t>
            </a:r>
          </a:p>
          <a:p xmlns:a="http://schemas.openxmlformats.org/drawingml/2006/main">
            <a:r>
              <a:t/>
            </a:r>
          </a:p>
          <a:p xmlns:a="http://schemas.openxmlformats.org/drawingml/2006/main">
            <a:r>
              <a:t>**Một mô hình phức tạp hơn không mặc nhiên học được tín hiệu an ninh tốt hơn.** Muốn nói nó tốt hơn, trước hết phải chỉ rõ tín hiệu cần giữ là gì, rồi đo dưới cùng một cách chia dữ liệu và cùng một giao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Em gọi bộ tiêu chí đó là Hợp đồng Biểu diễn. Nó có ba nhóm điều kiện. Bảo toàn là giữ những thứ có thể mang ý nghĩa an ninh, như tham số lệnh, thứ tự thời gian và quan hệ phụ thuộc. Bất biến là không để những thay đổi vô hại — chẳng hạn một PID ngẫu nhiên hoặc cách ghi thời gian — làm đổi kết luận một cách vô lý. Triệt tiêu là hạn chế dấu vết rò rỉ, dấu vết môi trường thí nghiệm và định danh nhạy cảm mà mô hình có thể lợi dụng để học đường tắt.</a:t>
            </a:r>
          </a:p>
          <a:p xmlns:a="http://schemas.openxmlformats.org/drawingml/2006/main">
            <a:r>
              <a:t/>
            </a:r>
          </a:p>
          <a:p xmlns:a="http://schemas.openxmlformats.org/drawingml/2006/main">
            <a:r>
              <a:t>Ba từ này dễ nghe như cam kết rằng mô hình đã đạt cả ba. Em không dùng chúng theo nghĩa đó. Đây là **đặc tả những gì cần kiểm tra**. Một phép kiểm tra có thể thất bại, và thất bại ấy vẫn cho ta thông tin. Ví dụ, muốn nói vector giữ tham số, phải có phép đo phù hợp với tham số; chỉ nhìn AP phát hiện bất thường ở cấp phiên thì chưa đủ.</a:t>
            </a:r>
          </a:p>
          <a:p xmlns:a="http://schemas.openxmlformats.org/drawingml/2006/main">
            <a:r>
              <a:t/>
            </a:r>
          </a:p>
          <a:p xmlns:a="http://schemas.openxmlformats.org/drawingml/2006/main">
            <a:r>
              <a:t>Vì thế, em tách bộ trích xuất khỏi bộ phát hiện. Bộ trích xuất học vector từ log; khi đánh giá thì khóa trọng số của nó, huấn luyện riêng một đầu dò tuyến tính. Cách này đo được thông tin có thể đọc ra bằng một bộ phân loại tuyến tính, chứ không tuyên bố đã khai thác hết mọi thông tin phi tuyến trong vector.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Kiến trúc em đề xuất có hai nhánh. Nhánh chuỗi dùng Transformer để giữ thứ tự và ngữ cảnh sự kiện. Nhánh đồ thị dùng Temporal GNN để biểu diễn các quan hệ thực thể biến đổi theo thời gian. Sau đó, hai nhánh được gióng hàng trong không gian chiếu và kết hợp thành vector cho đánh giá hạ nguồn. Trong thiết kế, đầu chiếu và các hàm mất mát phục vụ huấn luyện không phải là toàn bộ chi phí suy luận khi triển khai.</a:t>
            </a:r>
          </a:p>
          <a:p xmlns:a="http://schemas.openxmlformats.org/drawingml/2006/main">
            <a:r>
              <a:t/>
            </a:r>
          </a:p>
          <a:p xmlns:a="http://schemas.openxmlformats.org/drawingml/2006/main">
            <a:r>
              <a:t>Lý do ghép hai nhánh là hợp lý về mặt bài toán: chuỗi thấy diễn biến, đồ thị thấy phụ thuộc. Nhưng có một giả định cần kiểm tra: **hai nguồn thông tin có thực sự bổ sung cho nhau trên dữ liệu đang xét không?** Nếu nhánh đồ thị nhiễu, hoặc bước gióng hàng ép hai biểu diễn khác bản chất thành quá giống nhau, kết quả có thể giảm. Em không coi sơ đồ kiến trúc là bằng chứng rằng Multi-View sẽ thắng.</a:t>
            </a:r>
          </a:p>
          <a:p xmlns:a="http://schemas.openxmlformats.org/drawingml/2006/main">
            <a:r>
              <a:t/>
            </a:r>
          </a:p>
          <a:p xmlns:a="http://schemas.openxmlformats.org/drawingml/2006/main">
            <a:r>
              <a:t>Phần suy luận theo dòng ở cuối slide là hướng thiết kế: sự kiện mới đến, trạng thái hữu hạn được cập nhật, rồi tạo vector hiện tại. Trong thực nghiệm HDFS hiện nay em chưa đo toàn trình thông lượng hay độ trễ. Do đó, em chỉ bảo vệ đây là cấu trúc dự kiến cho vận hành, chưa bảo vệ được yêu cầu thời gian thực.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Dữ liệu HDFS có hơn 11 triệu bản ghi log, gắn với hơn 575 nghìn phiên khối. Chiến dịch này dùng 35 nghìn phiên Train và 7 nghìn 500 phiên Validation, với cửa sổ ngữ cảnh dài 256 sự kiện. Điểm cần chú ý không chỉ là quy mô, mà là **thứ tự phân chia**: Train ở trước, Validation ở sau theo thời gian; phiên giữa các phân vùng không chồng lấn, và vùng giáp ranh được loại bỏ.</a:t>
            </a:r>
          </a:p>
          <a:p xmlns:a="http://schemas.openxmlformats.org/drawingml/2006/main">
            <a:r>
              <a:t/>
            </a:r>
          </a:p>
          <a:p xmlns:a="http://schemas.openxmlformats.org/drawingml/2006/main">
            <a:r>
              <a:t>Nếu trộn ngẫu nhiên những phiên có liên hệ thời gian rồi mới chia, ta có nguy cơ cho mô hình nhìn thấy ở Train những dấu vết rất gần với mẫu Validation. Khi ấy điểm số có thể đẹp nhưng câu hỏi nghiên cứu lại bị trả lời sai. Quy trình ở đây cố gắng chặn con đường đó bằng manifest, mã băm danh sách phiên và những bất biến phân chia trong mã nguồn.</a:t>
            </a:r>
          </a:p>
          <a:p xmlns:a="http://schemas.openxmlformats.org/drawingml/2006/main">
            <a:r>
              <a:t/>
            </a:r>
          </a:p>
          <a:p xmlns:a="http://schemas.openxmlformats.org/drawingml/2006/main">
            <a:r>
              <a:t>Tập Test vẫn niêm phong. Em sẽ nhắc lại giới hạn này ở phần kết quả: những số AP và ROC-AUC sắp trình bày là trên Validation. Chúng có ích để so sánh các nhánh trong cùng phép thử, nhưng chưa phải điểm số cuối cùng trên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Stage A2 học từ ba bài tập: đoán quan hệ bị che, đoán thuộc tính nút bị che và xử lý khoảng thời gian. Trọng số trong hàm mất mát lần lượt là một, một và không phẩy một. Đây là hệ số thiết kế của mục tiêu, **không phải tỷ lệ đóng góp thực tế** của từng loại thông tin vào khả năng phát hiện tấn công.</a:t>
            </a:r>
          </a:p>
          <a:p xmlns:a="http://schemas.openxmlformats.org/drawingml/2006/main">
            <a:r>
              <a:t/>
            </a:r>
          </a:p>
          <a:p xmlns:a="http://schemas.openxmlformats.org/drawingml/2006/main">
            <a:r>
              <a:t>Em báo cáo năm lượt chạy với các seed khác nhau. Cột loss cho biết mức tối ưu đối với bài tập tự giám sát của từng lượt. Nhưng khi rà hồ sơ, không lượt nào khớp trọn vẹn mọi điều kiện của giao thức chuẩn: có trường hợp lịch học cũ, dừng sớm, thiếu hồ sơ hoặc mốc commit không đúng kế hoạch đã khóa. Nói như vậy không có nghĩa cả năm lượt “hỏng”; nó có nghĩa em không được phép gọi chúng là năm lần lặp hoàn toàn tương đương rồi lấy trung bình như thể điều kiện giống nhau.</a:t>
            </a:r>
          </a:p>
          <a:p xmlns:a="http://schemas.openxmlformats.org/drawingml/2006/main">
            <a:r>
              <a:t/>
            </a:r>
          </a:p>
          <a:p xmlns:a="http://schemas.openxmlformats.org/drawingml/2006/main">
            <a:r>
              <a:t>Quan trọng hơn, loss thấp chưa chứng minh biểu diễn có ích cho an ninh. Mô hình có thể giải tốt bài tập che quan hệ nhưng không giúp tách lớp bất thường. Vì vậy, muốn kiểm tra giả thuyết về chất lượng biểu diễn, em chuyển sang đầu dò hạ nguồn với trọng số backbone đã đóng băng.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Giao thức V3 dùng sáu bộ trích xuất cố định: ba Sequence-Only và ba Multi-View theo các seed ghép cặp. Với mỗi bộ, đầu dò tuyến tính học trên toàn bộ 35 nghìn vector Train và được đo trên 7 nghìn 500 vector Validation. Trong bước này không có cập nhật trọng số backbone.</a:t>
            </a:r>
          </a:p>
          <a:p xmlns:a="http://schemas.openxmlformats.org/drawingml/2006/main">
            <a:r>
              <a:t/>
            </a:r>
          </a:p>
          <a:p xmlns:a="http://schemas.openxmlformats.org/drawingml/2006/main">
            <a:r>
              <a:t>Sequence-Only đạt AP bằng một trên cả ba seed. Multi-View đạt khoảng 0,76; 0,63; và 0,59, trung bình 0,6608. AP cho biết thứ hạng của lớp dương trong bài toán này; ROC-AUC nhìn khả năng phân biệt hai lớp trên toàn dải ngưỡng. Kết quả AP bằng một là rất cao, nhưng em chỉ phát biểu đúng phạm vi: **đó là kết quả quan sát trên HDFS Validation theo giao thức V3**. Nó không phải chứng cứ rằng mô hình sẽ không mắc lỗi ở một tập dữ liệu khác.</a:t>
            </a:r>
          </a:p>
          <a:p xmlns:a="http://schemas.openxmlformats.org/drawingml/2006/main">
            <a:r>
              <a:t/>
            </a:r>
          </a:p>
          <a:p xmlns:a="http://schemas.openxmlformats.org/drawingml/2006/main">
            <a:r>
              <a:t>Điều có thể rút ra ngay từ bảng là Multi-View thấp hơn Sequence-Only ở cả ba seed. Đây là điểm trái với kỳ vọng khi thiết kế kiến trúc. Em không bỏ qua nó; em dùng nó để kiểm tra trực tiếp giả thuyết H2 ở slide sau.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H2 hỏi liệu Multi-View có ít nhất không thua kém Sequence-Only hay không. “Không thua kém” phải có ngưỡng cụ thể, chứ không thể nhìn bảng rồi mới đặt ngưỡng. Trong chuyên đề, biên AP được đặt trước là âm 0,02. Em lấy AP Multi-View trừ AP Sequence theo từng seed. Ba độ lệch là âm 0,2396; âm 0,3691; và âm 0,4089. Cả ba đều vượt xa biên theo chiều bất lợi. Trung bình là âm 0,3392; số cộng trừ đi kèm là độ lệch chuẩn mẫu qua ba seed, không phải khoảng tin cậy.</a:t>
            </a:r>
          </a:p>
          <a:p xmlns:a="http://schemas.openxmlformats.org/drawingml/2006/main">
            <a:r>
              <a:t/>
            </a:r>
          </a:p>
          <a:p xmlns:a="http://schemas.openxmlformats.org/drawingml/2006/main">
            <a:r>
              <a:t>Có một cách bắt bẻ hợp lý: Sequence thắng vì được nhìn trực tiếp các khe tham số, còn Multi-View thì không. Em đã kiểm tra đúng điểm này bằng cách che tham số của Sequence trên cả Train và Validation, lấy lại biểu diễn rồi huấn luyện một đầu dò mới. Trong phép kiểm tra ấy, AP của Sequence vẫn bằng một ở cả ba seed. Như vậy, lời giải thích “chỉ vì Sequence thấy tham số đầu vào” không phù hợp với kết quả của phép kiểm tra cụ thể này.</a:t>
            </a:r>
          </a:p>
          <a:p xmlns:a="http://schemas.openxmlformats.org/drawingml/2006/main">
            <a:r>
              <a:t/>
            </a:r>
          </a:p>
          <a:p xmlns:a="http://schemas.openxmlformats.org/drawingml/2006/main">
            <a:r>
              <a:t>Kết luận em bảo vệ là H2 **không được hỗ trợ trong đối chứng HDFS Validation đã thực hiện**. Em không nói mọi mô hình đa góc nhìn đều kém. Ba seed cũng không đủ để tuyên bố ý nghĩa thống kê rộng hoặc quan hệ nhân quả. Nhưng với biên đặt trước và ba cặp quan sát hiện có, em không thể gọi Multi-View là không thua kém.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H1 hỏi liệu tham số động có được giữ lại với ý nghĩa an ninh hay không. Trở ngại là nhãn tham số nằm ở cấp token hoặc khe tham số, còn vector mang đi đánh giá là một vector gộp 128 chiều cho cả phiên. Đây là lệch cấp độ mục tiêu. Nếu em dùng điểm phát hiện bất thường cấp phiên để xác nhận H1, em đã trả lời một câu hỏi khác.</a:t>
            </a:r>
          </a:p>
          <a:p xmlns:a="http://schemas.openxmlformats.org/drawingml/2006/main">
            <a:r>
              <a:t/>
            </a:r>
          </a:p>
          <a:p xmlns:a="http://schemas.openxmlformats.org/drawingml/2006/main">
            <a:r>
              <a:t>Vì chưa đo trực tiếp được, em làm phép thử gián tiếp: giữ nguyên mô hình Sequence, che các khe tham số đầu vào rồi so vector với trường hợp không che. Cosine từ 0,8201 đến 0,9581 và khoảng cách Euclid khác không cho thấy vector đã thay đổi. Nhưng AP phát hiện bất thường vẫn bằng một. Cách đọc đúng là: **vector nhạy với thao tác che tham số; phép thử này chưa cho biết nó hiểu hoặc giữ đúng ngữ nghĩa tham số đến mức nào**. Cũng chưa thể kết luận tham số là vô ích: bài toán hạ nguồn HDFS này có thể được giải bằng những tín hiệu khác.</a:t>
            </a:r>
          </a:p>
          <a:p xmlns:a="http://schemas.openxmlformats.org/drawingml/2006/main">
            <a:r>
              <a:t/>
            </a:r>
          </a:p>
          <a:p xmlns:a="http://schemas.openxmlformats.org/drawingml/2006/main">
            <a:r>
              <a:t>Ở nửa còn lại là lượt chạy lại thủ công Sequence seed 42. Mô hình chạy sáu epoch; checkpoint tốt nhất ở epoch ba; loss Validation tốt nhất là 0,009218; bộ nhớ GPU đỉnh khoảng 170,45 MB. Hai số AP 0,899385 và 1,0000 nằm cạnh nhau nhưng thuộc hai giao thức khác nhau: một đầu dò nội bộ chia Validation 80/20, và một đầu dò V3 học trên Train rồi đánh giá trên Validation. Em giữ cả hai để người đọc thấy quá trình, đồng thời ghi rõ không được so chúng như hai phép đo đồng nhất.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D:/chuyen-de-chuyen-sau/Chuyên đề chuyên sâu.docx; SHA-256 2425ffb1b8c109a410a93a30e76c99251d234fa20ab33efbb9922bdc44f0e92f.</a:t>
            </a:r>
          </a:p>
          <a:p xmlns:a="http://schemas.openxmlformats.org/drawingml/2006/main">
            <a:r>
              <a:t/>
            </a:r>
          </a:p>
          <a:p xmlns:a="http://schemas.openxmlformats.org/drawingml/2006/main">
            <a:r>
              <a:t>Đóng góp của chuyên đề có ba phần. Thứ nhất là Hợp đồng Biểu diễn: một cách đặt tiêu chí cụ thể cho vector log. Thứ hai là tích hợp kiến trúc chuỗi và đồ thị theo thời gian; em không tuyên bố các khối nguyên thủy như Transformer hay VICReg là thuật toán do em phát minh. Thứ ba là hạ tầng thực nghiệm và đối soát: từ phân chia dữ liệu, đầu dò đóng băng, đến việc công khai các sai lệch thủ tục và kết quả âm tính.</a:t>
            </a:r>
          </a:p>
          <a:p xmlns:a="http://schemas.openxmlformats.org/drawingml/2006/main">
            <a:r>
              <a:t/>
            </a:r>
          </a:p>
          <a:p xmlns:a="http://schemas.openxmlformats.org/drawingml/2006/main">
            <a:r>
              <a:t>Trạng thái bằng chứng hiện nay cũng phải tách rõ. H1 chưa được kiểm tra trực tiếp; H2 không được hỗ trợ trong đối chứng HDFS Validation; H3 đến H5 chưa có thực nghiệm xác nhận. ER1 mới có quan sát bộ nhớ, chưa có số đo thông lượng và độ trễ. Graph-Only xác nhận mới chưa được huấn luyện theo V3, còn Test vẫn niêm phong.</a:t>
            </a:r>
          </a:p>
          <a:p xmlns:a="http://schemas.openxmlformats.org/drawingml/2006/main">
            <a:r>
              <a:t/>
            </a:r>
          </a:p>
          <a:p xmlns:a="http://schemas.openxmlformats.org/drawingml/2006/main">
            <a:r>
              <a:t>Theo em, kết quả âm tính ở H2 không làm chuyên đề mất giá trị. Nó chỉ ra đúng chỗ giả định kiến trúc chưa đứng vững: thêm góc nhìn đồ thị đã không tạo ra lợi ích trên phép thử này. Hướng tiếp theo không phải chỉnh cách kể để biến kết quả thành tích cực, mà là đo H1 ở đúng cấp token, tìm nguyên nhân Multi-View giảm hiệu năng, thử trên dữ liệu có cấu trúc quan hệ phong phú hơn, rồi mới mở Test theo giao thức khóa trước. Đó là phạm vi em có thể bảo vệ bằng dữ liệu đang có. Em xin cảm ơn cô và các thầy cô.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80bde5594946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4a6ea53f574dec" /><Relationship Type="http://schemas.openxmlformats.org/officeDocument/2006/relationships/slideLayout" Target="/ppt/slideLayouts/slideLayout1.xml" Id="R2af79ff92cea48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f79ff92cea48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cbb432f2424f27" /><Relationship Type="http://schemas.openxmlformats.org/officeDocument/2006/relationships/notesSlide" Target="/ppt/notesSlides/notesSlide1.xml" Id="R1c43e4bd0bf440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a80b44a6df4aa2" /><Relationship Type="http://schemas.openxmlformats.org/officeDocument/2006/relationships/notesSlide" Target="/ppt/notesSlides/notesSlide2.xml" Id="R0cada24198e944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fe486401f043c5" /><Relationship Type="http://schemas.openxmlformats.org/officeDocument/2006/relationships/notesSlide" Target="/ppt/notesSlides/notesSlide3.xml" Id="Rbd56d4637f9c43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694412068e4a74" /><Relationship Type="http://schemas.openxmlformats.org/officeDocument/2006/relationships/notesSlide" Target="/ppt/notesSlides/notesSlide4.xml" Id="R5a73b0c8c4ce41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10ff27ddba4c5f" /><Relationship Type="http://schemas.openxmlformats.org/officeDocument/2006/relationships/notesSlide" Target="/ppt/notesSlides/notesSlide5.xml" Id="R92c0e49aae084c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2348dfc70749e7" /><Relationship Type="http://schemas.openxmlformats.org/officeDocument/2006/relationships/notesSlide" Target="/ppt/notesSlides/notesSlide6.xml" Id="Rad2427a591f94f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c7a7f2c7374acd" /><Relationship Type="http://schemas.openxmlformats.org/officeDocument/2006/relationships/notesSlide" Target="/ppt/notesSlides/notesSlide7.xml" Id="R9724fff39f8149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0e43ccf8374dcb" /><Relationship Type="http://schemas.openxmlformats.org/officeDocument/2006/relationships/notesSlide" Target="/ppt/notesSlides/notesSlide8.xml" Id="R53a5dee9edb14c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81ee109b814c54" /><Relationship Type="http://schemas.openxmlformats.org/officeDocument/2006/relationships/notesSlide" Target="/ppt/notesSlides/notesSlide9.xml" Id="R95ac91043e5d42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adf94cfc574102" /><Relationship Type="http://schemas.openxmlformats.org/officeDocument/2006/relationships/notesSlide" Target="/ppt/notesSlides/notesSlide10.xml" Id="R3110d8ef3d724b61" /></Relationships>
</file>

<file path=ppt/slides/slide1.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9" name="cover rule">
            <a:extLst xmlns:a="http://schemas.openxmlformats.org/drawingml/2006/main">
              <a:ext uri="{FF2B5EF4-FFF2-40B4-BE49-F238E27FC236}">
                <a16:creationId xmlns:a16="http://schemas.microsoft.com/office/drawing/2014/main" id="{BD9CD6A1-624B-4C5E-827D-A9C51E3DC3D1}"/>
              </a:ext>
            </a:extLst>
          </p:cNvPr>
          <p:cNvSpPr>
            <a:spLocks xmlns:a="http://schemas.openxmlformats.org/drawingml/2006/main" noGrp="1"/>
          </p:cNvSpPr>
          <p:nvPr/>
        </p:nvSpPr>
        <p:spPr>
          <a:xfrm xmlns:a="http://schemas.openxmlformats.org/drawingml/2006/main">
            <a:off x="590550" y="714375"/>
            <a:ext cx="1571625" cy="47625"/>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 name="institution">
            <a:extLst xmlns:a="http://schemas.openxmlformats.org/drawingml/2006/main">
              <a:ext uri="{FF2B5EF4-FFF2-40B4-BE49-F238E27FC236}">
                <a16:creationId xmlns:a16="http://schemas.microsoft.com/office/drawing/2014/main" id="{D7F44D76-838E-41E7-A5F9-DA8FA47CD99A}"/>
              </a:ext>
            </a:extLst>
          </p:cNvPr>
          <p:cNvSpPr>
            <a:spLocks xmlns:a="http://schemas.openxmlformats.org/drawingml/2006/main" noGrp="1"/>
          </p:cNvSpPr>
          <p:nvPr/>
        </p:nvSpPr>
        <p:spPr>
          <a:xfrm xmlns:a="http://schemas.openxmlformats.org/drawingml/2006/main">
            <a:off x="590550" y="9525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B658B"/>
                </a:solidFill>
                <a:latin typeface="Arial"/>
                <a:ea typeface="Arial"/>
                <a:cs typeface="Arial"/>
              </a:defRPr>
            </a:pPr>
            <a:r>
              <a:rPr sz="1500" b="1">
                <a:solidFill>
                  <a:srgbClr val="2B658B"/>
                </a:solidFill>
                <a:latin typeface="Arial"/>
                <a:ea typeface="Arial"/>
                <a:cs typeface="Arial"/>
              </a:rPr>
              <a:t>HỌC VIỆN KỸ THUẬT MẬT MÃ</a:t>
            </a:r>
          </a:p>
        </p:txBody>
      </p:sp>
      <p:sp>
        <p:nvSpPr>
          <p:cNvPr id="3" name="course">
            <a:extLst xmlns:a="http://schemas.openxmlformats.org/drawingml/2006/main">
              <a:ext uri="{FF2B5EF4-FFF2-40B4-BE49-F238E27FC236}">
                <a16:creationId xmlns:a16="http://schemas.microsoft.com/office/drawing/2014/main" id="{6B70CD60-9A77-4ECF-9C6B-35300CDB7599}"/>
              </a:ext>
            </a:extLst>
          </p:cNvPr>
          <p:cNvSpPr>
            <a:spLocks xmlns:a="http://schemas.openxmlformats.org/drawingml/2006/main" noGrp="1"/>
          </p:cNvSpPr>
          <p:nvPr/>
        </p:nvSpPr>
        <p:spPr>
          <a:xfrm xmlns:a="http://schemas.openxmlformats.org/drawingml/2006/main">
            <a:off x="590550" y="1438275"/>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506473"/>
                </a:solidFill>
                <a:latin typeface="Arial"/>
                <a:ea typeface="Arial"/>
                <a:cs typeface="Arial"/>
              </a:defRPr>
            </a:pPr>
            <a:r>
              <a:rPr sz="1575" b="1">
                <a:solidFill>
                  <a:srgbClr val="506473"/>
                </a:solidFill>
                <a:latin typeface="Arial"/>
                <a:ea typeface="Arial"/>
                <a:cs typeface="Arial"/>
              </a:rPr>
              <a:t>BÁO CÁO CHUYÊN ĐỀ CHUYÊN SÂU</a:t>
            </a:r>
          </a:p>
        </p:txBody>
      </p:sp>
      <p:sp>
        <p:nvSpPr>
          <p:cNvPr id="4" name="title 1">
            <a:extLst xmlns:a="http://schemas.openxmlformats.org/drawingml/2006/main">
              <a:ext uri="{FF2B5EF4-FFF2-40B4-BE49-F238E27FC236}">
                <a16:creationId xmlns:a16="http://schemas.microsoft.com/office/drawing/2014/main" id="{C5825A95-DB28-4595-8AB4-B6E57D132980}"/>
              </a:ext>
            </a:extLst>
          </p:cNvPr>
          <p:cNvSpPr>
            <a:spLocks xmlns:a="http://schemas.openxmlformats.org/drawingml/2006/main" noGrp="1"/>
          </p:cNvSpPr>
          <p:nvPr/>
        </p:nvSpPr>
        <p:spPr>
          <a:xfrm xmlns:a="http://schemas.openxmlformats.org/drawingml/2006/main">
            <a:off x="590550" y="2209800"/>
            <a:ext cx="800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00" b="1">
                <a:solidFill>
                  <a:srgbClr val="182C39"/>
                </a:solidFill>
                <a:latin typeface="Arial"/>
                <a:ea typeface="Arial"/>
                <a:cs typeface="Arial"/>
              </a:defRPr>
            </a:pPr>
            <a:r>
              <a:rPr sz="3600" b="1">
                <a:solidFill>
                  <a:srgbClr val="182C39"/>
                </a:solidFill>
                <a:latin typeface="Arial"/>
                <a:ea typeface="Arial"/>
                <a:cs typeface="Arial"/>
              </a:rPr>
              <a:t>NGHIÊN CỨU PHƯƠNG PHÁP</a:t>
            </a:r>
          </a:p>
        </p:txBody>
      </p:sp>
      <p:sp>
        <p:nvSpPr>
          <p:cNvPr id="5" name="title 2">
            <a:extLst xmlns:a="http://schemas.openxmlformats.org/drawingml/2006/main">
              <a:ext uri="{FF2B5EF4-FFF2-40B4-BE49-F238E27FC236}">
                <a16:creationId xmlns:a16="http://schemas.microsoft.com/office/drawing/2014/main" id="{B8130A68-40D8-49F4-9DA0-1E7587E5E5EC}"/>
              </a:ext>
            </a:extLst>
          </p:cNvPr>
          <p:cNvSpPr>
            <a:spLocks xmlns:a="http://schemas.openxmlformats.org/drawingml/2006/main" noGrp="1"/>
          </p:cNvSpPr>
          <p:nvPr/>
        </p:nvSpPr>
        <p:spPr>
          <a:xfrm xmlns:a="http://schemas.openxmlformats.org/drawingml/2006/main">
            <a:off x="590550" y="2886075"/>
            <a:ext cx="800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00" b="1">
                <a:solidFill>
                  <a:srgbClr val="182C39"/>
                </a:solidFill>
                <a:latin typeface="Arial"/>
                <a:ea typeface="Arial"/>
                <a:cs typeface="Arial"/>
              </a:defRPr>
            </a:pPr>
            <a:r>
              <a:rPr sz="3600" b="1">
                <a:solidFill>
                  <a:srgbClr val="182C39"/>
                </a:solidFill>
                <a:latin typeface="Arial"/>
                <a:ea typeface="Arial"/>
                <a:cs typeface="Arial"/>
              </a:rPr>
              <a:t>TRÍCH XUẤT ĐẶC TRƯNG</a:t>
            </a:r>
          </a:p>
        </p:txBody>
      </p:sp>
      <p:sp>
        <p:nvSpPr>
          <p:cNvPr id="6" name="title 3">
            <a:extLst xmlns:a="http://schemas.openxmlformats.org/drawingml/2006/main">
              <a:ext uri="{FF2B5EF4-FFF2-40B4-BE49-F238E27FC236}">
                <a16:creationId xmlns:a16="http://schemas.microsoft.com/office/drawing/2014/main" id="{3B0D1692-A831-4CEA-9FDA-EBEFB3B7CAFC}"/>
              </a:ext>
            </a:extLst>
          </p:cNvPr>
          <p:cNvSpPr>
            <a:spLocks xmlns:a="http://schemas.openxmlformats.org/drawingml/2006/main" noGrp="1"/>
          </p:cNvSpPr>
          <p:nvPr/>
        </p:nvSpPr>
        <p:spPr>
          <a:xfrm xmlns:a="http://schemas.openxmlformats.org/drawingml/2006/main">
            <a:off x="590550" y="35623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182C39"/>
                </a:solidFill>
                <a:latin typeface="Arial"/>
                <a:ea typeface="Arial"/>
                <a:cs typeface="Arial"/>
              </a:defRPr>
            </a:pPr>
            <a:r>
              <a:rPr sz="2700" b="1">
                <a:solidFill>
                  <a:srgbClr val="182C39"/>
                </a:solidFill>
                <a:latin typeface="Arial"/>
                <a:ea typeface="Arial"/>
                <a:cs typeface="Arial"/>
              </a:rPr>
              <a:t>DỮ LIỆU LOGS TRONG PHÁT HIỆN TẤN CÔNG</a:t>
            </a:r>
          </a:p>
        </p:txBody>
      </p:sp>
      <p:sp>
        <p:nvSpPr>
          <p:cNvPr id="7" name="name">
            <a:extLst xmlns:a="http://schemas.openxmlformats.org/drawingml/2006/main">
              <a:ext uri="{FF2B5EF4-FFF2-40B4-BE49-F238E27FC236}">
                <a16:creationId xmlns:a16="http://schemas.microsoft.com/office/drawing/2014/main" id="{8DD46F8C-8086-44FA-9265-1CBD98214FA4}"/>
              </a:ext>
            </a:extLst>
          </p:cNvPr>
          <p:cNvSpPr>
            <a:spLocks xmlns:a="http://schemas.openxmlformats.org/drawingml/2006/main" noGrp="1"/>
          </p:cNvSpPr>
          <p:nvPr/>
        </p:nvSpPr>
        <p:spPr>
          <a:xfrm xmlns:a="http://schemas.openxmlformats.org/drawingml/2006/main">
            <a:off x="590550" y="5067300"/>
            <a:ext cx="7477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82C39"/>
                </a:solidFill>
                <a:latin typeface="Arial"/>
                <a:ea typeface="Arial"/>
                <a:cs typeface="Arial"/>
              </a:defRPr>
            </a:pPr>
            <a:r>
              <a:rPr sz="1800" b="1">
                <a:solidFill>
                  <a:srgbClr val="182C39"/>
                </a:solidFill>
                <a:latin typeface="Arial"/>
                <a:ea typeface="Arial"/>
                <a:cs typeface="Arial"/>
              </a:rPr>
              <a:t>Đoàn Ngọc Hoàng Minh  •  AT180632</a:t>
            </a:r>
          </a:p>
        </p:txBody>
      </p:sp>
      <p:sp>
        <p:nvSpPr>
          <p:cNvPr id="8" name="teacher">
            <a:extLst xmlns:a="http://schemas.openxmlformats.org/drawingml/2006/main">
              <a:ext uri="{FF2B5EF4-FFF2-40B4-BE49-F238E27FC236}">
                <a16:creationId xmlns:a16="http://schemas.microsoft.com/office/drawing/2014/main" id="{A1DCBB95-BC56-45DD-AC0D-4B53A1F5A3CA}"/>
              </a:ext>
            </a:extLst>
          </p:cNvPr>
          <p:cNvSpPr>
            <a:spLocks xmlns:a="http://schemas.openxmlformats.org/drawingml/2006/main" noGrp="1"/>
          </p:cNvSpPr>
          <p:nvPr/>
        </p:nvSpPr>
        <p:spPr>
          <a:xfrm xmlns:a="http://schemas.openxmlformats.org/drawingml/2006/main">
            <a:off x="590550" y="5553075"/>
            <a:ext cx="8382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06473"/>
                </a:solidFill>
                <a:latin typeface="Arial"/>
                <a:ea typeface="Arial"/>
                <a:cs typeface="Arial"/>
              </a:defRPr>
            </a:pPr>
            <a:r>
              <a:rPr sz="1500" b="0">
                <a:solidFill>
                  <a:srgbClr val="506473"/>
                </a:solidFill>
                <a:latin typeface="Arial"/>
                <a:ea typeface="Arial"/>
                <a:cs typeface="Arial"/>
              </a:rPr>
              <a:t>GVHD: ThS. Nguyễn Thị Thu Thủy  •  Hà Nội, 2026</a:t>
            </a:r>
          </a:p>
        </p:txBody>
      </p:sp>
      <p:sp>
        <p:nvSpPr>
          <p:cNvPr id="9" name="map spine">
            <a:extLst xmlns:a="http://schemas.openxmlformats.org/drawingml/2006/main">
              <a:ext uri="{FF2B5EF4-FFF2-40B4-BE49-F238E27FC236}">
                <a16:creationId xmlns:a16="http://schemas.microsoft.com/office/drawing/2014/main" id="{0E26FB1C-B364-4C92-ADD1-C307075C9DF3}"/>
              </a:ext>
            </a:extLst>
          </p:cNvPr>
          <p:cNvSpPr>
            <a:spLocks xmlns:a="http://schemas.openxmlformats.org/drawingml/2006/main" noGrp="1"/>
          </p:cNvSpPr>
          <p:nvPr/>
        </p:nvSpPr>
        <p:spPr>
          <a:xfrm xmlns:a="http://schemas.openxmlformats.org/drawingml/2006/main">
            <a:off x="8982075" y="2076450"/>
            <a:ext cx="28575" cy="28575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0" name="cover arm 0">
            <a:extLst xmlns:a="http://schemas.openxmlformats.org/drawingml/2006/main">
              <a:ext uri="{FF2B5EF4-FFF2-40B4-BE49-F238E27FC236}">
                <a16:creationId xmlns:a16="http://schemas.microsoft.com/office/drawing/2014/main" id="{290B7B64-2D28-4232-A76D-BA43188AD55E}"/>
              </a:ext>
            </a:extLst>
          </p:cNvPr>
          <p:cNvSpPr>
            <a:spLocks xmlns:a="http://schemas.openxmlformats.org/drawingml/2006/main" noGrp="1"/>
          </p:cNvSpPr>
          <p:nvPr/>
        </p:nvSpPr>
        <p:spPr>
          <a:xfrm xmlns:a="http://schemas.openxmlformats.org/drawingml/2006/main">
            <a:off x="8982075" y="2305050"/>
            <a:ext cx="2667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1" name="cover q 0">
            <a:extLst xmlns:a="http://schemas.openxmlformats.org/drawingml/2006/main">
              <a:ext uri="{FF2B5EF4-FFF2-40B4-BE49-F238E27FC236}">
                <a16:creationId xmlns:a16="http://schemas.microsoft.com/office/drawing/2014/main" id="{351C3E10-7564-43A3-AE5D-91503C760474}"/>
              </a:ext>
            </a:extLst>
          </p:cNvPr>
          <p:cNvSpPr>
            <a:spLocks xmlns:a="http://schemas.openxmlformats.org/drawingml/2006/main" noGrp="1"/>
          </p:cNvSpPr>
          <p:nvPr/>
        </p:nvSpPr>
        <p:spPr>
          <a:xfrm xmlns:a="http://schemas.openxmlformats.org/drawingml/2006/main">
            <a:off x="9372600" y="205740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B658B"/>
                </a:solidFill>
                <a:latin typeface="Arial"/>
                <a:ea typeface="Arial"/>
                <a:cs typeface="Arial"/>
              </a:defRPr>
            </a:pPr>
            <a:r>
              <a:rPr sz="1575" b="1">
                <a:solidFill>
                  <a:srgbClr val="2B658B"/>
                </a:solidFill>
                <a:latin typeface="Arial"/>
                <a:ea typeface="Arial"/>
                <a:cs typeface="Arial"/>
              </a:rPr>
              <a:t>GIỮ GÌ?</a:t>
            </a:r>
          </a:p>
        </p:txBody>
      </p:sp>
      <p:sp>
        <p:nvSpPr>
          <p:cNvPr id="12" name="cover a 0">
            <a:extLst xmlns:a="http://schemas.openxmlformats.org/drawingml/2006/main">
              <a:ext uri="{FF2B5EF4-FFF2-40B4-BE49-F238E27FC236}">
                <a16:creationId xmlns:a16="http://schemas.microsoft.com/office/drawing/2014/main" id="{1F7DB268-B692-41BA-B8D8-29FB8EBA99E5}"/>
              </a:ext>
            </a:extLst>
          </p:cNvPr>
          <p:cNvSpPr>
            <a:spLocks xmlns:a="http://schemas.openxmlformats.org/drawingml/2006/main" noGrp="1"/>
          </p:cNvSpPr>
          <p:nvPr/>
        </p:nvSpPr>
        <p:spPr>
          <a:xfrm xmlns:a="http://schemas.openxmlformats.org/drawingml/2006/main">
            <a:off x="9372600" y="2390775"/>
            <a:ext cx="2305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Tín hiệu an ninh</a:t>
            </a:r>
          </a:p>
        </p:txBody>
      </p:sp>
      <p:sp>
        <p:nvSpPr>
          <p:cNvPr id="13" name="cover arm 1">
            <a:extLst xmlns:a="http://schemas.openxmlformats.org/drawingml/2006/main">
              <a:ext uri="{FF2B5EF4-FFF2-40B4-BE49-F238E27FC236}">
                <a16:creationId xmlns:a16="http://schemas.microsoft.com/office/drawing/2014/main" id="{CE0BC293-0E6A-4EAA-84E6-98B1B10DFC31}"/>
              </a:ext>
            </a:extLst>
          </p:cNvPr>
          <p:cNvSpPr>
            <a:spLocks xmlns:a="http://schemas.openxmlformats.org/drawingml/2006/main" noGrp="1"/>
          </p:cNvSpPr>
          <p:nvPr/>
        </p:nvSpPr>
        <p:spPr>
          <a:xfrm xmlns:a="http://schemas.openxmlformats.org/drawingml/2006/main">
            <a:off x="8982075" y="3305175"/>
            <a:ext cx="2667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4" name="cover q 1">
            <a:extLst xmlns:a="http://schemas.openxmlformats.org/drawingml/2006/main">
              <a:ext uri="{FF2B5EF4-FFF2-40B4-BE49-F238E27FC236}">
                <a16:creationId xmlns:a16="http://schemas.microsoft.com/office/drawing/2014/main" id="{4A735610-6B37-4D58-BE55-D7F364AA9C3B}"/>
              </a:ext>
            </a:extLst>
          </p:cNvPr>
          <p:cNvSpPr>
            <a:spLocks xmlns:a="http://schemas.openxmlformats.org/drawingml/2006/main" noGrp="1"/>
          </p:cNvSpPr>
          <p:nvPr/>
        </p:nvSpPr>
        <p:spPr>
          <a:xfrm xmlns:a="http://schemas.openxmlformats.org/drawingml/2006/main">
            <a:off x="9372600" y="3057525"/>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B658B"/>
                </a:solidFill>
                <a:latin typeface="Arial"/>
                <a:ea typeface="Arial"/>
                <a:cs typeface="Arial"/>
              </a:defRPr>
            </a:pPr>
            <a:r>
              <a:rPr sz="1575" b="1">
                <a:solidFill>
                  <a:srgbClr val="2B658B"/>
                </a:solidFill>
                <a:latin typeface="Arial"/>
                <a:ea typeface="Arial"/>
                <a:cs typeface="Arial"/>
              </a:rPr>
              <a:t>ĐO THẾ NÀO?</a:t>
            </a:r>
          </a:p>
        </p:txBody>
      </p:sp>
      <p:sp>
        <p:nvSpPr>
          <p:cNvPr id="15" name="cover a 1">
            <a:extLst xmlns:a="http://schemas.openxmlformats.org/drawingml/2006/main">
              <a:ext uri="{FF2B5EF4-FFF2-40B4-BE49-F238E27FC236}">
                <a16:creationId xmlns:a16="http://schemas.microsoft.com/office/drawing/2014/main" id="{8CF3D5E0-A5F0-4D9F-86C0-BF2A04395E3F}"/>
              </a:ext>
            </a:extLst>
          </p:cNvPr>
          <p:cNvSpPr>
            <a:spLocks xmlns:a="http://schemas.openxmlformats.org/drawingml/2006/main" noGrp="1"/>
          </p:cNvSpPr>
          <p:nvPr/>
        </p:nvSpPr>
        <p:spPr>
          <a:xfrm xmlns:a="http://schemas.openxmlformats.org/drawingml/2006/main">
            <a:off x="9372600" y="3390900"/>
            <a:ext cx="2305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Đầu dò và đối chứng</a:t>
            </a:r>
          </a:p>
        </p:txBody>
      </p:sp>
      <p:sp>
        <p:nvSpPr>
          <p:cNvPr id="16" name="cover arm 2">
            <a:extLst xmlns:a="http://schemas.openxmlformats.org/drawingml/2006/main">
              <a:ext uri="{FF2B5EF4-FFF2-40B4-BE49-F238E27FC236}">
                <a16:creationId xmlns:a16="http://schemas.microsoft.com/office/drawing/2014/main" id="{F84E8B77-2D1D-4596-8F93-71154398FD74}"/>
              </a:ext>
            </a:extLst>
          </p:cNvPr>
          <p:cNvSpPr>
            <a:spLocks xmlns:a="http://schemas.openxmlformats.org/drawingml/2006/main" noGrp="1"/>
          </p:cNvSpPr>
          <p:nvPr/>
        </p:nvSpPr>
        <p:spPr>
          <a:xfrm xmlns:a="http://schemas.openxmlformats.org/drawingml/2006/main">
            <a:off x="8982075" y="4305300"/>
            <a:ext cx="2667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7" name="cover q 2">
            <a:extLst xmlns:a="http://schemas.openxmlformats.org/drawingml/2006/main">
              <a:ext uri="{FF2B5EF4-FFF2-40B4-BE49-F238E27FC236}">
                <a16:creationId xmlns:a16="http://schemas.microsoft.com/office/drawing/2014/main" id="{9885646D-481B-428F-950F-B2C19E19A50A}"/>
              </a:ext>
            </a:extLst>
          </p:cNvPr>
          <p:cNvSpPr>
            <a:spLocks xmlns:a="http://schemas.openxmlformats.org/drawingml/2006/main" noGrp="1"/>
          </p:cNvSpPr>
          <p:nvPr/>
        </p:nvSpPr>
        <p:spPr>
          <a:xfrm xmlns:a="http://schemas.openxmlformats.org/drawingml/2006/main">
            <a:off x="9372600" y="40576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84F4B"/>
                </a:solidFill>
                <a:latin typeface="Arial"/>
                <a:ea typeface="Arial"/>
                <a:cs typeface="Arial"/>
              </a:defRPr>
            </a:pPr>
            <a:r>
              <a:rPr sz="1575" b="1">
                <a:solidFill>
                  <a:srgbClr val="A84F4B"/>
                </a:solidFill>
                <a:latin typeface="Arial"/>
                <a:ea typeface="Arial"/>
                <a:cs typeface="Arial"/>
              </a:rPr>
              <a:t>KẾT LUẬN ĐẾN ĐÂU?</a:t>
            </a:r>
          </a:p>
        </p:txBody>
      </p:sp>
      <p:sp>
        <p:nvSpPr>
          <p:cNvPr id="18" name="cover a 2">
            <a:extLst xmlns:a="http://schemas.openxmlformats.org/drawingml/2006/main">
              <a:ext uri="{FF2B5EF4-FFF2-40B4-BE49-F238E27FC236}">
                <a16:creationId xmlns:a16="http://schemas.microsoft.com/office/drawing/2014/main" id="{722AE010-4778-4F5A-93D7-367DF1CABE30}"/>
              </a:ext>
            </a:extLst>
          </p:cNvPr>
          <p:cNvSpPr>
            <a:spLocks xmlns:a="http://schemas.openxmlformats.org/drawingml/2006/main" noGrp="1"/>
          </p:cNvSpPr>
          <p:nvPr/>
        </p:nvSpPr>
        <p:spPr>
          <a:xfrm xmlns:a="http://schemas.openxmlformats.org/drawingml/2006/main">
            <a:off x="9372600" y="4391025"/>
            <a:ext cx="2305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Giới hạn bằng chứng</a:t>
            </a:r>
          </a:p>
        </p:txBody>
      </p:sp>
    </p:spTree>
    <p:extLst>
      <p:ext uri="{BB962C8B-B14F-4D97-AF65-F5344CB8AC3E}">
        <p14:creationId xmlns:p14="http://schemas.microsoft.com/office/powerpoint/2010/main" val="1630538527"/>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31" name="title">
            <a:extLst xmlns:a="http://schemas.openxmlformats.org/drawingml/2006/main">
              <a:ext uri="{FF2B5EF4-FFF2-40B4-BE49-F238E27FC236}">
                <a16:creationId xmlns:a16="http://schemas.microsoft.com/office/drawing/2014/main" id="{39ECEDF0-2C2B-48A2-AFD7-49BA699C1AF2}"/>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Bài toán: log có ngữ cảnh</a:t>
            </a:r>
          </a:p>
        </p:txBody>
      </p:sp>
      <p:sp>
        <p:nvSpPr>
          <p:cNvPr id="2" name="subtitle">
            <a:extLst xmlns:a="http://schemas.openxmlformats.org/drawingml/2006/main">
              <a:ext uri="{FF2B5EF4-FFF2-40B4-BE49-F238E27FC236}">
                <a16:creationId xmlns:a16="http://schemas.microsoft.com/office/drawing/2014/main" id="{CA6E230A-B466-4BDC-B199-805895696C51}"/>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Ba cách biểu diễn nhìn đúng những phần khác nhau; rủi ro nằm ở phần bị bỏ qua</a:t>
            </a:r>
          </a:p>
        </p:txBody>
      </p:sp>
      <p:sp>
        <p:nvSpPr>
          <p:cNvPr id="3" name="top line">
            <a:extLst xmlns:a="http://schemas.openxmlformats.org/drawingml/2006/main">
              <a:ext uri="{FF2B5EF4-FFF2-40B4-BE49-F238E27FC236}">
                <a16:creationId xmlns:a16="http://schemas.microsoft.com/office/drawing/2014/main" id="{C0E44911-8E44-487C-9F94-4C9974FE502A}"/>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14436ED5-D93E-4EB3-91B6-0A33C2BDE057}"/>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Chương 1, Mục 1.1–1.3; Hình 1.4</a:t>
            </a:r>
          </a:p>
        </p:txBody>
      </p:sp>
      <p:sp>
        <p:nvSpPr>
          <p:cNvPr id="5" name="number">
            <a:extLst xmlns:a="http://schemas.openxmlformats.org/drawingml/2006/main">
              <a:ext uri="{FF2B5EF4-FFF2-40B4-BE49-F238E27FC236}">
                <a16:creationId xmlns:a16="http://schemas.microsoft.com/office/drawing/2014/main" id="{A4597B3C-F715-4BC2-961A-CD86C163BBA1}"/>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02 / 10</a:t>
            </a:r>
          </a:p>
        </p:txBody>
      </p:sp>
      <p:sp>
        <p:nvSpPr>
          <p:cNvPr id="6" name="central node">
            <a:extLst xmlns:a="http://schemas.openxmlformats.org/drawingml/2006/main">
              <a:ext uri="{FF2B5EF4-FFF2-40B4-BE49-F238E27FC236}">
                <a16:creationId xmlns:a16="http://schemas.microsoft.com/office/drawing/2014/main" id="{0F6D401F-0EBE-4DAF-9FB5-91E2C3D0928E}"/>
              </a:ext>
            </a:extLst>
          </p:cNvPr>
          <p:cNvSpPr>
            <a:spLocks xmlns:a="http://schemas.openxmlformats.org/drawingml/2006/main" noGrp="1"/>
          </p:cNvSpPr>
          <p:nvPr/>
        </p:nvSpPr>
        <p:spPr>
          <a:xfrm xmlns:a="http://schemas.openxmlformats.org/drawingml/2006/main">
            <a:off x="514350" y="1819275"/>
            <a:ext cx="2571750" cy="3943350"/>
          </a:xfrm>
          <a:prstGeom xmlns:a="http://schemas.openxmlformats.org/drawingml/2006/main" prst="roundRect">
            <a:avLst>
              <a:gd name="adj" fmla="val 2963"/>
            </a:avLst>
          </a:prstGeom>
          <a:solidFill xmlns:a="http://schemas.openxmlformats.org/drawingml/2006/main">
            <a:srgbClr val="E7F0F5"/>
          </a:solidFill>
          <a:ln xmlns:a="http://schemas.openxmlformats.org/drawingml/2006/main" w="9525">
            <a:solidFill>
              <a:srgbClr val="2B658B"/>
            </a:solidFill>
            <a:prstDash val="solid"/>
          </a:ln>
        </p:spPr>
      </p:sp>
      <p:sp>
        <p:nvSpPr>
          <p:cNvPr id="7" name="central head">
            <a:extLst xmlns:a="http://schemas.openxmlformats.org/drawingml/2006/main">
              <a:ext uri="{FF2B5EF4-FFF2-40B4-BE49-F238E27FC236}">
                <a16:creationId xmlns:a16="http://schemas.microsoft.com/office/drawing/2014/main" id="{62D5E194-6E81-4544-91F1-860663F7EED1}"/>
              </a:ext>
            </a:extLst>
          </p:cNvPr>
          <p:cNvSpPr>
            <a:spLocks xmlns:a="http://schemas.openxmlformats.org/drawingml/2006/main" noGrp="1"/>
          </p:cNvSpPr>
          <p:nvPr/>
        </p:nvSpPr>
        <p:spPr>
          <a:xfrm xmlns:a="http://schemas.openxmlformats.org/drawingml/2006/main">
            <a:off x="685800" y="2047875"/>
            <a:ext cx="22383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B658B"/>
                </a:solidFill>
                <a:latin typeface="Arial"/>
                <a:ea typeface="Arial"/>
                <a:cs typeface="Arial"/>
              </a:defRPr>
            </a:pPr>
            <a:r>
              <a:rPr sz="2100" b="1">
                <a:solidFill>
                  <a:srgbClr val="2B658B"/>
                </a:solidFill>
                <a:latin typeface="Arial"/>
                <a:ea typeface="Arial"/>
                <a:cs typeface="Arial"/>
              </a:rPr>
              <a:t>CÂU HỎI GỐC</a:t>
            </a:r>
          </a:p>
        </p:txBody>
      </p:sp>
      <p:sp>
        <p:nvSpPr>
          <p:cNvPr id="8" name="central rule">
            <a:extLst xmlns:a="http://schemas.openxmlformats.org/drawingml/2006/main">
              <a:ext uri="{FF2B5EF4-FFF2-40B4-BE49-F238E27FC236}">
                <a16:creationId xmlns:a16="http://schemas.microsoft.com/office/drawing/2014/main" id="{4CA7E314-491B-44DD-ACF1-B9D5BB657E64}"/>
              </a:ext>
            </a:extLst>
          </p:cNvPr>
          <p:cNvSpPr>
            <a:spLocks xmlns:a="http://schemas.openxmlformats.org/drawingml/2006/main" noGrp="1"/>
          </p:cNvSpPr>
          <p:nvPr/>
        </p:nvSpPr>
        <p:spPr>
          <a:xfrm xmlns:a="http://schemas.openxmlformats.org/drawingml/2006/main">
            <a:off x="685800" y="2981325"/>
            <a:ext cx="21526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central body">
            <a:extLst xmlns:a="http://schemas.openxmlformats.org/drawingml/2006/main">
              <a:ext uri="{FF2B5EF4-FFF2-40B4-BE49-F238E27FC236}">
                <a16:creationId xmlns:a16="http://schemas.microsoft.com/office/drawing/2014/main" id="{6E2490B5-967F-4E18-8892-6488794EEDA9}"/>
              </a:ext>
            </a:extLst>
          </p:cNvPr>
          <p:cNvSpPr>
            <a:spLocks xmlns:a="http://schemas.openxmlformats.org/drawingml/2006/main" noGrp="1"/>
          </p:cNvSpPr>
          <p:nvPr/>
        </p:nvSpPr>
        <p:spPr>
          <a:xfrm xmlns:a="http://schemas.openxmlformats.org/drawingml/2006/main">
            <a:off x="685800" y="3143250"/>
            <a:ext cx="221932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Một dòng log không đủ để suy ra hành vi. Cần đọc thứ tự, tham số và quan hệ giữa thực thể. Chất lượng biểu diễn chỉ có nghĩa khi phép đánh giá không bị rò rỉ.</a:t>
            </a:r>
          </a:p>
        </p:txBody>
      </p:sp>
      <p:sp>
        <p:nvSpPr>
          <p:cNvPr id="10" name="branch 0 accent">
            <a:extLst xmlns:a="http://schemas.openxmlformats.org/drawingml/2006/main">
              <a:ext uri="{FF2B5EF4-FFF2-40B4-BE49-F238E27FC236}">
                <a16:creationId xmlns:a16="http://schemas.microsoft.com/office/drawing/2014/main" id="{67156322-9111-4EC8-BFC5-A0A561C38FAA}"/>
              </a:ext>
            </a:extLst>
          </p:cNvPr>
          <p:cNvSpPr>
            <a:spLocks xmlns:a="http://schemas.openxmlformats.org/drawingml/2006/main" noGrp="1"/>
          </p:cNvSpPr>
          <p:nvPr/>
        </p:nvSpPr>
        <p:spPr>
          <a:xfrm xmlns:a="http://schemas.openxmlformats.org/drawingml/2006/main">
            <a:off x="3476625" y="1447800"/>
            <a:ext cx="47625" cy="20955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1" name="branch 0 headrule">
            <a:extLst xmlns:a="http://schemas.openxmlformats.org/drawingml/2006/main">
              <a:ext uri="{FF2B5EF4-FFF2-40B4-BE49-F238E27FC236}">
                <a16:creationId xmlns:a16="http://schemas.microsoft.com/office/drawing/2014/main" id="{F3FE8DC2-0F5D-4DB1-8F3D-3955095EBB9E}"/>
              </a:ext>
            </a:extLst>
          </p:cNvPr>
          <p:cNvSpPr>
            <a:spLocks xmlns:a="http://schemas.openxmlformats.org/drawingml/2006/main" noGrp="1"/>
          </p:cNvSpPr>
          <p:nvPr/>
        </p:nvSpPr>
        <p:spPr>
          <a:xfrm xmlns:a="http://schemas.openxmlformats.org/drawingml/2006/main">
            <a:off x="3629025" y="1809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2" name="branch 0 title">
            <a:extLst xmlns:a="http://schemas.openxmlformats.org/drawingml/2006/main">
              <a:ext uri="{FF2B5EF4-FFF2-40B4-BE49-F238E27FC236}">
                <a16:creationId xmlns:a16="http://schemas.microsoft.com/office/drawing/2014/main" id="{930C1D00-EA0D-4F24-9CB2-DB92E67E9D65}"/>
              </a:ext>
            </a:extLst>
          </p:cNvPr>
          <p:cNvSpPr>
            <a:spLocks xmlns:a="http://schemas.openxmlformats.org/drawingml/2006/main" noGrp="1"/>
          </p:cNvSpPr>
          <p:nvPr/>
        </p:nvSpPr>
        <p:spPr>
          <a:xfrm xmlns:a="http://schemas.openxmlformats.org/drawingml/2006/main">
            <a:off x="3638550" y="1466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B658B"/>
                </a:solidFill>
                <a:latin typeface="Arial"/>
                <a:ea typeface="Arial"/>
                <a:cs typeface="Arial"/>
              </a:defRPr>
            </a:pPr>
            <a:r>
              <a:rPr sz="1725" b="1">
                <a:solidFill>
                  <a:srgbClr val="2B658B"/>
                </a:solidFill>
                <a:latin typeface="Arial"/>
                <a:ea typeface="Arial"/>
                <a:cs typeface="Arial"/>
              </a:rPr>
              <a:t>Thống kê / cú pháp</a:t>
            </a:r>
          </a:p>
        </p:txBody>
      </p:sp>
      <p:sp>
        <p:nvSpPr>
          <p:cNvPr id="13" name="branch 0 body">
            <a:extLst xmlns:a="http://schemas.openxmlformats.org/drawingml/2006/main">
              <a:ext uri="{FF2B5EF4-FFF2-40B4-BE49-F238E27FC236}">
                <a16:creationId xmlns:a16="http://schemas.microsoft.com/office/drawing/2014/main" id="{17A50F93-9946-4E29-BC54-E80AF21D5174}"/>
              </a:ext>
            </a:extLst>
          </p:cNvPr>
          <p:cNvSpPr>
            <a:spLocks xmlns:a="http://schemas.openxmlformats.org/drawingml/2006/main" noGrp="1"/>
          </p:cNvSpPr>
          <p:nvPr/>
        </p:nvSpPr>
        <p:spPr>
          <a:xfrm xmlns:a="http://schemas.openxmlformats.org/drawingml/2006/main">
            <a:off x="3638550" y="1905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Giữ tần suất và mẫu định dạng. Dễ triển khai; dễ mất tham số động và phụ thuộc giữa thực thể.</a:t>
            </a:r>
          </a:p>
        </p:txBody>
      </p:sp>
      <p:sp>
        <p:nvSpPr>
          <p:cNvPr id="14" name="branch 1 accent">
            <a:extLst xmlns:a="http://schemas.openxmlformats.org/drawingml/2006/main">
              <a:ext uri="{FF2B5EF4-FFF2-40B4-BE49-F238E27FC236}">
                <a16:creationId xmlns:a16="http://schemas.microsoft.com/office/drawing/2014/main" id="{C728D5FD-20FF-4F7A-B44E-2D841C7A0142}"/>
              </a:ext>
            </a:extLst>
          </p:cNvPr>
          <p:cNvSpPr>
            <a:spLocks xmlns:a="http://schemas.openxmlformats.org/drawingml/2006/main" noGrp="1"/>
          </p:cNvSpPr>
          <p:nvPr/>
        </p:nvSpPr>
        <p:spPr>
          <a:xfrm xmlns:a="http://schemas.openxmlformats.org/drawingml/2006/main">
            <a:off x="7715250" y="1447800"/>
            <a:ext cx="47625" cy="2095500"/>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5" name="branch 1 headrule">
            <a:extLst xmlns:a="http://schemas.openxmlformats.org/drawingml/2006/main">
              <a:ext uri="{FF2B5EF4-FFF2-40B4-BE49-F238E27FC236}">
                <a16:creationId xmlns:a16="http://schemas.microsoft.com/office/drawing/2014/main" id="{905BBAEF-CF8D-4DB1-9A3F-E541DED6E993}"/>
              </a:ext>
            </a:extLst>
          </p:cNvPr>
          <p:cNvSpPr>
            <a:spLocks xmlns:a="http://schemas.openxmlformats.org/drawingml/2006/main" noGrp="1"/>
          </p:cNvSpPr>
          <p:nvPr/>
        </p:nvSpPr>
        <p:spPr>
          <a:xfrm xmlns:a="http://schemas.openxmlformats.org/drawingml/2006/main">
            <a:off x="7867650" y="1809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6" name="branch 1 title">
            <a:extLst xmlns:a="http://schemas.openxmlformats.org/drawingml/2006/main">
              <a:ext uri="{FF2B5EF4-FFF2-40B4-BE49-F238E27FC236}">
                <a16:creationId xmlns:a16="http://schemas.microsoft.com/office/drawing/2014/main" id="{34CB0665-1E10-4FEA-A514-70BB0BFDC6EE}"/>
              </a:ext>
            </a:extLst>
          </p:cNvPr>
          <p:cNvSpPr>
            <a:spLocks xmlns:a="http://schemas.openxmlformats.org/drawingml/2006/main" noGrp="1"/>
          </p:cNvSpPr>
          <p:nvPr/>
        </p:nvSpPr>
        <p:spPr>
          <a:xfrm xmlns:a="http://schemas.openxmlformats.org/drawingml/2006/main">
            <a:off x="7877175" y="1466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D746D"/>
                </a:solidFill>
                <a:latin typeface="Arial"/>
                <a:ea typeface="Arial"/>
                <a:cs typeface="Arial"/>
              </a:defRPr>
            </a:pPr>
            <a:r>
              <a:rPr sz="1725" b="1">
                <a:solidFill>
                  <a:srgbClr val="2D746D"/>
                </a:solidFill>
                <a:latin typeface="Arial"/>
                <a:ea typeface="Arial"/>
                <a:cs typeface="Arial"/>
              </a:rPr>
              <a:t>Chuỗi sự kiện</a:t>
            </a:r>
          </a:p>
        </p:txBody>
      </p:sp>
      <p:sp>
        <p:nvSpPr>
          <p:cNvPr id="17" name="branch 1 body">
            <a:extLst xmlns:a="http://schemas.openxmlformats.org/drawingml/2006/main">
              <a:ext uri="{FF2B5EF4-FFF2-40B4-BE49-F238E27FC236}">
                <a16:creationId xmlns:a16="http://schemas.microsoft.com/office/drawing/2014/main" id="{3DE9EDAF-7788-43C8-BF8A-2B8C0502988D}"/>
              </a:ext>
            </a:extLst>
          </p:cNvPr>
          <p:cNvSpPr>
            <a:spLocks xmlns:a="http://schemas.openxmlformats.org/drawingml/2006/main" noGrp="1"/>
          </p:cNvSpPr>
          <p:nvPr/>
        </p:nvSpPr>
        <p:spPr>
          <a:xfrm xmlns:a="http://schemas.openxmlformats.org/drawingml/2006/main">
            <a:off x="7877175" y="1905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Giữ thứ tự và ngữ cảnh cục bộ. Hạn chế khi cần quan hệ đa thực thể vượt khỏi chuỗi.</a:t>
            </a:r>
          </a:p>
        </p:txBody>
      </p:sp>
      <p:sp>
        <p:nvSpPr>
          <p:cNvPr id="18" name="branch 2 accent">
            <a:extLst xmlns:a="http://schemas.openxmlformats.org/drawingml/2006/main">
              <a:ext uri="{FF2B5EF4-FFF2-40B4-BE49-F238E27FC236}">
                <a16:creationId xmlns:a16="http://schemas.microsoft.com/office/drawing/2014/main" id="{E8162763-5C41-4F38-9AC1-FAEF756239F8}"/>
              </a:ext>
            </a:extLst>
          </p:cNvPr>
          <p:cNvSpPr>
            <a:spLocks xmlns:a="http://schemas.openxmlformats.org/drawingml/2006/main" noGrp="1"/>
          </p:cNvSpPr>
          <p:nvPr/>
        </p:nvSpPr>
        <p:spPr>
          <a:xfrm xmlns:a="http://schemas.openxmlformats.org/drawingml/2006/main">
            <a:off x="3476625" y="3733800"/>
            <a:ext cx="47625" cy="2095500"/>
          </a:xfrm>
          <a:prstGeom xmlns:a="http://schemas.openxmlformats.org/drawingml/2006/main" prst="rect">
            <a:avLst/>
          </a:prstGeom>
          <a:solidFill xmlns:a="http://schemas.openxmlformats.org/drawingml/2006/main">
            <a:srgbClr val="A3692D"/>
          </a:solidFill>
          <a:ln xmlns:a="http://schemas.openxmlformats.org/drawingml/2006/main" w="0">
            <a:noFill/>
            <a:prstDash val="solid"/>
          </a:ln>
        </p:spPr>
      </p:sp>
      <p:sp>
        <p:nvSpPr>
          <p:cNvPr id="19" name="branch 2 headrule">
            <a:extLst xmlns:a="http://schemas.openxmlformats.org/drawingml/2006/main">
              <a:ext uri="{FF2B5EF4-FFF2-40B4-BE49-F238E27FC236}">
                <a16:creationId xmlns:a16="http://schemas.microsoft.com/office/drawing/2014/main" id="{CAE1C33B-537E-464D-BB8F-3DDE408AA61D}"/>
              </a:ext>
            </a:extLst>
          </p:cNvPr>
          <p:cNvSpPr>
            <a:spLocks xmlns:a="http://schemas.openxmlformats.org/drawingml/2006/main" noGrp="1"/>
          </p:cNvSpPr>
          <p:nvPr/>
        </p:nvSpPr>
        <p:spPr>
          <a:xfrm xmlns:a="http://schemas.openxmlformats.org/drawingml/2006/main">
            <a:off x="3629025" y="4095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0" name="branch 2 title">
            <a:extLst xmlns:a="http://schemas.openxmlformats.org/drawingml/2006/main">
              <a:ext uri="{FF2B5EF4-FFF2-40B4-BE49-F238E27FC236}">
                <a16:creationId xmlns:a16="http://schemas.microsoft.com/office/drawing/2014/main" id="{CE092999-3746-4536-89D0-5AEA3C30A2CE}"/>
              </a:ext>
            </a:extLst>
          </p:cNvPr>
          <p:cNvSpPr>
            <a:spLocks xmlns:a="http://schemas.openxmlformats.org/drawingml/2006/main" noGrp="1"/>
          </p:cNvSpPr>
          <p:nvPr/>
        </p:nvSpPr>
        <p:spPr>
          <a:xfrm xmlns:a="http://schemas.openxmlformats.org/drawingml/2006/main">
            <a:off x="3638550" y="3752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3692D"/>
                </a:solidFill>
                <a:latin typeface="Arial"/>
                <a:ea typeface="Arial"/>
                <a:cs typeface="Arial"/>
              </a:defRPr>
            </a:pPr>
            <a:r>
              <a:rPr sz="1725" b="1">
                <a:solidFill>
                  <a:srgbClr val="A3692D"/>
                </a:solidFill>
                <a:latin typeface="Arial"/>
                <a:ea typeface="Arial"/>
                <a:cs typeface="Arial"/>
              </a:rPr>
              <a:t>Đồ thị nguồn gốc</a:t>
            </a:r>
          </a:p>
        </p:txBody>
      </p:sp>
      <p:sp>
        <p:nvSpPr>
          <p:cNvPr id="21" name="branch 2 body">
            <a:extLst xmlns:a="http://schemas.openxmlformats.org/drawingml/2006/main">
              <a:ext uri="{FF2B5EF4-FFF2-40B4-BE49-F238E27FC236}">
                <a16:creationId xmlns:a16="http://schemas.microsoft.com/office/drawing/2014/main" id="{4442A0A6-BA53-489C-B208-81696D94E45B}"/>
              </a:ext>
            </a:extLst>
          </p:cNvPr>
          <p:cNvSpPr>
            <a:spLocks xmlns:a="http://schemas.openxmlformats.org/drawingml/2006/main" noGrp="1"/>
          </p:cNvSpPr>
          <p:nvPr/>
        </p:nvSpPr>
        <p:spPr>
          <a:xfrm xmlns:a="http://schemas.openxmlformats.org/drawingml/2006/main">
            <a:off x="3638550" y="4191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Giữ tương tác và phụ thuộc giữa thực thể. Đổi lại chi phí dựng/cập nhật đồ thị lớn hơn.</a:t>
            </a:r>
          </a:p>
        </p:txBody>
      </p:sp>
      <p:sp>
        <p:nvSpPr>
          <p:cNvPr id="22" name="branch 3 accent">
            <a:extLst xmlns:a="http://schemas.openxmlformats.org/drawingml/2006/main">
              <a:ext uri="{FF2B5EF4-FFF2-40B4-BE49-F238E27FC236}">
                <a16:creationId xmlns:a16="http://schemas.microsoft.com/office/drawing/2014/main" id="{F20F8FD2-4F66-4464-A3A3-4863ED719011}"/>
              </a:ext>
            </a:extLst>
          </p:cNvPr>
          <p:cNvSpPr>
            <a:spLocks xmlns:a="http://schemas.openxmlformats.org/drawingml/2006/main" noGrp="1"/>
          </p:cNvSpPr>
          <p:nvPr/>
        </p:nvSpPr>
        <p:spPr>
          <a:xfrm xmlns:a="http://schemas.openxmlformats.org/drawingml/2006/main">
            <a:off x="7715250" y="3733800"/>
            <a:ext cx="47625" cy="2095500"/>
          </a:xfrm>
          <a:prstGeom xmlns:a="http://schemas.openxmlformats.org/drawingml/2006/main" prst="rect">
            <a:avLst/>
          </a:prstGeom>
          <a:solidFill xmlns:a="http://schemas.openxmlformats.org/drawingml/2006/main">
            <a:srgbClr val="A84F4B"/>
          </a:solidFill>
          <a:ln xmlns:a="http://schemas.openxmlformats.org/drawingml/2006/main" w="0">
            <a:noFill/>
            <a:prstDash val="solid"/>
          </a:ln>
        </p:spPr>
      </p:sp>
      <p:sp>
        <p:nvSpPr>
          <p:cNvPr id="23" name="branch 3 headrule">
            <a:extLst xmlns:a="http://schemas.openxmlformats.org/drawingml/2006/main">
              <a:ext uri="{FF2B5EF4-FFF2-40B4-BE49-F238E27FC236}">
                <a16:creationId xmlns:a16="http://schemas.microsoft.com/office/drawing/2014/main" id="{EF09F6C6-47B0-4158-A667-91C6F97E8CD8}"/>
              </a:ext>
            </a:extLst>
          </p:cNvPr>
          <p:cNvSpPr>
            <a:spLocks xmlns:a="http://schemas.openxmlformats.org/drawingml/2006/main" noGrp="1"/>
          </p:cNvSpPr>
          <p:nvPr/>
        </p:nvSpPr>
        <p:spPr>
          <a:xfrm xmlns:a="http://schemas.openxmlformats.org/drawingml/2006/main">
            <a:off x="7867650" y="4095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4" name="branch 3 title">
            <a:extLst xmlns:a="http://schemas.openxmlformats.org/drawingml/2006/main">
              <a:ext uri="{FF2B5EF4-FFF2-40B4-BE49-F238E27FC236}">
                <a16:creationId xmlns:a16="http://schemas.microsoft.com/office/drawing/2014/main" id="{81437F2F-01E8-4843-9B88-B7C4908CA86F}"/>
              </a:ext>
            </a:extLst>
          </p:cNvPr>
          <p:cNvSpPr>
            <a:spLocks xmlns:a="http://schemas.openxmlformats.org/drawingml/2006/main" noGrp="1"/>
          </p:cNvSpPr>
          <p:nvPr/>
        </p:nvSpPr>
        <p:spPr>
          <a:xfrm xmlns:a="http://schemas.openxmlformats.org/drawingml/2006/main">
            <a:off x="7877175" y="3752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84F4B"/>
                </a:solidFill>
                <a:latin typeface="Arial"/>
                <a:ea typeface="Arial"/>
                <a:cs typeface="Arial"/>
              </a:defRPr>
            </a:pPr>
            <a:r>
              <a:rPr sz="1725" b="1">
                <a:solidFill>
                  <a:srgbClr val="A84F4B"/>
                </a:solidFill>
                <a:latin typeface="Arial"/>
                <a:ea typeface="Arial"/>
                <a:cs typeface="Arial"/>
              </a:rPr>
              <a:t>5 khoảng trống nghiên cứu</a:t>
            </a:r>
          </a:p>
        </p:txBody>
      </p:sp>
      <p:sp>
        <p:nvSpPr>
          <p:cNvPr id="25" name="branch 3 body">
            <a:extLst xmlns:a="http://schemas.openxmlformats.org/drawingml/2006/main">
              <a:ext uri="{FF2B5EF4-FFF2-40B4-BE49-F238E27FC236}">
                <a16:creationId xmlns:a16="http://schemas.microsoft.com/office/drawing/2014/main" id="{3D1181C7-6D5B-43DA-86E3-1708B8632B82}"/>
              </a:ext>
            </a:extLst>
          </p:cNvPr>
          <p:cNvSpPr>
            <a:spLocks xmlns:a="http://schemas.openxmlformats.org/drawingml/2006/main" noGrp="1"/>
          </p:cNvSpPr>
          <p:nvPr/>
        </p:nvSpPr>
        <p:spPr>
          <a:xfrm xmlns:a="http://schemas.openxmlformats.org/drawingml/2006/main">
            <a:off x="7877175" y="4191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Tham số; gióng hàng đa góc nhìn; rò rỉ/đường tắt; nhãn thô; liên kết và riêng tư.</a:t>
            </a:r>
          </a:p>
        </p:txBody>
      </p:sp>
      <p:sp>
        <p:nvSpPr>
          <p:cNvPr id="26" name="upper bar">
            <a:extLst xmlns:a="http://schemas.openxmlformats.org/drawingml/2006/main">
              <a:ext uri="{FF2B5EF4-FFF2-40B4-BE49-F238E27FC236}">
                <a16:creationId xmlns:a16="http://schemas.microsoft.com/office/drawing/2014/main" id="{F79E6CD4-6D71-4249-9C4F-931C913247EE}"/>
              </a:ext>
            </a:extLst>
          </p:cNvPr>
          <p:cNvSpPr>
            <a:spLocks xmlns:a="http://schemas.openxmlformats.org/drawingml/2006/main" noGrp="1"/>
          </p:cNvSpPr>
          <p:nvPr/>
        </p:nvSpPr>
        <p:spPr>
          <a:xfrm xmlns:a="http://schemas.openxmlformats.org/drawingml/2006/main">
            <a:off x="3086100" y="248602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7" name="upper dot">
            <a:extLst xmlns:a="http://schemas.openxmlformats.org/drawingml/2006/main">
              <a:ext uri="{FF2B5EF4-FFF2-40B4-BE49-F238E27FC236}">
                <a16:creationId xmlns:a16="http://schemas.microsoft.com/office/drawing/2014/main" id="{2C695C09-20A9-4385-9508-8D5667435CD7}"/>
              </a:ext>
            </a:extLst>
          </p:cNvPr>
          <p:cNvSpPr>
            <a:spLocks xmlns:a="http://schemas.openxmlformats.org/drawingml/2006/main" noGrp="1"/>
          </p:cNvSpPr>
          <p:nvPr/>
        </p:nvSpPr>
        <p:spPr>
          <a:xfrm xmlns:a="http://schemas.openxmlformats.org/drawingml/2006/main">
            <a:off x="3343275" y="245745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8" name="lower bar">
            <a:extLst xmlns:a="http://schemas.openxmlformats.org/drawingml/2006/main">
              <a:ext uri="{FF2B5EF4-FFF2-40B4-BE49-F238E27FC236}">
                <a16:creationId xmlns:a16="http://schemas.microsoft.com/office/drawing/2014/main" id="{C96312DE-0200-4C4B-BB63-90BC0A20AA5F}"/>
              </a:ext>
            </a:extLst>
          </p:cNvPr>
          <p:cNvSpPr>
            <a:spLocks xmlns:a="http://schemas.openxmlformats.org/drawingml/2006/main" noGrp="1"/>
          </p:cNvSpPr>
          <p:nvPr/>
        </p:nvSpPr>
        <p:spPr>
          <a:xfrm xmlns:a="http://schemas.openxmlformats.org/drawingml/2006/main">
            <a:off x="3086100" y="456247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9" name="lower dot">
            <a:extLst xmlns:a="http://schemas.openxmlformats.org/drawingml/2006/main">
              <a:ext uri="{FF2B5EF4-FFF2-40B4-BE49-F238E27FC236}">
                <a16:creationId xmlns:a16="http://schemas.microsoft.com/office/drawing/2014/main" id="{1E1FF410-2BE5-42DB-BB73-34BD24810A9C}"/>
              </a:ext>
            </a:extLst>
          </p:cNvPr>
          <p:cNvSpPr>
            <a:spLocks xmlns:a="http://schemas.openxmlformats.org/drawingml/2006/main" noGrp="1"/>
          </p:cNvSpPr>
          <p:nvPr/>
        </p:nvSpPr>
        <p:spPr>
          <a:xfrm xmlns:a="http://schemas.openxmlformats.org/drawingml/2006/main">
            <a:off x="3343275" y="453390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30" name="takeaway">
            <a:extLst xmlns:a="http://schemas.openxmlformats.org/drawingml/2006/main">
              <a:ext uri="{FF2B5EF4-FFF2-40B4-BE49-F238E27FC236}">
                <a16:creationId xmlns:a16="http://schemas.microsoft.com/office/drawing/2014/main" id="{75B3473D-D86A-4FBB-9FBD-9E1DB3EB24E6}"/>
              </a:ext>
            </a:extLst>
          </p:cNvPr>
          <p:cNvSpPr>
            <a:spLocks xmlns:a="http://schemas.openxmlformats.org/drawingml/2006/main" noGrp="1"/>
          </p:cNvSpPr>
          <p:nvPr/>
        </p:nvSpPr>
        <p:spPr>
          <a:xfrm xmlns:a="http://schemas.openxmlformats.org/drawingml/2006/main">
            <a:off x="514350" y="60579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A84F4B"/>
                </a:solidFill>
                <a:latin typeface="Arial"/>
                <a:ea typeface="Arial"/>
                <a:cs typeface="Arial"/>
              </a:defRPr>
            </a:pPr>
            <a:r>
              <a:rPr sz="1350" b="1">
                <a:solidFill>
                  <a:srgbClr val="A84F4B"/>
                </a:solidFill>
                <a:latin typeface="Arial"/>
                <a:ea typeface="Arial"/>
                <a:cs typeface="Arial"/>
              </a:rPr>
              <a:t>Luận điểm bảo vệ: thêm nhánh đồ thị là giả thuyết cần thử, không phải bằng chứng tăng hiệu năng.</a:t>
            </a:r>
          </a:p>
        </p:txBody>
      </p:sp>
    </p:spTree>
    <p:extLst>
      <p:ext uri="{BB962C8B-B14F-4D97-AF65-F5344CB8AC3E}">
        <p14:creationId xmlns:p14="http://schemas.microsoft.com/office/powerpoint/2010/main" val="554561096"/>
      </p:ext>
    </p:extLst>
  </p:cSld>
</p:sld>
</file>

<file path=ppt/slides/slide3.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31" name="title">
            <a:extLst xmlns:a="http://schemas.openxmlformats.org/drawingml/2006/main">
              <a:ext uri="{FF2B5EF4-FFF2-40B4-BE49-F238E27FC236}">
                <a16:creationId xmlns:a16="http://schemas.microsoft.com/office/drawing/2014/main" id="{6DBD440B-F9EF-437A-99BF-8A054C4D5A39}"/>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Hợp đồng Biểu diễn</a:t>
            </a:r>
          </a:p>
        </p:txBody>
      </p:sp>
      <p:sp>
        <p:nvSpPr>
          <p:cNvPr id="2" name="subtitle">
            <a:extLst xmlns:a="http://schemas.openxmlformats.org/drawingml/2006/main">
              <a:ext uri="{FF2B5EF4-FFF2-40B4-BE49-F238E27FC236}">
                <a16:creationId xmlns:a16="http://schemas.microsoft.com/office/drawing/2014/main" id="{60463E42-9026-43E1-B33E-D8BF4D18DED8}"/>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PRESERVE / INVARIANT / EXCLUDE là ba câu hỏi kiểm chứng, không phải ba thành tích đã đạt</a:t>
            </a:r>
          </a:p>
        </p:txBody>
      </p:sp>
      <p:sp>
        <p:nvSpPr>
          <p:cNvPr id="3" name="top line">
            <a:extLst xmlns:a="http://schemas.openxmlformats.org/drawingml/2006/main">
              <a:ext uri="{FF2B5EF4-FFF2-40B4-BE49-F238E27FC236}">
                <a16:creationId xmlns:a16="http://schemas.microsoft.com/office/drawing/2014/main" id="{557117B9-85DA-454F-B8E7-773E3AB5A27A}"/>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82A19EA5-8394-4031-937A-48E452577860}"/>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1.1.3, Bảng 1.2; Mục 2.1.1, 3.2.3</a:t>
            </a:r>
          </a:p>
        </p:txBody>
      </p:sp>
      <p:sp>
        <p:nvSpPr>
          <p:cNvPr id="5" name="number">
            <a:extLst xmlns:a="http://schemas.openxmlformats.org/drawingml/2006/main">
              <a:ext uri="{FF2B5EF4-FFF2-40B4-BE49-F238E27FC236}">
                <a16:creationId xmlns:a16="http://schemas.microsoft.com/office/drawing/2014/main" id="{57AAB62F-66F3-4703-9BB3-267CA4DDC8EA}"/>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03 / 10</a:t>
            </a:r>
          </a:p>
        </p:txBody>
      </p:sp>
      <p:sp>
        <p:nvSpPr>
          <p:cNvPr id="6" name="central node">
            <a:extLst xmlns:a="http://schemas.openxmlformats.org/drawingml/2006/main">
              <a:ext uri="{FF2B5EF4-FFF2-40B4-BE49-F238E27FC236}">
                <a16:creationId xmlns:a16="http://schemas.microsoft.com/office/drawing/2014/main" id="{2948CB4E-FA7B-4951-BA76-ED618E616D9E}"/>
              </a:ext>
            </a:extLst>
          </p:cNvPr>
          <p:cNvSpPr>
            <a:spLocks xmlns:a="http://schemas.openxmlformats.org/drawingml/2006/main" noGrp="1"/>
          </p:cNvSpPr>
          <p:nvPr/>
        </p:nvSpPr>
        <p:spPr>
          <a:xfrm xmlns:a="http://schemas.openxmlformats.org/drawingml/2006/main">
            <a:off x="514350" y="1819275"/>
            <a:ext cx="2571750" cy="3943350"/>
          </a:xfrm>
          <a:prstGeom xmlns:a="http://schemas.openxmlformats.org/drawingml/2006/main" prst="roundRect">
            <a:avLst>
              <a:gd name="adj" fmla="val 2963"/>
            </a:avLst>
          </a:prstGeom>
          <a:solidFill xmlns:a="http://schemas.openxmlformats.org/drawingml/2006/main">
            <a:srgbClr val="E7F0F5"/>
          </a:solidFill>
          <a:ln xmlns:a="http://schemas.openxmlformats.org/drawingml/2006/main" w="9525">
            <a:solidFill>
              <a:srgbClr val="2B658B"/>
            </a:solidFill>
            <a:prstDash val="solid"/>
          </a:ln>
        </p:spPr>
      </p:sp>
      <p:sp>
        <p:nvSpPr>
          <p:cNvPr id="7" name="central head">
            <a:extLst xmlns:a="http://schemas.openxmlformats.org/drawingml/2006/main">
              <a:ext uri="{FF2B5EF4-FFF2-40B4-BE49-F238E27FC236}">
                <a16:creationId xmlns:a16="http://schemas.microsoft.com/office/drawing/2014/main" id="{8FDB6BE7-2F95-4B43-8967-C0C344BA8B45}"/>
              </a:ext>
            </a:extLst>
          </p:cNvPr>
          <p:cNvSpPr>
            <a:spLocks xmlns:a="http://schemas.openxmlformats.org/drawingml/2006/main" noGrp="1"/>
          </p:cNvSpPr>
          <p:nvPr/>
        </p:nvSpPr>
        <p:spPr>
          <a:xfrm xmlns:a="http://schemas.openxmlformats.org/drawingml/2006/main">
            <a:off x="685800" y="2047875"/>
            <a:ext cx="22383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B658B"/>
                </a:solidFill>
                <a:latin typeface="Arial"/>
                <a:ea typeface="Arial"/>
                <a:cs typeface="Arial"/>
              </a:defRPr>
            </a:pPr>
            <a:r>
              <a:rPr sz="2100" b="1">
                <a:solidFill>
                  <a:srgbClr val="2B658B"/>
                </a:solidFill>
                <a:latin typeface="Arial"/>
                <a:ea typeface="Arial"/>
                <a:cs typeface="Arial"/>
              </a:rPr>
              <a:t>VECTOR z</a:t>
            </a:r>
          </a:p>
        </p:txBody>
      </p:sp>
      <p:sp>
        <p:nvSpPr>
          <p:cNvPr id="8" name="central rule">
            <a:extLst xmlns:a="http://schemas.openxmlformats.org/drawingml/2006/main">
              <a:ext uri="{FF2B5EF4-FFF2-40B4-BE49-F238E27FC236}">
                <a16:creationId xmlns:a16="http://schemas.microsoft.com/office/drawing/2014/main" id="{6DDB6130-E43D-4A7D-A74C-CEF1E3C24B64}"/>
              </a:ext>
            </a:extLst>
          </p:cNvPr>
          <p:cNvSpPr>
            <a:spLocks xmlns:a="http://schemas.openxmlformats.org/drawingml/2006/main" noGrp="1"/>
          </p:cNvSpPr>
          <p:nvPr/>
        </p:nvSpPr>
        <p:spPr>
          <a:xfrm xmlns:a="http://schemas.openxmlformats.org/drawingml/2006/main">
            <a:off x="685800" y="2981325"/>
            <a:ext cx="21526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central body">
            <a:extLst xmlns:a="http://schemas.openxmlformats.org/drawingml/2006/main">
              <a:ext uri="{FF2B5EF4-FFF2-40B4-BE49-F238E27FC236}">
                <a16:creationId xmlns:a16="http://schemas.microsoft.com/office/drawing/2014/main" id="{37759600-CECF-4AF6-96D2-E07F0189FB7E}"/>
              </a:ext>
            </a:extLst>
          </p:cNvPr>
          <p:cNvSpPr>
            <a:spLocks xmlns:a="http://schemas.openxmlformats.org/drawingml/2006/main" noGrp="1"/>
          </p:cNvSpPr>
          <p:nvPr/>
        </p:nvSpPr>
        <p:spPr>
          <a:xfrm xmlns:a="http://schemas.openxmlformats.org/drawingml/2006/main">
            <a:off x="685800" y="3143250"/>
            <a:ext cx="221932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Một vector tốt phải giữ đúng tín hiệu cần thiết, ổn định trước nhiễu vô hại và không mang đường tắt/rò rỉ. Ba yêu cầu có thể xung đột, nên phải đo riêng.</a:t>
            </a:r>
          </a:p>
        </p:txBody>
      </p:sp>
      <p:sp>
        <p:nvSpPr>
          <p:cNvPr id="10" name="branch 0 accent">
            <a:extLst xmlns:a="http://schemas.openxmlformats.org/drawingml/2006/main">
              <a:ext uri="{FF2B5EF4-FFF2-40B4-BE49-F238E27FC236}">
                <a16:creationId xmlns:a16="http://schemas.microsoft.com/office/drawing/2014/main" id="{0ADD3B71-8B12-4C7B-B479-C542877BB3F9}"/>
              </a:ext>
            </a:extLst>
          </p:cNvPr>
          <p:cNvSpPr>
            <a:spLocks xmlns:a="http://schemas.openxmlformats.org/drawingml/2006/main" noGrp="1"/>
          </p:cNvSpPr>
          <p:nvPr/>
        </p:nvSpPr>
        <p:spPr>
          <a:xfrm xmlns:a="http://schemas.openxmlformats.org/drawingml/2006/main">
            <a:off x="3476625" y="1447800"/>
            <a:ext cx="47625" cy="20955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1" name="branch 0 headrule">
            <a:extLst xmlns:a="http://schemas.openxmlformats.org/drawingml/2006/main">
              <a:ext uri="{FF2B5EF4-FFF2-40B4-BE49-F238E27FC236}">
                <a16:creationId xmlns:a16="http://schemas.microsoft.com/office/drawing/2014/main" id="{95189AFE-5BB6-4230-923C-C1C3DCC3E110}"/>
              </a:ext>
            </a:extLst>
          </p:cNvPr>
          <p:cNvSpPr>
            <a:spLocks xmlns:a="http://schemas.openxmlformats.org/drawingml/2006/main" noGrp="1"/>
          </p:cNvSpPr>
          <p:nvPr/>
        </p:nvSpPr>
        <p:spPr>
          <a:xfrm xmlns:a="http://schemas.openxmlformats.org/drawingml/2006/main">
            <a:off x="3629025" y="1809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2" name="branch 0 title">
            <a:extLst xmlns:a="http://schemas.openxmlformats.org/drawingml/2006/main">
              <a:ext uri="{FF2B5EF4-FFF2-40B4-BE49-F238E27FC236}">
                <a16:creationId xmlns:a16="http://schemas.microsoft.com/office/drawing/2014/main" id="{8A22EB40-4A1E-439C-8D97-62E1D8611E8D}"/>
              </a:ext>
            </a:extLst>
          </p:cNvPr>
          <p:cNvSpPr>
            <a:spLocks xmlns:a="http://schemas.openxmlformats.org/drawingml/2006/main" noGrp="1"/>
          </p:cNvSpPr>
          <p:nvPr/>
        </p:nvSpPr>
        <p:spPr>
          <a:xfrm xmlns:a="http://schemas.openxmlformats.org/drawingml/2006/main">
            <a:off x="3638550" y="1466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B658B"/>
                </a:solidFill>
                <a:latin typeface="Arial"/>
                <a:ea typeface="Arial"/>
                <a:cs typeface="Arial"/>
              </a:defRPr>
            </a:pPr>
            <a:r>
              <a:rPr sz="1725" b="1">
                <a:solidFill>
                  <a:srgbClr val="2B658B"/>
                </a:solidFill>
                <a:latin typeface="Arial"/>
                <a:ea typeface="Arial"/>
                <a:cs typeface="Arial"/>
              </a:rPr>
              <a:t>PRESERVE · bảo toàn</a:t>
            </a:r>
          </a:p>
        </p:txBody>
      </p:sp>
      <p:sp>
        <p:nvSpPr>
          <p:cNvPr id="13" name="branch 0 body">
            <a:extLst xmlns:a="http://schemas.openxmlformats.org/drawingml/2006/main">
              <a:ext uri="{FF2B5EF4-FFF2-40B4-BE49-F238E27FC236}">
                <a16:creationId xmlns:a16="http://schemas.microsoft.com/office/drawing/2014/main" id="{1DD9FF52-2FE1-407B-8C91-1F647B03C4E4}"/>
              </a:ext>
            </a:extLst>
          </p:cNvPr>
          <p:cNvSpPr>
            <a:spLocks xmlns:a="http://schemas.openxmlformats.org/drawingml/2006/main" noGrp="1"/>
          </p:cNvSpPr>
          <p:nvPr/>
        </p:nvSpPr>
        <p:spPr>
          <a:xfrm xmlns:a="http://schemas.openxmlformats.org/drawingml/2006/main">
            <a:off x="3638550" y="1905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Giữ tham số lệnh, thứ tự thời gian, quan hệ phụ thuộc. Hỏi: thuộc tính cần thiết còn đọc ra được không?</a:t>
            </a:r>
          </a:p>
        </p:txBody>
      </p:sp>
      <p:sp>
        <p:nvSpPr>
          <p:cNvPr id="14" name="branch 1 accent">
            <a:extLst xmlns:a="http://schemas.openxmlformats.org/drawingml/2006/main">
              <a:ext uri="{FF2B5EF4-FFF2-40B4-BE49-F238E27FC236}">
                <a16:creationId xmlns:a16="http://schemas.microsoft.com/office/drawing/2014/main" id="{CA43A310-7C49-4C8B-84EC-4EE27451A8AF}"/>
              </a:ext>
            </a:extLst>
          </p:cNvPr>
          <p:cNvSpPr>
            <a:spLocks xmlns:a="http://schemas.openxmlformats.org/drawingml/2006/main" noGrp="1"/>
          </p:cNvSpPr>
          <p:nvPr/>
        </p:nvSpPr>
        <p:spPr>
          <a:xfrm xmlns:a="http://schemas.openxmlformats.org/drawingml/2006/main">
            <a:off x="7715250" y="1447800"/>
            <a:ext cx="47625" cy="2095500"/>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5" name="branch 1 headrule">
            <a:extLst xmlns:a="http://schemas.openxmlformats.org/drawingml/2006/main">
              <a:ext uri="{FF2B5EF4-FFF2-40B4-BE49-F238E27FC236}">
                <a16:creationId xmlns:a16="http://schemas.microsoft.com/office/drawing/2014/main" id="{11486CE8-0F64-45FD-AD45-9A68C9FC97EA}"/>
              </a:ext>
            </a:extLst>
          </p:cNvPr>
          <p:cNvSpPr>
            <a:spLocks xmlns:a="http://schemas.openxmlformats.org/drawingml/2006/main" noGrp="1"/>
          </p:cNvSpPr>
          <p:nvPr/>
        </p:nvSpPr>
        <p:spPr>
          <a:xfrm xmlns:a="http://schemas.openxmlformats.org/drawingml/2006/main">
            <a:off x="7867650" y="1809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6" name="branch 1 title">
            <a:extLst xmlns:a="http://schemas.openxmlformats.org/drawingml/2006/main">
              <a:ext uri="{FF2B5EF4-FFF2-40B4-BE49-F238E27FC236}">
                <a16:creationId xmlns:a16="http://schemas.microsoft.com/office/drawing/2014/main" id="{C2F9A46C-F5D7-4D99-95AE-8F3720D78F86}"/>
              </a:ext>
            </a:extLst>
          </p:cNvPr>
          <p:cNvSpPr>
            <a:spLocks xmlns:a="http://schemas.openxmlformats.org/drawingml/2006/main" noGrp="1"/>
          </p:cNvSpPr>
          <p:nvPr/>
        </p:nvSpPr>
        <p:spPr>
          <a:xfrm xmlns:a="http://schemas.openxmlformats.org/drawingml/2006/main">
            <a:off x="7877175" y="1466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D746D"/>
                </a:solidFill>
                <a:latin typeface="Arial"/>
                <a:ea typeface="Arial"/>
                <a:cs typeface="Arial"/>
              </a:defRPr>
            </a:pPr>
            <a:r>
              <a:rPr sz="1725" b="1">
                <a:solidFill>
                  <a:srgbClr val="2D746D"/>
                </a:solidFill>
                <a:latin typeface="Arial"/>
                <a:ea typeface="Arial"/>
                <a:cs typeface="Arial"/>
              </a:rPr>
              <a:t>INVARIANT · bất biến</a:t>
            </a:r>
          </a:p>
        </p:txBody>
      </p:sp>
      <p:sp>
        <p:nvSpPr>
          <p:cNvPr id="17" name="branch 1 body">
            <a:extLst xmlns:a="http://schemas.openxmlformats.org/drawingml/2006/main">
              <a:ext uri="{FF2B5EF4-FFF2-40B4-BE49-F238E27FC236}">
                <a16:creationId xmlns:a16="http://schemas.microsoft.com/office/drawing/2014/main" id="{F1708F3A-8242-456C-B7E1-3CF342451662}"/>
              </a:ext>
            </a:extLst>
          </p:cNvPr>
          <p:cNvSpPr>
            <a:spLocks xmlns:a="http://schemas.openxmlformats.org/drawingml/2006/main" noGrp="1"/>
          </p:cNvSpPr>
          <p:nvPr/>
        </p:nvSpPr>
        <p:spPr>
          <a:xfrm xmlns:a="http://schemas.openxmlformats.org/drawingml/2006/main">
            <a:off x="7877175" y="1905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Ổn định trước đổi định dạng thời gian, PID ngẫu nhiên, cú pháp vô hại. Hỏi: biến đổi đầu vào có làm lệch vector quá mức?</a:t>
            </a:r>
          </a:p>
        </p:txBody>
      </p:sp>
      <p:sp>
        <p:nvSpPr>
          <p:cNvPr id="18" name="branch 2 accent">
            <a:extLst xmlns:a="http://schemas.openxmlformats.org/drawingml/2006/main">
              <a:ext uri="{FF2B5EF4-FFF2-40B4-BE49-F238E27FC236}">
                <a16:creationId xmlns:a16="http://schemas.microsoft.com/office/drawing/2014/main" id="{912EF589-C059-423C-AA7A-0D71638B9DAF}"/>
              </a:ext>
            </a:extLst>
          </p:cNvPr>
          <p:cNvSpPr>
            <a:spLocks xmlns:a="http://schemas.openxmlformats.org/drawingml/2006/main" noGrp="1"/>
          </p:cNvSpPr>
          <p:nvPr/>
        </p:nvSpPr>
        <p:spPr>
          <a:xfrm xmlns:a="http://schemas.openxmlformats.org/drawingml/2006/main">
            <a:off x="3476625" y="3733800"/>
            <a:ext cx="47625" cy="2095500"/>
          </a:xfrm>
          <a:prstGeom xmlns:a="http://schemas.openxmlformats.org/drawingml/2006/main" prst="rect">
            <a:avLst/>
          </a:prstGeom>
          <a:solidFill xmlns:a="http://schemas.openxmlformats.org/drawingml/2006/main">
            <a:srgbClr val="A3692D"/>
          </a:solidFill>
          <a:ln xmlns:a="http://schemas.openxmlformats.org/drawingml/2006/main" w="0">
            <a:noFill/>
            <a:prstDash val="solid"/>
          </a:ln>
        </p:spPr>
      </p:sp>
      <p:sp>
        <p:nvSpPr>
          <p:cNvPr id="19" name="branch 2 headrule">
            <a:extLst xmlns:a="http://schemas.openxmlformats.org/drawingml/2006/main">
              <a:ext uri="{FF2B5EF4-FFF2-40B4-BE49-F238E27FC236}">
                <a16:creationId xmlns:a16="http://schemas.microsoft.com/office/drawing/2014/main" id="{452A315D-C3B5-4836-BCB6-A78A2CDF475A}"/>
              </a:ext>
            </a:extLst>
          </p:cNvPr>
          <p:cNvSpPr>
            <a:spLocks xmlns:a="http://schemas.openxmlformats.org/drawingml/2006/main" noGrp="1"/>
          </p:cNvSpPr>
          <p:nvPr/>
        </p:nvSpPr>
        <p:spPr>
          <a:xfrm xmlns:a="http://schemas.openxmlformats.org/drawingml/2006/main">
            <a:off x="3629025" y="4095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0" name="branch 2 title">
            <a:extLst xmlns:a="http://schemas.openxmlformats.org/drawingml/2006/main">
              <a:ext uri="{FF2B5EF4-FFF2-40B4-BE49-F238E27FC236}">
                <a16:creationId xmlns:a16="http://schemas.microsoft.com/office/drawing/2014/main" id="{BD183B19-1A3B-43DE-834A-1B8563A3AA53}"/>
              </a:ext>
            </a:extLst>
          </p:cNvPr>
          <p:cNvSpPr>
            <a:spLocks xmlns:a="http://schemas.openxmlformats.org/drawingml/2006/main" noGrp="1"/>
          </p:cNvSpPr>
          <p:nvPr/>
        </p:nvSpPr>
        <p:spPr>
          <a:xfrm xmlns:a="http://schemas.openxmlformats.org/drawingml/2006/main">
            <a:off x="3638550" y="3752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3692D"/>
                </a:solidFill>
                <a:latin typeface="Arial"/>
                <a:ea typeface="Arial"/>
                <a:cs typeface="Arial"/>
              </a:defRPr>
            </a:pPr>
            <a:r>
              <a:rPr sz="1725" b="1">
                <a:solidFill>
                  <a:srgbClr val="A3692D"/>
                </a:solidFill>
                <a:latin typeface="Arial"/>
                <a:ea typeface="Arial"/>
                <a:cs typeface="Arial"/>
              </a:rPr>
              <a:t>EXCLUDE · triệt tiêu</a:t>
            </a:r>
          </a:p>
        </p:txBody>
      </p:sp>
      <p:sp>
        <p:nvSpPr>
          <p:cNvPr id="21" name="branch 2 body">
            <a:extLst xmlns:a="http://schemas.openxmlformats.org/drawingml/2006/main">
              <a:ext uri="{FF2B5EF4-FFF2-40B4-BE49-F238E27FC236}">
                <a16:creationId xmlns:a16="http://schemas.microsoft.com/office/drawing/2014/main" id="{178038B2-5CA4-4EBE-AF00-88575D937B9A}"/>
              </a:ext>
            </a:extLst>
          </p:cNvPr>
          <p:cNvSpPr>
            <a:spLocks xmlns:a="http://schemas.openxmlformats.org/drawingml/2006/main" noGrp="1"/>
          </p:cNvSpPr>
          <p:nvPr/>
        </p:nvSpPr>
        <p:spPr>
          <a:xfrm xmlns:a="http://schemas.openxmlformats.org/drawingml/2006/main">
            <a:off x="3638550" y="4191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Hạn chế dấu vết lab, rò rỉ phân vùng, định danh nhạy cảm. Hỏi: probe có học đường tắt hay tái nhận dạng?</a:t>
            </a:r>
          </a:p>
        </p:txBody>
      </p:sp>
      <p:sp>
        <p:nvSpPr>
          <p:cNvPr id="22" name="branch 3 accent">
            <a:extLst xmlns:a="http://schemas.openxmlformats.org/drawingml/2006/main">
              <a:ext uri="{FF2B5EF4-FFF2-40B4-BE49-F238E27FC236}">
                <a16:creationId xmlns:a16="http://schemas.microsoft.com/office/drawing/2014/main" id="{D80DA98D-2863-4791-BE5D-3AEC50C92269}"/>
              </a:ext>
            </a:extLst>
          </p:cNvPr>
          <p:cNvSpPr>
            <a:spLocks xmlns:a="http://schemas.openxmlformats.org/drawingml/2006/main" noGrp="1"/>
          </p:cNvSpPr>
          <p:nvPr/>
        </p:nvSpPr>
        <p:spPr>
          <a:xfrm xmlns:a="http://schemas.openxmlformats.org/drawingml/2006/main">
            <a:off x="7715250" y="3733800"/>
            <a:ext cx="47625" cy="2095500"/>
          </a:xfrm>
          <a:prstGeom xmlns:a="http://schemas.openxmlformats.org/drawingml/2006/main" prst="rect">
            <a:avLst/>
          </a:prstGeom>
          <a:solidFill xmlns:a="http://schemas.openxmlformats.org/drawingml/2006/main">
            <a:srgbClr val="A84F4B"/>
          </a:solidFill>
          <a:ln xmlns:a="http://schemas.openxmlformats.org/drawingml/2006/main" w="0">
            <a:noFill/>
            <a:prstDash val="solid"/>
          </a:ln>
        </p:spPr>
      </p:sp>
      <p:sp>
        <p:nvSpPr>
          <p:cNvPr id="23" name="branch 3 headrule">
            <a:extLst xmlns:a="http://schemas.openxmlformats.org/drawingml/2006/main">
              <a:ext uri="{FF2B5EF4-FFF2-40B4-BE49-F238E27FC236}">
                <a16:creationId xmlns:a16="http://schemas.microsoft.com/office/drawing/2014/main" id="{3EACF441-A2A5-4EC6-8EBD-73845D64E5A6}"/>
              </a:ext>
            </a:extLst>
          </p:cNvPr>
          <p:cNvSpPr>
            <a:spLocks xmlns:a="http://schemas.openxmlformats.org/drawingml/2006/main" noGrp="1"/>
          </p:cNvSpPr>
          <p:nvPr/>
        </p:nvSpPr>
        <p:spPr>
          <a:xfrm xmlns:a="http://schemas.openxmlformats.org/drawingml/2006/main">
            <a:off x="7867650" y="4095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4" name="branch 3 title">
            <a:extLst xmlns:a="http://schemas.openxmlformats.org/drawingml/2006/main">
              <a:ext uri="{FF2B5EF4-FFF2-40B4-BE49-F238E27FC236}">
                <a16:creationId xmlns:a16="http://schemas.microsoft.com/office/drawing/2014/main" id="{90D9DC20-1E7A-48E2-B8C1-7A14B9D55D6E}"/>
              </a:ext>
            </a:extLst>
          </p:cNvPr>
          <p:cNvSpPr>
            <a:spLocks xmlns:a="http://schemas.openxmlformats.org/drawingml/2006/main" noGrp="1"/>
          </p:cNvSpPr>
          <p:nvPr/>
        </p:nvSpPr>
        <p:spPr>
          <a:xfrm xmlns:a="http://schemas.openxmlformats.org/drawingml/2006/main">
            <a:off x="7877175" y="3752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84F4B"/>
                </a:solidFill>
                <a:latin typeface="Arial"/>
                <a:ea typeface="Arial"/>
                <a:cs typeface="Arial"/>
              </a:defRPr>
            </a:pPr>
            <a:r>
              <a:rPr sz="1725" b="1">
                <a:solidFill>
                  <a:srgbClr val="A84F4B"/>
                </a:solidFill>
                <a:latin typeface="Arial"/>
                <a:ea typeface="Arial"/>
                <a:cs typeface="Arial"/>
              </a:rPr>
              <a:t>Tầng kiểm chứng</a:t>
            </a:r>
          </a:p>
        </p:txBody>
      </p:sp>
      <p:sp>
        <p:nvSpPr>
          <p:cNvPr id="25" name="branch 3 body">
            <a:extLst xmlns:a="http://schemas.openxmlformats.org/drawingml/2006/main">
              <a:ext uri="{FF2B5EF4-FFF2-40B4-BE49-F238E27FC236}">
                <a16:creationId xmlns:a16="http://schemas.microsoft.com/office/drawing/2014/main" id="{048905C6-DFA6-4AE7-99E6-7E166850C33D}"/>
              </a:ext>
            </a:extLst>
          </p:cNvPr>
          <p:cNvSpPr>
            <a:spLocks xmlns:a="http://schemas.openxmlformats.org/drawingml/2006/main" noGrp="1"/>
          </p:cNvSpPr>
          <p:nvPr/>
        </p:nvSpPr>
        <p:spPr>
          <a:xfrm xmlns:a="http://schemas.openxmlformats.org/drawingml/2006/main">
            <a:off x="7877175" y="4191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Khóa bộ trích xuất; probe tuyến tính chỉ đo tín hiệu phân tách tuyến tính. H1 cần mục tiêu cùng cấp token, không thể suy từ AP phiên.</a:t>
            </a:r>
          </a:p>
        </p:txBody>
      </p:sp>
      <p:sp>
        <p:nvSpPr>
          <p:cNvPr id="26" name="upper bar">
            <a:extLst xmlns:a="http://schemas.openxmlformats.org/drawingml/2006/main">
              <a:ext uri="{FF2B5EF4-FFF2-40B4-BE49-F238E27FC236}">
                <a16:creationId xmlns:a16="http://schemas.microsoft.com/office/drawing/2014/main" id="{D28C84D1-D4BE-48FB-A7E6-DE4FD5F49126}"/>
              </a:ext>
            </a:extLst>
          </p:cNvPr>
          <p:cNvSpPr>
            <a:spLocks xmlns:a="http://schemas.openxmlformats.org/drawingml/2006/main" noGrp="1"/>
          </p:cNvSpPr>
          <p:nvPr/>
        </p:nvSpPr>
        <p:spPr>
          <a:xfrm xmlns:a="http://schemas.openxmlformats.org/drawingml/2006/main">
            <a:off x="3086100" y="248602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7" name="upper dot">
            <a:extLst xmlns:a="http://schemas.openxmlformats.org/drawingml/2006/main">
              <a:ext uri="{FF2B5EF4-FFF2-40B4-BE49-F238E27FC236}">
                <a16:creationId xmlns:a16="http://schemas.microsoft.com/office/drawing/2014/main" id="{E2D39B15-5D0F-47E5-8384-CE9DA7826B84}"/>
              </a:ext>
            </a:extLst>
          </p:cNvPr>
          <p:cNvSpPr>
            <a:spLocks xmlns:a="http://schemas.openxmlformats.org/drawingml/2006/main" noGrp="1"/>
          </p:cNvSpPr>
          <p:nvPr/>
        </p:nvSpPr>
        <p:spPr>
          <a:xfrm xmlns:a="http://schemas.openxmlformats.org/drawingml/2006/main">
            <a:off x="3343275" y="245745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8" name="lower bar">
            <a:extLst xmlns:a="http://schemas.openxmlformats.org/drawingml/2006/main">
              <a:ext uri="{FF2B5EF4-FFF2-40B4-BE49-F238E27FC236}">
                <a16:creationId xmlns:a16="http://schemas.microsoft.com/office/drawing/2014/main" id="{C03D17FB-91EE-4330-A0F3-E4CB78D91D3C}"/>
              </a:ext>
            </a:extLst>
          </p:cNvPr>
          <p:cNvSpPr>
            <a:spLocks xmlns:a="http://schemas.openxmlformats.org/drawingml/2006/main" noGrp="1"/>
          </p:cNvSpPr>
          <p:nvPr/>
        </p:nvSpPr>
        <p:spPr>
          <a:xfrm xmlns:a="http://schemas.openxmlformats.org/drawingml/2006/main">
            <a:off x="3086100" y="456247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9" name="lower dot">
            <a:extLst xmlns:a="http://schemas.openxmlformats.org/drawingml/2006/main">
              <a:ext uri="{FF2B5EF4-FFF2-40B4-BE49-F238E27FC236}">
                <a16:creationId xmlns:a16="http://schemas.microsoft.com/office/drawing/2014/main" id="{3A8577AA-1A5D-4AA7-A7A5-1F273726351A}"/>
              </a:ext>
            </a:extLst>
          </p:cNvPr>
          <p:cNvSpPr>
            <a:spLocks xmlns:a="http://schemas.openxmlformats.org/drawingml/2006/main" noGrp="1"/>
          </p:cNvSpPr>
          <p:nvPr/>
        </p:nvSpPr>
        <p:spPr>
          <a:xfrm xmlns:a="http://schemas.openxmlformats.org/drawingml/2006/main">
            <a:off x="3343275" y="453390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30" name="takeaway">
            <a:extLst xmlns:a="http://schemas.openxmlformats.org/drawingml/2006/main">
              <a:ext uri="{FF2B5EF4-FFF2-40B4-BE49-F238E27FC236}">
                <a16:creationId xmlns:a16="http://schemas.microsoft.com/office/drawing/2014/main" id="{5F76CCE2-700B-448C-861D-C98E15EAB7FF}"/>
              </a:ext>
            </a:extLst>
          </p:cNvPr>
          <p:cNvSpPr>
            <a:spLocks xmlns:a="http://schemas.openxmlformats.org/drawingml/2006/main" noGrp="1"/>
          </p:cNvSpPr>
          <p:nvPr/>
        </p:nvSpPr>
        <p:spPr>
          <a:xfrm xmlns:a="http://schemas.openxmlformats.org/drawingml/2006/main">
            <a:off x="514350" y="60579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A84F4B"/>
                </a:solidFill>
                <a:latin typeface="Arial"/>
                <a:ea typeface="Arial"/>
                <a:cs typeface="Arial"/>
              </a:defRPr>
            </a:pPr>
            <a:r>
              <a:rPr sz="1350" b="1">
                <a:solidFill>
                  <a:srgbClr val="A84F4B"/>
                </a:solidFill>
                <a:latin typeface="Arial"/>
                <a:ea typeface="Arial"/>
                <a:cs typeface="Arial"/>
              </a:rPr>
              <a:t>Ranh giới: Hợp đồng là đặc tả phương pháp luận; từng điều kiện còn cần phép đo thích hợp.</a:t>
            </a:r>
          </a:p>
        </p:txBody>
      </p:sp>
    </p:spTree>
    <p:extLst>
      <p:ext uri="{BB962C8B-B14F-4D97-AF65-F5344CB8AC3E}">
        <p14:creationId xmlns:p14="http://schemas.microsoft.com/office/powerpoint/2010/main" val="646522061"/>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31" name="title">
            <a:extLst xmlns:a="http://schemas.openxmlformats.org/drawingml/2006/main">
              <a:ext uri="{FF2B5EF4-FFF2-40B4-BE49-F238E27FC236}">
                <a16:creationId xmlns:a16="http://schemas.microsoft.com/office/drawing/2014/main" id="{83387117-C0B2-4A29-9F1A-75721F01FD9B}"/>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Hai góc nhìn, một biểu diễn</a:t>
            </a:r>
          </a:p>
        </p:txBody>
      </p:sp>
      <p:sp>
        <p:nvSpPr>
          <p:cNvPr id="2" name="subtitle">
            <a:extLst xmlns:a="http://schemas.openxmlformats.org/drawingml/2006/main">
              <a:ext uri="{FF2B5EF4-FFF2-40B4-BE49-F238E27FC236}">
                <a16:creationId xmlns:a16="http://schemas.microsoft.com/office/drawing/2014/main" id="{9032E625-022F-4B46-86A2-D27E3C4EC107}"/>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Kiến trúc nêu cách tạo vector; thực nghiệm phải kiểm tra liệu ghép hai nhánh có thật sự giúp</a:t>
            </a:r>
          </a:p>
        </p:txBody>
      </p:sp>
      <p:sp>
        <p:nvSpPr>
          <p:cNvPr id="3" name="top line">
            <a:extLst xmlns:a="http://schemas.openxmlformats.org/drawingml/2006/main">
              <a:ext uri="{FF2B5EF4-FFF2-40B4-BE49-F238E27FC236}">
                <a16:creationId xmlns:a16="http://schemas.microsoft.com/office/drawing/2014/main" id="{A9B914F4-0D00-4D77-8962-96AC797BF078}"/>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299429E8-1A9A-4082-9831-B387A2EA66E6}"/>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2.1–2.4; Hình 2.1; Mục 3.3.2</a:t>
            </a:r>
          </a:p>
        </p:txBody>
      </p:sp>
      <p:sp>
        <p:nvSpPr>
          <p:cNvPr id="5" name="number">
            <a:extLst xmlns:a="http://schemas.openxmlformats.org/drawingml/2006/main">
              <a:ext uri="{FF2B5EF4-FFF2-40B4-BE49-F238E27FC236}">
                <a16:creationId xmlns:a16="http://schemas.microsoft.com/office/drawing/2014/main" id="{743F2CB1-8F1A-43AC-B845-24533829943B}"/>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04 / 10</a:t>
            </a:r>
          </a:p>
        </p:txBody>
      </p:sp>
      <p:sp>
        <p:nvSpPr>
          <p:cNvPr id="6" name="central node">
            <a:extLst xmlns:a="http://schemas.openxmlformats.org/drawingml/2006/main">
              <a:ext uri="{FF2B5EF4-FFF2-40B4-BE49-F238E27FC236}">
                <a16:creationId xmlns:a16="http://schemas.microsoft.com/office/drawing/2014/main" id="{3C68FB6C-BFDF-45F4-A078-AFEC58C3154F}"/>
              </a:ext>
            </a:extLst>
          </p:cNvPr>
          <p:cNvSpPr>
            <a:spLocks xmlns:a="http://schemas.openxmlformats.org/drawingml/2006/main" noGrp="1"/>
          </p:cNvSpPr>
          <p:nvPr/>
        </p:nvSpPr>
        <p:spPr>
          <a:xfrm xmlns:a="http://schemas.openxmlformats.org/drawingml/2006/main">
            <a:off x="514350" y="1819275"/>
            <a:ext cx="2571750" cy="3943350"/>
          </a:xfrm>
          <a:prstGeom xmlns:a="http://schemas.openxmlformats.org/drawingml/2006/main" prst="roundRect">
            <a:avLst>
              <a:gd name="adj" fmla="val 2963"/>
            </a:avLst>
          </a:prstGeom>
          <a:solidFill xmlns:a="http://schemas.openxmlformats.org/drawingml/2006/main">
            <a:srgbClr val="E7F0F5"/>
          </a:solidFill>
          <a:ln xmlns:a="http://schemas.openxmlformats.org/drawingml/2006/main" w="9525">
            <a:solidFill>
              <a:srgbClr val="2B658B"/>
            </a:solidFill>
            <a:prstDash val="solid"/>
          </a:ln>
        </p:spPr>
      </p:sp>
      <p:sp>
        <p:nvSpPr>
          <p:cNvPr id="7" name="central head">
            <a:extLst xmlns:a="http://schemas.openxmlformats.org/drawingml/2006/main">
              <a:ext uri="{FF2B5EF4-FFF2-40B4-BE49-F238E27FC236}">
                <a16:creationId xmlns:a16="http://schemas.microsoft.com/office/drawing/2014/main" id="{1174F79E-B383-4ED7-9431-2F3EE5680673}"/>
              </a:ext>
            </a:extLst>
          </p:cNvPr>
          <p:cNvSpPr>
            <a:spLocks xmlns:a="http://schemas.openxmlformats.org/drawingml/2006/main" noGrp="1"/>
          </p:cNvSpPr>
          <p:nvPr/>
        </p:nvSpPr>
        <p:spPr>
          <a:xfrm xmlns:a="http://schemas.openxmlformats.org/drawingml/2006/main">
            <a:off x="685800" y="2047875"/>
            <a:ext cx="22383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B658B"/>
                </a:solidFill>
                <a:latin typeface="Arial"/>
                <a:ea typeface="Arial"/>
                <a:cs typeface="Arial"/>
              </a:defRPr>
            </a:pPr>
            <a:r>
              <a:rPr sz="2100" b="1">
                <a:solidFill>
                  <a:srgbClr val="2B658B"/>
                </a:solidFill>
                <a:latin typeface="Arial"/>
                <a:ea typeface="Arial"/>
                <a:cs typeface="Arial"/>
              </a:rPr>
              <a:t>LOG CHUẨN HÓA</a:t>
            </a:r>
          </a:p>
        </p:txBody>
      </p:sp>
      <p:sp>
        <p:nvSpPr>
          <p:cNvPr id="8" name="central rule">
            <a:extLst xmlns:a="http://schemas.openxmlformats.org/drawingml/2006/main">
              <a:ext uri="{FF2B5EF4-FFF2-40B4-BE49-F238E27FC236}">
                <a16:creationId xmlns:a16="http://schemas.microsoft.com/office/drawing/2014/main" id="{9346748A-6FAE-4E16-8BC0-170CEAD77025}"/>
              </a:ext>
            </a:extLst>
          </p:cNvPr>
          <p:cNvSpPr>
            <a:spLocks xmlns:a="http://schemas.openxmlformats.org/drawingml/2006/main" noGrp="1"/>
          </p:cNvSpPr>
          <p:nvPr/>
        </p:nvSpPr>
        <p:spPr>
          <a:xfrm xmlns:a="http://schemas.openxmlformats.org/drawingml/2006/main">
            <a:off x="685800" y="2981325"/>
            <a:ext cx="21526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central body">
            <a:extLst xmlns:a="http://schemas.openxmlformats.org/drawingml/2006/main">
              <a:ext uri="{FF2B5EF4-FFF2-40B4-BE49-F238E27FC236}">
                <a16:creationId xmlns:a16="http://schemas.microsoft.com/office/drawing/2014/main" id="{BEB10607-9593-4D6A-A6A7-D0BFCC0FB39D}"/>
              </a:ext>
            </a:extLst>
          </p:cNvPr>
          <p:cNvSpPr>
            <a:spLocks xmlns:a="http://schemas.openxmlformats.org/drawingml/2006/main" noGrp="1"/>
          </p:cNvSpPr>
          <p:nvPr/>
        </p:nvSpPr>
        <p:spPr>
          <a:xfrm xmlns:a="http://schemas.openxmlformats.org/drawingml/2006/main">
            <a:off x="685800" y="3143250"/>
            <a:ext cx="221932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Đầu vào có thời gian, tác nhân, đối tượng, hành động, tham số. Nhánh chuỗi và đồ thị học những quan hệ khác nhau rồi đưa vào không gian biểu diễn chung.</a:t>
            </a:r>
          </a:p>
        </p:txBody>
      </p:sp>
      <p:sp>
        <p:nvSpPr>
          <p:cNvPr id="10" name="branch 0 accent">
            <a:extLst xmlns:a="http://schemas.openxmlformats.org/drawingml/2006/main">
              <a:ext uri="{FF2B5EF4-FFF2-40B4-BE49-F238E27FC236}">
                <a16:creationId xmlns:a16="http://schemas.microsoft.com/office/drawing/2014/main" id="{443957B9-E9D7-4360-A096-B3D08B284B5E}"/>
              </a:ext>
            </a:extLst>
          </p:cNvPr>
          <p:cNvSpPr>
            <a:spLocks xmlns:a="http://schemas.openxmlformats.org/drawingml/2006/main" noGrp="1"/>
          </p:cNvSpPr>
          <p:nvPr/>
        </p:nvSpPr>
        <p:spPr>
          <a:xfrm xmlns:a="http://schemas.openxmlformats.org/drawingml/2006/main">
            <a:off x="3476625" y="1447800"/>
            <a:ext cx="47625" cy="20955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1" name="branch 0 headrule">
            <a:extLst xmlns:a="http://schemas.openxmlformats.org/drawingml/2006/main">
              <a:ext uri="{FF2B5EF4-FFF2-40B4-BE49-F238E27FC236}">
                <a16:creationId xmlns:a16="http://schemas.microsoft.com/office/drawing/2014/main" id="{E313C1D9-D15D-4EFE-8B7C-E0BDE2B0EAD7}"/>
              </a:ext>
            </a:extLst>
          </p:cNvPr>
          <p:cNvSpPr>
            <a:spLocks xmlns:a="http://schemas.openxmlformats.org/drawingml/2006/main" noGrp="1"/>
          </p:cNvSpPr>
          <p:nvPr/>
        </p:nvSpPr>
        <p:spPr>
          <a:xfrm xmlns:a="http://schemas.openxmlformats.org/drawingml/2006/main">
            <a:off x="3629025" y="1809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2" name="branch 0 title">
            <a:extLst xmlns:a="http://schemas.openxmlformats.org/drawingml/2006/main">
              <a:ext uri="{FF2B5EF4-FFF2-40B4-BE49-F238E27FC236}">
                <a16:creationId xmlns:a16="http://schemas.microsoft.com/office/drawing/2014/main" id="{A9DF1266-B678-4D18-9FD7-D0857207DDFD}"/>
              </a:ext>
            </a:extLst>
          </p:cNvPr>
          <p:cNvSpPr>
            <a:spLocks xmlns:a="http://schemas.openxmlformats.org/drawingml/2006/main" noGrp="1"/>
          </p:cNvSpPr>
          <p:nvPr/>
        </p:nvSpPr>
        <p:spPr>
          <a:xfrm xmlns:a="http://schemas.openxmlformats.org/drawingml/2006/main">
            <a:off x="3638550" y="1466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B658B"/>
                </a:solidFill>
                <a:latin typeface="Arial"/>
                <a:ea typeface="Arial"/>
                <a:cs typeface="Arial"/>
              </a:defRPr>
            </a:pPr>
            <a:r>
              <a:rPr sz="1725" b="1">
                <a:solidFill>
                  <a:srgbClr val="2B658B"/>
                </a:solidFill>
                <a:latin typeface="Arial"/>
                <a:ea typeface="Arial"/>
                <a:cs typeface="Arial"/>
              </a:rPr>
              <a:t>Sequence View</a:t>
            </a:r>
          </a:p>
        </p:txBody>
      </p:sp>
      <p:sp>
        <p:nvSpPr>
          <p:cNvPr id="13" name="branch 0 body">
            <a:extLst xmlns:a="http://schemas.openxmlformats.org/drawingml/2006/main">
              <a:ext uri="{FF2B5EF4-FFF2-40B4-BE49-F238E27FC236}">
                <a16:creationId xmlns:a16="http://schemas.microsoft.com/office/drawing/2014/main" id="{095FF191-AB94-460F-BEAB-101F73423DC9}"/>
              </a:ext>
            </a:extLst>
          </p:cNvPr>
          <p:cNvSpPr>
            <a:spLocks xmlns:a="http://schemas.openxmlformats.org/drawingml/2006/main" noGrp="1"/>
          </p:cNvSpPr>
          <p:nvPr/>
        </p:nvSpPr>
        <p:spPr>
          <a:xfrm xmlns:a="http://schemas.openxmlformats.org/drawingml/2006/main">
            <a:off x="3638550" y="1905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Transformer giữ thứ tự, ngữ cảnh và tham số động trong chuỗi sự kiện. Đầu ra gộp dùng cho đánh giá cấp phiên.</a:t>
            </a:r>
          </a:p>
        </p:txBody>
      </p:sp>
      <p:sp>
        <p:nvSpPr>
          <p:cNvPr id="14" name="branch 1 accent">
            <a:extLst xmlns:a="http://schemas.openxmlformats.org/drawingml/2006/main">
              <a:ext uri="{FF2B5EF4-FFF2-40B4-BE49-F238E27FC236}">
                <a16:creationId xmlns:a16="http://schemas.microsoft.com/office/drawing/2014/main" id="{58D5C290-4814-4483-9BFE-BE887592F6D3}"/>
              </a:ext>
            </a:extLst>
          </p:cNvPr>
          <p:cNvSpPr>
            <a:spLocks xmlns:a="http://schemas.openxmlformats.org/drawingml/2006/main" noGrp="1"/>
          </p:cNvSpPr>
          <p:nvPr/>
        </p:nvSpPr>
        <p:spPr>
          <a:xfrm xmlns:a="http://schemas.openxmlformats.org/drawingml/2006/main">
            <a:off x="7715250" y="1447800"/>
            <a:ext cx="47625" cy="2095500"/>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5" name="branch 1 headrule">
            <a:extLst xmlns:a="http://schemas.openxmlformats.org/drawingml/2006/main">
              <a:ext uri="{FF2B5EF4-FFF2-40B4-BE49-F238E27FC236}">
                <a16:creationId xmlns:a16="http://schemas.microsoft.com/office/drawing/2014/main" id="{07B2DBB2-1CC4-4638-8185-F483CD780A07}"/>
              </a:ext>
            </a:extLst>
          </p:cNvPr>
          <p:cNvSpPr>
            <a:spLocks xmlns:a="http://schemas.openxmlformats.org/drawingml/2006/main" noGrp="1"/>
          </p:cNvSpPr>
          <p:nvPr/>
        </p:nvSpPr>
        <p:spPr>
          <a:xfrm xmlns:a="http://schemas.openxmlformats.org/drawingml/2006/main">
            <a:off x="7867650" y="1809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6" name="branch 1 title">
            <a:extLst xmlns:a="http://schemas.openxmlformats.org/drawingml/2006/main">
              <a:ext uri="{FF2B5EF4-FFF2-40B4-BE49-F238E27FC236}">
                <a16:creationId xmlns:a16="http://schemas.microsoft.com/office/drawing/2014/main" id="{089EE809-9E6B-47CC-BE68-81A99639F6CA}"/>
              </a:ext>
            </a:extLst>
          </p:cNvPr>
          <p:cNvSpPr>
            <a:spLocks xmlns:a="http://schemas.openxmlformats.org/drawingml/2006/main" noGrp="1"/>
          </p:cNvSpPr>
          <p:nvPr/>
        </p:nvSpPr>
        <p:spPr>
          <a:xfrm xmlns:a="http://schemas.openxmlformats.org/drawingml/2006/main">
            <a:off x="7877175" y="1466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D746D"/>
                </a:solidFill>
                <a:latin typeface="Arial"/>
                <a:ea typeface="Arial"/>
                <a:cs typeface="Arial"/>
              </a:defRPr>
            </a:pPr>
            <a:r>
              <a:rPr sz="1725" b="1">
                <a:solidFill>
                  <a:srgbClr val="2D746D"/>
                </a:solidFill>
                <a:latin typeface="Arial"/>
                <a:ea typeface="Arial"/>
                <a:cs typeface="Arial"/>
              </a:rPr>
              <a:t>Graph View</a:t>
            </a:r>
          </a:p>
        </p:txBody>
      </p:sp>
      <p:sp>
        <p:nvSpPr>
          <p:cNvPr id="17" name="branch 1 body">
            <a:extLst xmlns:a="http://schemas.openxmlformats.org/drawingml/2006/main">
              <a:ext uri="{FF2B5EF4-FFF2-40B4-BE49-F238E27FC236}">
                <a16:creationId xmlns:a16="http://schemas.microsoft.com/office/drawing/2014/main" id="{07C5A745-301F-4AFF-828A-7807BCF667FD}"/>
              </a:ext>
            </a:extLst>
          </p:cNvPr>
          <p:cNvSpPr>
            <a:spLocks xmlns:a="http://schemas.openxmlformats.org/drawingml/2006/main" noGrp="1"/>
          </p:cNvSpPr>
          <p:nvPr/>
        </p:nvSpPr>
        <p:spPr>
          <a:xfrm xmlns:a="http://schemas.openxmlformats.org/drawingml/2006/main">
            <a:off x="7877175" y="1905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Temporal GNN cập nhật thông điệp và trạng thái theo tương tác thực thể. Thiết kế nhắm tới phụ thuộc theo thời gian.</a:t>
            </a:r>
          </a:p>
        </p:txBody>
      </p:sp>
      <p:sp>
        <p:nvSpPr>
          <p:cNvPr id="18" name="branch 2 accent">
            <a:extLst xmlns:a="http://schemas.openxmlformats.org/drawingml/2006/main">
              <a:ext uri="{FF2B5EF4-FFF2-40B4-BE49-F238E27FC236}">
                <a16:creationId xmlns:a16="http://schemas.microsoft.com/office/drawing/2014/main" id="{2D5F7A9E-3B48-404B-A591-4900807C7AC5}"/>
              </a:ext>
            </a:extLst>
          </p:cNvPr>
          <p:cNvSpPr>
            <a:spLocks xmlns:a="http://schemas.openxmlformats.org/drawingml/2006/main" noGrp="1"/>
          </p:cNvSpPr>
          <p:nvPr/>
        </p:nvSpPr>
        <p:spPr>
          <a:xfrm xmlns:a="http://schemas.openxmlformats.org/drawingml/2006/main">
            <a:off x="3476625" y="3733800"/>
            <a:ext cx="47625" cy="2095500"/>
          </a:xfrm>
          <a:prstGeom xmlns:a="http://schemas.openxmlformats.org/drawingml/2006/main" prst="rect">
            <a:avLst/>
          </a:prstGeom>
          <a:solidFill xmlns:a="http://schemas.openxmlformats.org/drawingml/2006/main">
            <a:srgbClr val="A3692D"/>
          </a:solidFill>
          <a:ln xmlns:a="http://schemas.openxmlformats.org/drawingml/2006/main" w="0">
            <a:noFill/>
            <a:prstDash val="solid"/>
          </a:ln>
        </p:spPr>
      </p:sp>
      <p:sp>
        <p:nvSpPr>
          <p:cNvPr id="19" name="branch 2 headrule">
            <a:extLst xmlns:a="http://schemas.openxmlformats.org/drawingml/2006/main">
              <a:ext uri="{FF2B5EF4-FFF2-40B4-BE49-F238E27FC236}">
                <a16:creationId xmlns:a16="http://schemas.microsoft.com/office/drawing/2014/main" id="{BF194B07-2F2A-416B-8299-8679C72D0508}"/>
              </a:ext>
            </a:extLst>
          </p:cNvPr>
          <p:cNvSpPr>
            <a:spLocks xmlns:a="http://schemas.openxmlformats.org/drawingml/2006/main" noGrp="1"/>
          </p:cNvSpPr>
          <p:nvPr/>
        </p:nvSpPr>
        <p:spPr>
          <a:xfrm xmlns:a="http://schemas.openxmlformats.org/drawingml/2006/main">
            <a:off x="3629025" y="4095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0" name="branch 2 title">
            <a:extLst xmlns:a="http://schemas.openxmlformats.org/drawingml/2006/main">
              <a:ext uri="{FF2B5EF4-FFF2-40B4-BE49-F238E27FC236}">
                <a16:creationId xmlns:a16="http://schemas.microsoft.com/office/drawing/2014/main" id="{0206AB67-83FA-46C0-A7DF-9D5A8D3AC9AF}"/>
              </a:ext>
            </a:extLst>
          </p:cNvPr>
          <p:cNvSpPr>
            <a:spLocks xmlns:a="http://schemas.openxmlformats.org/drawingml/2006/main" noGrp="1"/>
          </p:cNvSpPr>
          <p:nvPr/>
        </p:nvSpPr>
        <p:spPr>
          <a:xfrm xmlns:a="http://schemas.openxmlformats.org/drawingml/2006/main">
            <a:off x="3638550" y="3752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3692D"/>
                </a:solidFill>
                <a:latin typeface="Arial"/>
                <a:ea typeface="Arial"/>
                <a:cs typeface="Arial"/>
              </a:defRPr>
            </a:pPr>
            <a:r>
              <a:rPr sz="1725" b="1">
                <a:solidFill>
                  <a:srgbClr val="A3692D"/>
                </a:solidFill>
                <a:latin typeface="Arial"/>
                <a:ea typeface="Arial"/>
                <a:cs typeface="Arial"/>
              </a:rPr>
              <a:t>Gióng hàng / dung hợp</a:t>
            </a:r>
          </a:p>
        </p:txBody>
      </p:sp>
      <p:sp>
        <p:nvSpPr>
          <p:cNvPr id="21" name="branch 2 body">
            <a:extLst xmlns:a="http://schemas.openxmlformats.org/drawingml/2006/main">
              <a:ext uri="{FF2B5EF4-FFF2-40B4-BE49-F238E27FC236}">
                <a16:creationId xmlns:a16="http://schemas.microsoft.com/office/drawing/2014/main" id="{C08C3229-C308-4506-8918-DD7E5D71E7D3}"/>
              </a:ext>
            </a:extLst>
          </p:cNvPr>
          <p:cNvSpPr>
            <a:spLocks xmlns:a="http://schemas.openxmlformats.org/drawingml/2006/main" noGrp="1"/>
          </p:cNvSpPr>
          <p:nvPr/>
        </p:nvSpPr>
        <p:spPr>
          <a:xfrm xmlns:a="http://schemas.openxmlformats.org/drawingml/2006/main">
            <a:off x="3638550" y="4191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VICReg điều hòa không gian chiếu; cổng kết hợp hai vector. Ghép nhánh có thể bổ sung hoặc gây chuyển giao tiêu cực.</a:t>
            </a:r>
          </a:p>
        </p:txBody>
      </p:sp>
      <p:sp>
        <p:nvSpPr>
          <p:cNvPr id="22" name="branch 3 accent">
            <a:extLst xmlns:a="http://schemas.openxmlformats.org/drawingml/2006/main">
              <a:ext uri="{FF2B5EF4-FFF2-40B4-BE49-F238E27FC236}">
                <a16:creationId xmlns:a16="http://schemas.microsoft.com/office/drawing/2014/main" id="{2CE708BC-B001-4932-A740-0FE0A73C7BD6}"/>
              </a:ext>
            </a:extLst>
          </p:cNvPr>
          <p:cNvSpPr>
            <a:spLocks xmlns:a="http://schemas.openxmlformats.org/drawingml/2006/main" noGrp="1"/>
          </p:cNvSpPr>
          <p:nvPr/>
        </p:nvSpPr>
        <p:spPr>
          <a:xfrm xmlns:a="http://schemas.openxmlformats.org/drawingml/2006/main">
            <a:off x="7715250" y="3733800"/>
            <a:ext cx="47625" cy="2095500"/>
          </a:xfrm>
          <a:prstGeom xmlns:a="http://schemas.openxmlformats.org/drawingml/2006/main" prst="rect">
            <a:avLst/>
          </a:prstGeom>
          <a:solidFill xmlns:a="http://schemas.openxmlformats.org/drawingml/2006/main">
            <a:srgbClr val="A84F4B"/>
          </a:solidFill>
          <a:ln xmlns:a="http://schemas.openxmlformats.org/drawingml/2006/main" w="0">
            <a:noFill/>
            <a:prstDash val="solid"/>
          </a:ln>
        </p:spPr>
      </p:sp>
      <p:sp>
        <p:nvSpPr>
          <p:cNvPr id="23" name="branch 3 headrule">
            <a:extLst xmlns:a="http://schemas.openxmlformats.org/drawingml/2006/main">
              <a:ext uri="{FF2B5EF4-FFF2-40B4-BE49-F238E27FC236}">
                <a16:creationId xmlns:a16="http://schemas.microsoft.com/office/drawing/2014/main" id="{0DAC5319-4790-42BA-BAF0-28EAD253D636}"/>
              </a:ext>
            </a:extLst>
          </p:cNvPr>
          <p:cNvSpPr>
            <a:spLocks xmlns:a="http://schemas.openxmlformats.org/drawingml/2006/main" noGrp="1"/>
          </p:cNvSpPr>
          <p:nvPr/>
        </p:nvSpPr>
        <p:spPr>
          <a:xfrm xmlns:a="http://schemas.openxmlformats.org/drawingml/2006/main">
            <a:off x="7867650" y="4095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4" name="branch 3 title">
            <a:extLst xmlns:a="http://schemas.openxmlformats.org/drawingml/2006/main">
              <a:ext uri="{FF2B5EF4-FFF2-40B4-BE49-F238E27FC236}">
                <a16:creationId xmlns:a16="http://schemas.microsoft.com/office/drawing/2014/main" id="{201ECC68-B4C3-483C-905E-99110D75DB19}"/>
              </a:ext>
            </a:extLst>
          </p:cNvPr>
          <p:cNvSpPr>
            <a:spLocks xmlns:a="http://schemas.openxmlformats.org/drawingml/2006/main" noGrp="1"/>
          </p:cNvSpPr>
          <p:nvPr/>
        </p:nvSpPr>
        <p:spPr>
          <a:xfrm xmlns:a="http://schemas.openxmlformats.org/drawingml/2006/main">
            <a:off x="7877175" y="3752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84F4B"/>
                </a:solidFill>
                <a:latin typeface="Arial"/>
                <a:ea typeface="Arial"/>
                <a:cs typeface="Arial"/>
              </a:defRPr>
            </a:pPr>
            <a:r>
              <a:rPr sz="1725" b="1">
                <a:solidFill>
                  <a:srgbClr val="A84F4B"/>
                </a:solidFill>
                <a:latin typeface="Arial"/>
                <a:ea typeface="Arial"/>
                <a:cs typeface="Arial"/>
              </a:rPr>
              <a:t>Ba tầng đánh giá</a:t>
            </a:r>
          </a:p>
        </p:txBody>
      </p:sp>
      <p:sp>
        <p:nvSpPr>
          <p:cNvPr id="25" name="branch 3 body">
            <a:extLst xmlns:a="http://schemas.openxmlformats.org/drawingml/2006/main">
              <a:ext uri="{FF2B5EF4-FFF2-40B4-BE49-F238E27FC236}">
                <a16:creationId xmlns:a16="http://schemas.microsoft.com/office/drawing/2014/main" id="{788DC4B0-AC33-45D8-B4EF-892DC4A64E70}"/>
              </a:ext>
            </a:extLst>
          </p:cNvPr>
          <p:cNvSpPr>
            <a:spLocks xmlns:a="http://schemas.openxmlformats.org/drawingml/2006/main" noGrp="1"/>
          </p:cNvSpPr>
          <p:nvPr/>
        </p:nvSpPr>
        <p:spPr>
          <a:xfrm xmlns:a="http://schemas.openxmlformats.org/drawingml/2006/main">
            <a:off x="7877175" y="4191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A: tự giám sát; B: nhãn yếu tùy chọn, chưa huấn luyện; C: khóa backbone, đo probe. Dòng trực tuyến mới là thiết kế, chưa có đo trễ.</a:t>
            </a:r>
          </a:p>
        </p:txBody>
      </p:sp>
      <p:sp>
        <p:nvSpPr>
          <p:cNvPr id="26" name="upper bar">
            <a:extLst xmlns:a="http://schemas.openxmlformats.org/drawingml/2006/main">
              <a:ext uri="{FF2B5EF4-FFF2-40B4-BE49-F238E27FC236}">
                <a16:creationId xmlns:a16="http://schemas.microsoft.com/office/drawing/2014/main" id="{710999EE-A59E-4CA4-8CF6-EC894D0D03EC}"/>
              </a:ext>
            </a:extLst>
          </p:cNvPr>
          <p:cNvSpPr>
            <a:spLocks xmlns:a="http://schemas.openxmlformats.org/drawingml/2006/main" noGrp="1"/>
          </p:cNvSpPr>
          <p:nvPr/>
        </p:nvSpPr>
        <p:spPr>
          <a:xfrm xmlns:a="http://schemas.openxmlformats.org/drawingml/2006/main">
            <a:off x="3086100" y="248602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7" name="upper dot">
            <a:extLst xmlns:a="http://schemas.openxmlformats.org/drawingml/2006/main">
              <a:ext uri="{FF2B5EF4-FFF2-40B4-BE49-F238E27FC236}">
                <a16:creationId xmlns:a16="http://schemas.microsoft.com/office/drawing/2014/main" id="{159E8958-4167-46C3-BC4F-56281B40DB9F}"/>
              </a:ext>
            </a:extLst>
          </p:cNvPr>
          <p:cNvSpPr>
            <a:spLocks xmlns:a="http://schemas.openxmlformats.org/drawingml/2006/main" noGrp="1"/>
          </p:cNvSpPr>
          <p:nvPr/>
        </p:nvSpPr>
        <p:spPr>
          <a:xfrm xmlns:a="http://schemas.openxmlformats.org/drawingml/2006/main">
            <a:off x="3343275" y="245745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8" name="lower bar">
            <a:extLst xmlns:a="http://schemas.openxmlformats.org/drawingml/2006/main">
              <a:ext uri="{FF2B5EF4-FFF2-40B4-BE49-F238E27FC236}">
                <a16:creationId xmlns:a16="http://schemas.microsoft.com/office/drawing/2014/main" id="{5B877CF2-9906-43EF-9A7E-5D8F1C220A9B}"/>
              </a:ext>
            </a:extLst>
          </p:cNvPr>
          <p:cNvSpPr>
            <a:spLocks xmlns:a="http://schemas.openxmlformats.org/drawingml/2006/main" noGrp="1"/>
          </p:cNvSpPr>
          <p:nvPr/>
        </p:nvSpPr>
        <p:spPr>
          <a:xfrm xmlns:a="http://schemas.openxmlformats.org/drawingml/2006/main">
            <a:off x="3086100" y="456247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9" name="lower dot">
            <a:extLst xmlns:a="http://schemas.openxmlformats.org/drawingml/2006/main">
              <a:ext uri="{FF2B5EF4-FFF2-40B4-BE49-F238E27FC236}">
                <a16:creationId xmlns:a16="http://schemas.microsoft.com/office/drawing/2014/main" id="{E3B30C2B-2077-40D8-9BDE-D07B84349032}"/>
              </a:ext>
            </a:extLst>
          </p:cNvPr>
          <p:cNvSpPr>
            <a:spLocks xmlns:a="http://schemas.openxmlformats.org/drawingml/2006/main" noGrp="1"/>
          </p:cNvSpPr>
          <p:nvPr/>
        </p:nvSpPr>
        <p:spPr>
          <a:xfrm xmlns:a="http://schemas.openxmlformats.org/drawingml/2006/main">
            <a:off x="3343275" y="453390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30" name="takeaway">
            <a:extLst xmlns:a="http://schemas.openxmlformats.org/drawingml/2006/main">
              <a:ext uri="{FF2B5EF4-FFF2-40B4-BE49-F238E27FC236}">
                <a16:creationId xmlns:a16="http://schemas.microsoft.com/office/drawing/2014/main" id="{572A5FDC-A221-4B87-91B8-405445517896}"/>
              </a:ext>
            </a:extLst>
          </p:cNvPr>
          <p:cNvSpPr>
            <a:spLocks xmlns:a="http://schemas.openxmlformats.org/drawingml/2006/main" noGrp="1"/>
          </p:cNvSpPr>
          <p:nvPr/>
        </p:nvSpPr>
        <p:spPr>
          <a:xfrm xmlns:a="http://schemas.openxmlformats.org/drawingml/2006/main">
            <a:off x="514350" y="60579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A84F4B"/>
                </a:solidFill>
                <a:latin typeface="Arial"/>
                <a:ea typeface="Arial"/>
                <a:cs typeface="Arial"/>
              </a:defRPr>
            </a:pPr>
            <a:r>
              <a:rPr sz="1350" b="1">
                <a:solidFill>
                  <a:srgbClr val="A84F4B"/>
                </a:solidFill>
                <a:latin typeface="Arial"/>
                <a:ea typeface="Arial"/>
                <a:cs typeface="Arial"/>
              </a:rPr>
              <a:t>Điểm cần bảo vệ: khối nguyên thủy kế thừa; đóng góp là cách đặc tả, tích hợp và kiểm chứng.</a:t>
            </a:r>
          </a:p>
        </p:txBody>
      </p:sp>
    </p:spTree>
    <p:extLst>
      <p:ext uri="{BB962C8B-B14F-4D97-AF65-F5344CB8AC3E}">
        <p14:creationId xmlns:p14="http://schemas.microsoft.com/office/powerpoint/2010/main" val="1850377170"/>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31" name="title">
            <a:extLst xmlns:a="http://schemas.openxmlformats.org/drawingml/2006/main">
              <a:ext uri="{FF2B5EF4-FFF2-40B4-BE49-F238E27FC236}">
                <a16:creationId xmlns:a16="http://schemas.microsoft.com/office/drawing/2014/main" id="{1DE30798-C4D8-4071-BD75-7D8153A2E03B}"/>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HDFS: chia dữ liệu trước khi đo</a:t>
            </a:r>
          </a:p>
        </p:txBody>
      </p:sp>
      <p:sp>
        <p:nvSpPr>
          <p:cNvPr id="2" name="subtitle">
            <a:extLst xmlns:a="http://schemas.openxmlformats.org/drawingml/2006/main">
              <a:ext uri="{FF2B5EF4-FFF2-40B4-BE49-F238E27FC236}">
                <a16:creationId xmlns:a16="http://schemas.microsoft.com/office/drawing/2014/main" id="{EC2668D2-53EA-4248-B41F-D96C9C193DFF}"/>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Giao thức dữ liệu quyết định liệu AP có còn là một phép đánh giá đáng tin</a:t>
            </a:r>
          </a:p>
        </p:txBody>
      </p:sp>
      <p:sp>
        <p:nvSpPr>
          <p:cNvPr id="3" name="top line">
            <a:extLst xmlns:a="http://schemas.openxmlformats.org/drawingml/2006/main">
              <a:ext uri="{FF2B5EF4-FFF2-40B4-BE49-F238E27FC236}">
                <a16:creationId xmlns:a16="http://schemas.microsoft.com/office/drawing/2014/main" id="{E5B9834D-8E74-473A-BEDD-7223F5C3398E}"/>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24909971-5035-485E-A6D4-89C14711A69B}"/>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3.1.2, Bảng 3.2; manifest SPL-HDFS-001</a:t>
            </a:r>
          </a:p>
        </p:txBody>
      </p:sp>
      <p:sp>
        <p:nvSpPr>
          <p:cNvPr id="5" name="number">
            <a:extLst xmlns:a="http://schemas.openxmlformats.org/drawingml/2006/main">
              <a:ext uri="{FF2B5EF4-FFF2-40B4-BE49-F238E27FC236}">
                <a16:creationId xmlns:a16="http://schemas.microsoft.com/office/drawing/2014/main" id="{B8EAFC74-5A26-451B-8C59-5C5E65120665}"/>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05 / 10</a:t>
            </a:r>
          </a:p>
        </p:txBody>
      </p:sp>
      <p:sp>
        <p:nvSpPr>
          <p:cNvPr id="6" name="central node">
            <a:extLst xmlns:a="http://schemas.openxmlformats.org/drawingml/2006/main">
              <a:ext uri="{FF2B5EF4-FFF2-40B4-BE49-F238E27FC236}">
                <a16:creationId xmlns:a16="http://schemas.microsoft.com/office/drawing/2014/main" id="{FDBAE700-32DD-45C3-B322-FDE9942B93FA}"/>
              </a:ext>
            </a:extLst>
          </p:cNvPr>
          <p:cNvSpPr>
            <a:spLocks xmlns:a="http://schemas.openxmlformats.org/drawingml/2006/main" noGrp="1"/>
          </p:cNvSpPr>
          <p:nvPr/>
        </p:nvSpPr>
        <p:spPr>
          <a:xfrm xmlns:a="http://schemas.openxmlformats.org/drawingml/2006/main">
            <a:off x="514350" y="1819275"/>
            <a:ext cx="2571750" cy="3943350"/>
          </a:xfrm>
          <a:prstGeom xmlns:a="http://schemas.openxmlformats.org/drawingml/2006/main" prst="roundRect">
            <a:avLst>
              <a:gd name="adj" fmla="val 2963"/>
            </a:avLst>
          </a:prstGeom>
          <a:solidFill xmlns:a="http://schemas.openxmlformats.org/drawingml/2006/main">
            <a:srgbClr val="E7F0F5"/>
          </a:solidFill>
          <a:ln xmlns:a="http://schemas.openxmlformats.org/drawingml/2006/main" w="9525">
            <a:solidFill>
              <a:srgbClr val="2B658B"/>
            </a:solidFill>
            <a:prstDash val="solid"/>
          </a:ln>
        </p:spPr>
      </p:sp>
      <p:sp>
        <p:nvSpPr>
          <p:cNvPr id="7" name="central head">
            <a:extLst xmlns:a="http://schemas.openxmlformats.org/drawingml/2006/main">
              <a:ext uri="{FF2B5EF4-FFF2-40B4-BE49-F238E27FC236}">
                <a16:creationId xmlns:a16="http://schemas.microsoft.com/office/drawing/2014/main" id="{C6D097E7-6680-4BB5-B615-E1B5C57080A0}"/>
              </a:ext>
            </a:extLst>
          </p:cNvPr>
          <p:cNvSpPr>
            <a:spLocks xmlns:a="http://schemas.openxmlformats.org/drawingml/2006/main" noGrp="1"/>
          </p:cNvSpPr>
          <p:nvPr/>
        </p:nvSpPr>
        <p:spPr>
          <a:xfrm xmlns:a="http://schemas.openxmlformats.org/drawingml/2006/main">
            <a:off x="685800" y="2047875"/>
            <a:ext cx="22383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B658B"/>
                </a:solidFill>
                <a:latin typeface="Arial"/>
                <a:ea typeface="Arial"/>
                <a:cs typeface="Arial"/>
              </a:defRPr>
            </a:pPr>
            <a:r>
              <a:rPr sz="2100" b="1">
                <a:solidFill>
                  <a:srgbClr val="2B658B"/>
                </a:solidFill>
                <a:latin typeface="Arial"/>
                <a:ea typeface="Arial"/>
                <a:cs typeface="Arial"/>
              </a:rPr>
              <a:t>11,18 TRIỆU LOG</a:t>
            </a:r>
          </a:p>
        </p:txBody>
      </p:sp>
      <p:sp>
        <p:nvSpPr>
          <p:cNvPr id="8" name="central rule">
            <a:extLst xmlns:a="http://schemas.openxmlformats.org/drawingml/2006/main">
              <a:ext uri="{FF2B5EF4-FFF2-40B4-BE49-F238E27FC236}">
                <a16:creationId xmlns:a16="http://schemas.microsoft.com/office/drawing/2014/main" id="{5F4BA7FB-1061-4793-8545-AC18710AD03F}"/>
              </a:ext>
            </a:extLst>
          </p:cNvPr>
          <p:cNvSpPr>
            <a:spLocks xmlns:a="http://schemas.openxmlformats.org/drawingml/2006/main" noGrp="1"/>
          </p:cNvSpPr>
          <p:nvPr/>
        </p:nvSpPr>
        <p:spPr>
          <a:xfrm xmlns:a="http://schemas.openxmlformats.org/drawingml/2006/main">
            <a:off x="685800" y="2981325"/>
            <a:ext cx="21526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central body">
            <a:extLst xmlns:a="http://schemas.openxmlformats.org/drawingml/2006/main">
              <a:ext uri="{FF2B5EF4-FFF2-40B4-BE49-F238E27FC236}">
                <a16:creationId xmlns:a16="http://schemas.microsoft.com/office/drawing/2014/main" id="{0F9B8F07-5264-4CE7-B225-404BA91EF451}"/>
              </a:ext>
            </a:extLst>
          </p:cNvPr>
          <p:cNvSpPr>
            <a:spLocks xmlns:a="http://schemas.openxmlformats.org/drawingml/2006/main" noGrp="1"/>
          </p:cNvSpPr>
          <p:nvPr/>
        </p:nvSpPr>
        <p:spPr>
          <a:xfrm xmlns:a="http://schemas.openxmlformats.org/drawingml/2006/main">
            <a:off x="685800" y="3143250"/>
            <a:ext cx="221932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575.061 phiên khối trong toàn ngữ liệu. Chiến dịch chọn ngân sách Train/Validation theo trục thời gian; Test được giữ riêng.</a:t>
            </a:r>
          </a:p>
        </p:txBody>
      </p:sp>
      <p:sp>
        <p:nvSpPr>
          <p:cNvPr id="10" name="branch 0 accent">
            <a:extLst xmlns:a="http://schemas.openxmlformats.org/drawingml/2006/main">
              <a:ext uri="{FF2B5EF4-FFF2-40B4-BE49-F238E27FC236}">
                <a16:creationId xmlns:a16="http://schemas.microsoft.com/office/drawing/2014/main" id="{A93FEFCC-00F1-49B3-97D8-98D2B2B775E7}"/>
              </a:ext>
            </a:extLst>
          </p:cNvPr>
          <p:cNvSpPr>
            <a:spLocks xmlns:a="http://schemas.openxmlformats.org/drawingml/2006/main" noGrp="1"/>
          </p:cNvSpPr>
          <p:nvPr/>
        </p:nvSpPr>
        <p:spPr>
          <a:xfrm xmlns:a="http://schemas.openxmlformats.org/drawingml/2006/main">
            <a:off x="3476625" y="1447800"/>
            <a:ext cx="47625" cy="20955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1" name="branch 0 headrule">
            <a:extLst xmlns:a="http://schemas.openxmlformats.org/drawingml/2006/main">
              <a:ext uri="{FF2B5EF4-FFF2-40B4-BE49-F238E27FC236}">
                <a16:creationId xmlns:a16="http://schemas.microsoft.com/office/drawing/2014/main" id="{623CA5DA-3910-4071-97C1-1E4B2CCFAE31}"/>
              </a:ext>
            </a:extLst>
          </p:cNvPr>
          <p:cNvSpPr>
            <a:spLocks xmlns:a="http://schemas.openxmlformats.org/drawingml/2006/main" noGrp="1"/>
          </p:cNvSpPr>
          <p:nvPr/>
        </p:nvSpPr>
        <p:spPr>
          <a:xfrm xmlns:a="http://schemas.openxmlformats.org/drawingml/2006/main">
            <a:off x="3629025" y="1809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2" name="branch 0 title">
            <a:extLst xmlns:a="http://schemas.openxmlformats.org/drawingml/2006/main">
              <a:ext uri="{FF2B5EF4-FFF2-40B4-BE49-F238E27FC236}">
                <a16:creationId xmlns:a16="http://schemas.microsoft.com/office/drawing/2014/main" id="{1C04205C-F934-4FFA-A9C5-A1AF791F7305}"/>
              </a:ext>
            </a:extLst>
          </p:cNvPr>
          <p:cNvSpPr>
            <a:spLocks xmlns:a="http://schemas.openxmlformats.org/drawingml/2006/main" noGrp="1"/>
          </p:cNvSpPr>
          <p:nvPr/>
        </p:nvSpPr>
        <p:spPr>
          <a:xfrm xmlns:a="http://schemas.openxmlformats.org/drawingml/2006/main">
            <a:off x="3638550" y="1466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B658B"/>
                </a:solidFill>
                <a:latin typeface="Arial"/>
                <a:ea typeface="Arial"/>
                <a:cs typeface="Arial"/>
              </a:defRPr>
            </a:pPr>
            <a:r>
              <a:rPr sz="1725" b="1">
                <a:solidFill>
                  <a:srgbClr val="2B658B"/>
                </a:solidFill>
                <a:latin typeface="Arial"/>
                <a:ea typeface="Arial"/>
                <a:cs typeface="Arial"/>
              </a:rPr>
              <a:t>Train · thời điểm trước</a:t>
            </a:r>
          </a:p>
        </p:txBody>
      </p:sp>
      <p:sp>
        <p:nvSpPr>
          <p:cNvPr id="13" name="branch 0 body">
            <a:extLst xmlns:a="http://schemas.openxmlformats.org/drawingml/2006/main">
              <a:ext uri="{FF2B5EF4-FFF2-40B4-BE49-F238E27FC236}">
                <a16:creationId xmlns:a16="http://schemas.microsoft.com/office/drawing/2014/main" id="{BD932902-1D0E-4317-B64D-549F364BE08A}"/>
              </a:ext>
            </a:extLst>
          </p:cNvPr>
          <p:cNvSpPr>
            <a:spLocks xmlns:a="http://schemas.openxmlformats.org/drawingml/2006/main" noGrp="1"/>
          </p:cNvSpPr>
          <p:nvPr/>
        </p:nvSpPr>
        <p:spPr>
          <a:xfrm xmlns:a="http://schemas.openxmlformats.org/drawingml/2006/main">
            <a:off x="3638550" y="1905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35.000 phiên / 586.577 sự kiện / 2.292 cửa sổ W=256. Fit mô hình và đầu dò theo giao thức riêng.</a:t>
            </a:r>
          </a:p>
        </p:txBody>
      </p:sp>
      <p:sp>
        <p:nvSpPr>
          <p:cNvPr id="14" name="branch 1 accent">
            <a:extLst xmlns:a="http://schemas.openxmlformats.org/drawingml/2006/main">
              <a:ext uri="{FF2B5EF4-FFF2-40B4-BE49-F238E27FC236}">
                <a16:creationId xmlns:a16="http://schemas.microsoft.com/office/drawing/2014/main" id="{341A03D7-956C-477F-822F-F68216308920}"/>
              </a:ext>
            </a:extLst>
          </p:cNvPr>
          <p:cNvSpPr>
            <a:spLocks xmlns:a="http://schemas.openxmlformats.org/drawingml/2006/main" noGrp="1"/>
          </p:cNvSpPr>
          <p:nvPr/>
        </p:nvSpPr>
        <p:spPr>
          <a:xfrm xmlns:a="http://schemas.openxmlformats.org/drawingml/2006/main">
            <a:off x="7715250" y="1447800"/>
            <a:ext cx="47625" cy="2095500"/>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5" name="branch 1 headrule">
            <a:extLst xmlns:a="http://schemas.openxmlformats.org/drawingml/2006/main">
              <a:ext uri="{FF2B5EF4-FFF2-40B4-BE49-F238E27FC236}">
                <a16:creationId xmlns:a16="http://schemas.microsoft.com/office/drawing/2014/main" id="{1AF61472-8C61-4C6A-B2B2-613A6DAE5F36}"/>
              </a:ext>
            </a:extLst>
          </p:cNvPr>
          <p:cNvSpPr>
            <a:spLocks xmlns:a="http://schemas.openxmlformats.org/drawingml/2006/main" noGrp="1"/>
          </p:cNvSpPr>
          <p:nvPr/>
        </p:nvSpPr>
        <p:spPr>
          <a:xfrm xmlns:a="http://schemas.openxmlformats.org/drawingml/2006/main">
            <a:off x="7867650" y="1809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6" name="branch 1 title">
            <a:extLst xmlns:a="http://schemas.openxmlformats.org/drawingml/2006/main">
              <a:ext uri="{FF2B5EF4-FFF2-40B4-BE49-F238E27FC236}">
                <a16:creationId xmlns:a16="http://schemas.microsoft.com/office/drawing/2014/main" id="{09B9D175-CF2F-42BE-BB8E-A078F505BCF4}"/>
              </a:ext>
            </a:extLst>
          </p:cNvPr>
          <p:cNvSpPr>
            <a:spLocks xmlns:a="http://schemas.openxmlformats.org/drawingml/2006/main" noGrp="1"/>
          </p:cNvSpPr>
          <p:nvPr/>
        </p:nvSpPr>
        <p:spPr>
          <a:xfrm xmlns:a="http://schemas.openxmlformats.org/drawingml/2006/main">
            <a:off x="7877175" y="1466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D746D"/>
                </a:solidFill>
                <a:latin typeface="Arial"/>
                <a:ea typeface="Arial"/>
                <a:cs typeface="Arial"/>
              </a:defRPr>
            </a:pPr>
            <a:r>
              <a:rPr sz="1725" b="1">
                <a:solidFill>
                  <a:srgbClr val="2D746D"/>
                </a:solidFill>
                <a:latin typeface="Arial"/>
                <a:ea typeface="Arial"/>
                <a:cs typeface="Arial"/>
              </a:rPr>
              <a:t>Validation · thời điểm sau</a:t>
            </a:r>
          </a:p>
        </p:txBody>
      </p:sp>
      <p:sp>
        <p:nvSpPr>
          <p:cNvPr id="17" name="branch 1 body">
            <a:extLst xmlns:a="http://schemas.openxmlformats.org/drawingml/2006/main">
              <a:ext uri="{FF2B5EF4-FFF2-40B4-BE49-F238E27FC236}">
                <a16:creationId xmlns:a16="http://schemas.microsoft.com/office/drawing/2014/main" id="{811153C7-80B6-418C-88F4-86C470D062F9}"/>
              </a:ext>
            </a:extLst>
          </p:cNvPr>
          <p:cNvSpPr>
            <a:spLocks xmlns:a="http://schemas.openxmlformats.org/drawingml/2006/main" noGrp="1"/>
          </p:cNvSpPr>
          <p:nvPr/>
        </p:nvSpPr>
        <p:spPr>
          <a:xfrm xmlns:a="http://schemas.openxmlformats.org/drawingml/2006/main">
            <a:off x="7877175" y="1905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7.500 phiên / 119.531 sự kiện / 467 cửa sổ. Đo AP/ROC-AUC V3 trên phân vùng cố định.</a:t>
            </a:r>
          </a:p>
        </p:txBody>
      </p:sp>
      <p:sp>
        <p:nvSpPr>
          <p:cNvPr id="18" name="branch 2 accent">
            <a:extLst xmlns:a="http://schemas.openxmlformats.org/drawingml/2006/main">
              <a:ext uri="{FF2B5EF4-FFF2-40B4-BE49-F238E27FC236}">
                <a16:creationId xmlns:a16="http://schemas.microsoft.com/office/drawing/2014/main" id="{048A42BB-C0FE-4705-A9AE-9C20B7CA1202}"/>
              </a:ext>
            </a:extLst>
          </p:cNvPr>
          <p:cNvSpPr>
            <a:spLocks xmlns:a="http://schemas.openxmlformats.org/drawingml/2006/main" noGrp="1"/>
          </p:cNvSpPr>
          <p:nvPr/>
        </p:nvSpPr>
        <p:spPr>
          <a:xfrm xmlns:a="http://schemas.openxmlformats.org/drawingml/2006/main">
            <a:off x="3476625" y="3733800"/>
            <a:ext cx="47625" cy="2095500"/>
          </a:xfrm>
          <a:prstGeom xmlns:a="http://schemas.openxmlformats.org/drawingml/2006/main" prst="rect">
            <a:avLst/>
          </a:prstGeom>
          <a:solidFill xmlns:a="http://schemas.openxmlformats.org/drawingml/2006/main">
            <a:srgbClr val="A3692D"/>
          </a:solidFill>
          <a:ln xmlns:a="http://schemas.openxmlformats.org/drawingml/2006/main" w="0">
            <a:noFill/>
            <a:prstDash val="solid"/>
          </a:ln>
        </p:spPr>
      </p:sp>
      <p:sp>
        <p:nvSpPr>
          <p:cNvPr id="19" name="branch 2 headrule">
            <a:extLst xmlns:a="http://schemas.openxmlformats.org/drawingml/2006/main">
              <a:ext uri="{FF2B5EF4-FFF2-40B4-BE49-F238E27FC236}">
                <a16:creationId xmlns:a16="http://schemas.microsoft.com/office/drawing/2014/main" id="{9EC7A3E9-50AA-4BB9-B9CC-8359C883DCE8}"/>
              </a:ext>
            </a:extLst>
          </p:cNvPr>
          <p:cNvSpPr>
            <a:spLocks xmlns:a="http://schemas.openxmlformats.org/drawingml/2006/main" noGrp="1"/>
          </p:cNvSpPr>
          <p:nvPr/>
        </p:nvSpPr>
        <p:spPr>
          <a:xfrm xmlns:a="http://schemas.openxmlformats.org/drawingml/2006/main">
            <a:off x="3629025" y="4095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0" name="branch 2 title">
            <a:extLst xmlns:a="http://schemas.openxmlformats.org/drawingml/2006/main">
              <a:ext uri="{FF2B5EF4-FFF2-40B4-BE49-F238E27FC236}">
                <a16:creationId xmlns:a16="http://schemas.microsoft.com/office/drawing/2014/main" id="{A6CABEC1-E643-419D-82B5-742C2E0C4930}"/>
              </a:ext>
            </a:extLst>
          </p:cNvPr>
          <p:cNvSpPr>
            <a:spLocks xmlns:a="http://schemas.openxmlformats.org/drawingml/2006/main" noGrp="1"/>
          </p:cNvSpPr>
          <p:nvPr/>
        </p:nvSpPr>
        <p:spPr>
          <a:xfrm xmlns:a="http://schemas.openxmlformats.org/drawingml/2006/main">
            <a:off x="3638550" y="3752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3692D"/>
                </a:solidFill>
                <a:latin typeface="Arial"/>
                <a:ea typeface="Arial"/>
                <a:cs typeface="Arial"/>
              </a:defRPr>
            </a:pPr>
            <a:r>
              <a:rPr sz="1725" b="1">
                <a:solidFill>
                  <a:srgbClr val="A3692D"/>
                </a:solidFill>
                <a:latin typeface="Arial"/>
                <a:ea typeface="Arial"/>
                <a:cs typeface="Arial"/>
              </a:rPr>
              <a:t>Chống rò rỉ</a:t>
            </a:r>
          </a:p>
        </p:txBody>
      </p:sp>
      <p:sp>
        <p:nvSpPr>
          <p:cNvPr id="21" name="branch 2 body">
            <a:extLst xmlns:a="http://schemas.openxmlformats.org/drawingml/2006/main">
              <a:ext uri="{FF2B5EF4-FFF2-40B4-BE49-F238E27FC236}">
                <a16:creationId xmlns:a16="http://schemas.microsoft.com/office/drawing/2014/main" id="{3FADA158-3373-42DD-870D-951897E1929D}"/>
              </a:ext>
            </a:extLst>
          </p:cNvPr>
          <p:cNvSpPr>
            <a:spLocks xmlns:a="http://schemas.openxmlformats.org/drawingml/2006/main" noGrp="1"/>
          </p:cNvSpPr>
          <p:nvPr/>
        </p:nvSpPr>
        <p:spPr>
          <a:xfrm xmlns:a="http://schemas.openxmlformats.org/drawingml/2006/main">
            <a:off x="3638550" y="4191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Không chồng lấn phiên, loại phiên qua ranh giới, kiểm mã băm và bất biến thời gian; không xáo trộn trước khi chia.</a:t>
            </a:r>
          </a:p>
        </p:txBody>
      </p:sp>
      <p:sp>
        <p:nvSpPr>
          <p:cNvPr id="22" name="branch 3 accent">
            <a:extLst xmlns:a="http://schemas.openxmlformats.org/drawingml/2006/main">
              <a:ext uri="{FF2B5EF4-FFF2-40B4-BE49-F238E27FC236}">
                <a16:creationId xmlns:a16="http://schemas.microsoft.com/office/drawing/2014/main" id="{F160728F-D447-4362-9048-D841140B0567}"/>
              </a:ext>
            </a:extLst>
          </p:cNvPr>
          <p:cNvSpPr>
            <a:spLocks xmlns:a="http://schemas.openxmlformats.org/drawingml/2006/main" noGrp="1"/>
          </p:cNvSpPr>
          <p:nvPr/>
        </p:nvSpPr>
        <p:spPr>
          <a:xfrm xmlns:a="http://schemas.openxmlformats.org/drawingml/2006/main">
            <a:off x="7715250" y="3733800"/>
            <a:ext cx="47625" cy="2095500"/>
          </a:xfrm>
          <a:prstGeom xmlns:a="http://schemas.openxmlformats.org/drawingml/2006/main" prst="rect">
            <a:avLst/>
          </a:prstGeom>
          <a:solidFill xmlns:a="http://schemas.openxmlformats.org/drawingml/2006/main">
            <a:srgbClr val="A84F4B"/>
          </a:solidFill>
          <a:ln xmlns:a="http://schemas.openxmlformats.org/drawingml/2006/main" w="0">
            <a:noFill/>
            <a:prstDash val="solid"/>
          </a:ln>
        </p:spPr>
      </p:sp>
      <p:sp>
        <p:nvSpPr>
          <p:cNvPr id="23" name="branch 3 headrule">
            <a:extLst xmlns:a="http://schemas.openxmlformats.org/drawingml/2006/main">
              <a:ext uri="{FF2B5EF4-FFF2-40B4-BE49-F238E27FC236}">
                <a16:creationId xmlns:a16="http://schemas.microsoft.com/office/drawing/2014/main" id="{CC2947F5-D50B-42F0-8591-BF0FC90283E4}"/>
              </a:ext>
            </a:extLst>
          </p:cNvPr>
          <p:cNvSpPr>
            <a:spLocks xmlns:a="http://schemas.openxmlformats.org/drawingml/2006/main" noGrp="1"/>
          </p:cNvSpPr>
          <p:nvPr/>
        </p:nvSpPr>
        <p:spPr>
          <a:xfrm xmlns:a="http://schemas.openxmlformats.org/drawingml/2006/main">
            <a:off x="7867650" y="4095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4" name="branch 3 title">
            <a:extLst xmlns:a="http://schemas.openxmlformats.org/drawingml/2006/main">
              <a:ext uri="{FF2B5EF4-FFF2-40B4-BE49-F238E27FC236}">
                <a16:creationId xmlns:a16="http://schemas.microsoft.com/office/drawing/2014/main" id="{EF3DF1CD-E0A0-464F-B06D-748A8B36C674}"/>
              </a:ext>
            </a:extLst>
          </p:cNvPr>
          <p:cNvSpPr>
            <a:spLocks xmlns:a="http://schemas.openxmlformats.org/drawingml/2006/main" noGrp="1"/>
          </p:cNvSpPr>
          <p:nvPr/>
        </p:nvSpPr>
        <p:spPr>
          <a:xfrm xmlns:a="http://schemas.openxmlformats.org/drawingml/2006/main">
            <a:off x="7877175" y="3752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84F4B"/>
                </a:solidFill>
                <a:latin typeface="Arial"/>
                <a:ea typeface="Arial"/>
                <a:cs typeface="Arial"/>
              </a:defRPr>
            </a:pPr>
            <a:r>
              <a:rPr sz="1725" b="1">
                <a:solidFill>
                  <a:srgbClr val="A84F4B"/>
                </a:solidFill>
                <a:latin typeface="Arial"/>
                <a:ea typeface="Arial"/>
                <a:cs typeface="Arial"/>
              </a:rPr>
              <a:t>Test · niêm phong</a:t>
            </a:r>
          </a:p>
        </p:txBody>
      </p:sp>
      <p:sp>
        <p:nvSpPr>
          <p:cNvPr id="25" name="branch 3 body">
            <a:extLst xmlns:a="http://schemas.openxmlformats.org/drawingml/2006/main">
              <a:ext uri="{FF2B5EF4-FFF2-40B4-BE49-F238E27FC236}">
                <a16:creationId xmlns:a16="http://schemas.microsoft.com/office/drawing/2014/main" id="{6106EE8C-7D04-4AC1-8215-A00C0EDAF01F}"/>
              </a:ext>
            </a:extLst>
          </p:cNvPr>
          <p:cNvSpPr>
            <a:spLocks xmlns:a="http://schemas.openxmlformats.org/drawingml/2006/main" noGrp="1"/>
          </p:cNvSpPr>
          <p:nvPr/>
        </p:nvSpPr>
        <p:spPr>
          <a:xfrm xmlns:a="http://schemas.openxmlformats.org/drawingml/2006/main">
            <a:off x="7877175" y="4191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Manifest ghi SEALED và 0 mẫu Test được phân tích; kết quả trình bày không phải điểm Test. Clone Git thiếu 7 artifact lớn.</a:t>
            </a:r>
          </a:p>
        </p:txBody>
      </p:sp>
      <p:sp>
        <p:nvSpPr>
          <p:cNvPr id="26" name="upper bar">
            <a:extLst xmlns:a="http://schemas.openxmlformats.org/drawingml/2006/main">
              <a:ext uri="{FF2B5EF4-FFF2-40B4-BE49-F238E27FC236}">
                <a16:creationId xmlns:a16="http://schemas.microsoft.com/office/drawing/2014/main" id="{C269A223-B413-4213-92F4-58064D1CE56A}"/>
              </a:ext>
            </a:extLst>
          </p:cNvPr>
          <p:cNvSpPr>
            <a:spLocks xmlns:a="http://schemas.openxmlformats.org/drawingml/2006/main" noGrp="1"/>
          </p:cNvSpPr>
          <p:nvPr/>
        </p:nvSpPr>
        <p:spPr>
          <a:xfrm xmlns:a="http://schemas.openxmlformats.org/drawingml/2006/main">
            <a:off x="3086100" y="248602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7" name="upper dot">
            <a:extLst xmlns:a="http://schemas.openxmlformats.org/drawingml/2006/main">
              <a:ext uri="{FF2B5EF4-FFF2-40B4-BE49-F238E27FC236}">
                <a16:creationId xmlns:a16="http://schemas.microsoft.com/office/drawing/2014/main" id="{E7BC1FD3-A1EE-4442-AA76-AD75B96E04FC}"/>
              </a:ext>
            </a:extLst>
          </p:cNvPr>
          <p:cNvSpPr>
            <a:spLocks xmlns:a="http://schemas.openxmlformats.org/drawingml/2006/main" noGrp="1"/>
          </p:cNvSpPr>
          <p:nvPr/>
        </p:nvSpPr>
        <p:spPr>
          <a:xfrm xmlns:a="http://schemas.openxmlformats.org/drawingml/2006/main">
            <a:off x="3343275" y="245745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8" name="lower bar">
            <a:extLst xmlns:a="http://schemas.openxmlformats.org/drawingml/2006/main">
              <a:ext uri="{FF2B5EF4-FFF2-40B4-BE49-F238E27FC236}">
                <a16:creationId xmlns:a16="http://schemas.microsoft.com/office/drawing/2014/main" id="{B21A31D6-8EFE-42D1-9BC6-4CEBFC9DE8B9}"/>
              </a:ext>
            </a:extLst>
          </p:cNvPr>
          <p:cNvSpPr>
            <a:spLocks xmlns:a="http://schemas.openxmlformats.org/drawingml/2006/main" noGrp="1"/>
          </p:cNvSpPr>
          <p:nvPr/>
        </p:nvSpPr>
        <p:spPr>
          <a:xfrm xmlns:a="http://schemas.openxmlformats.org/drawingml/2006/main">
            <a:off x="3086100" y="456247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9" name="lower dot">
            <a:extLst xmlns:a="http://schemas.openxmlformats.org/drawingml/2006/main">
              <a:ext uri="{FF2B5EF4-FFF2-40B4-BE49-F238E27FC236}">
                <a16:creationId xmlns:a16="http://schemas.microsoft.com/office/drawing/2014/main" id="{671FA998-66ED-4259-9038-2B058257AD05}"/>
              </a:ext>
            </a:extLst>
          </p:cNvPr>
          <p:cNvSpPr>
            <a:spLocks xmlns:a="http://schemas.openxmlformats.org/drawingml/2006/main" noGrp="1"/>
          </p:cNvSpPr>
          <p:nvPr/>
        </p:nvSpPr>
        <p:spPr>
          <a:xfrm xmlns:a="http://schemas.openxmlformats.org/drawingml/2006/main">
            <a:off x="3343275" y="453390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30" name="takeaway">
            <a:extLst xmlns:a="http://schemas.openxmlformats.org/drawingml/2006/main">
              <a:ext uri="{FF2B5EF4-FFF2-40B4-BE49-F238E27FC236}">
                <a16:creationId xmlns:a16="http://schemas.microsoft.com/office/drawing/2014/main" id="{EAD1D1D6-4856-4672-8F7C-2148DDE476F7}"/>
              </a:ext>
            </a:extLst>
          </p:cNvPr>
          <p:cNvSpPr>
            <a:spLocks xmlns:a="http://schemas.openxmlformats.org/drawingml/2006/main" noGrp="1"/>
          </p:cNvSpPr>
          <p:nvPr/>
        </p:nvSpPr>
        <p:spPr>
          <a:xfrm xmlns:a="http://schemas.openxmlformats.org/drawingml/2006/main">
            <a:off x="514350" y="60579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A84F4B"/>
                </a:solidFill>
                <a:latin typeface="Arial"/>
                <a:ea typeface="Arial"/>
                <a:cs typeface="Arial"/>
              </a:defRPr>
            </a:pPr>
            <a:r>
              <a:rPr sz="1350" b="1">
                <a:solidFill>
                  <a:srgbClr val="A84F4B"/>
                </a:solidFill>
                <a:latin typeface="Arial"/>
                <a:ea typeface="Arial"/>
                <a:cs typeface="Arial"/>
              </a:rPr>
              <a:t>Không đồng nhất quy mô toàn ngữ liệu với 35.000 phiên dùng để fit probe.</a:t>
            </a:r>
          </a:p>
        </p:txBody>
      </p:sp>
    </p:spTree>
    <p:extLst>
      <p:ext uri="{BB962C8B-B14F-4D97-AF65-F5344CB8AC3E}">
        <p14:creationId xmlns:p14="http://schemas.microsoft.com/office/powerpoint/2010/main" val="1144414489"/>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38983068-6354-4E46-895D-CB14D2A0AEB7}"/>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Stage A2: học gì và kiểm toán gì</a:t>
            </a:r>
          </a:p>
        </p:txBody>
      </p:sp>
      <p:sp>
        <p:nvSpPr>
          <p:cNvPr id="2" name="subtitle">
            <a:extLst xmlns:a="http://schemas.openxmlformats.org/drawingml/2006/main">
              <a:ext uri="{FF2B5EF4-FFF2-40B4-BE49-F238E27FC236}">
                <a16:creationId xmlns:a16="http://schemas.microsoft.com/office/drawing/2014/main" id="{26EFD142-9829-433C-8E5A-6FE7E4825F84}"/>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Loss tự giám sát ≠ hiệu năng phát hiện; năm lượt chạy không cùng đủ điều kiện chuẩn</a:t>
            </a:r>
          </a:p>
        </p:txBody>
      </p:sp>
      <p:sp>
        <p:nvSpPr>
          <p:cNvPr id="3" name="top line">
            <a:extLst xmlns:a="http://schemas.openxmlformats.org/drawingml/2006/main">
              <a:ext uri="{FF2B5EF4-FFF2-40B4-BE49-F238E27FC236}">
                <a16:creationId xmlns:a16="http://schemas.microsoft.com/office/drawing/2014/main" id="{498C21E1-2867-4108-91DB-D6938420A440}"/>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28C89F24-BC40-4B77-82EA-D1B0E33F9753}"/>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3.1.3, Bảng 3.3–3.4; Mục 3.2.1</a:t>
            </a:r>
          </a:p>
        </p:txBody>
      </p:sp>
      <p:sp>
        <p:nvSpPr>
          <p:cNvPr id="5" name="number">
            <a:extLst xmlns:a="http://schemas.openxmlformats.org/drawingml/2006/main">
              <a:ext uri="{FF2B5EF4-FFF2-40B4-BE49-F238E27FC236}">
                <a16:creationId xmlns:a16="http://schemas.microsoft.com/office/drawing/2014/main" id="{6A62DAE8-A476-4301-9885-B5E562CB9DF0}"/>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06 / 10</a:t>
            </a:r>
          </a:p>
        </p:txBody>
      </p:sp>
      <p:sp>
        <p:nvSpPr>
          <p:cNvPr id="6" name="central node">
            <a:extLst xmlns:a="http://schemas.openxmlformats.org/drawingml/2006/main">
              <a:ext uri="{FF2B5EF4-FFF2-40B4-BE49-F238E27FC236}">
                <a16:creationId xmlns:a16="http://schemas.microsoft.com/office/drawing/2014/main" id="{48385A53-4430-4A08-960F-677B2682D920}"/>
              </a:ext>
            </a:extLst>
          </p:cNvPr>
          <p:cNvSpPr>
            <a:spLocks xmlns:a="http://schemas.openxmlformats.org/drawingml/2006/main" noGrp="1"/>
          </p:cNvSpPr>
          <p:nvPr/>
        </p:nvSpPr>
        <p:spPr>
          <a:xfrm xmlns:a="http://schemas.openxmlformats.org/drawingml/2006/main">
            <a:off x="514350" y="1581150"/>
            <a:ext cx="2428875" cy="4219575"/>
          </a:xfrm>
          <a:prstGeom xmlns:a="http://schemas.openxmlformats.org/drawingml/2006/main" prst="roundRect">
            <a:avLst>
              <a:gd name="adj" fmla="val 3137"/>
            </a:avLst>
          </a:prstGeom>
          <a:solidFill xmlns:a="http://schemas.openxmlformats.org/drawingml/2006/main">
            <a:srgbClr val="E7F0F5"/>
          </a:solidFill>
          <a:ln xmlns:a="http://schemas.openxmlformats.org/drawingml/2006/main" w="9525">
            <a:solidFill>
              <a:srgbClr val="2B658B"/>
            </a:solidFill>
            <a:prstDash val="solid"/>
          </a:ln>
        </p:spPr>
      </p:sp>
      <p:sp>
        <p:nvSpPr>
          <p:cNvPr id="7" name="side head">
            <a:extLst xmlns:a="http://schemas.openxmlformats.org/drawingml/2006/main">
              <a:ext uri="{FF2B5EF4-FFF2-40B4-BE49-F238E27FC236}">
                <a16:creationId xmlns:a16="http://schemas.microsoft.com/office/drawing/2014/main" id="{9C5386D5-CCFC-4155-907D-3711D2692088}"/>
              </a:ext>
            </a:extLst>
          </p:cNvPr>
          <p:cNvSpPr>
            <a:spLocks xmlns:a="http://schemas.openxmlformats.org/drawingml/2006/main" noGrp="1"/>
          </p:cNvSpPr>
          <p:nvPr/>
        </p:nvSpPr>
        <p:spPr>
          <a:xfrm xmlns:a="http://schemas.openxmlformats.org/drawingml/2006/main">
            <a:off x="685800" y="1809750"/>
            <a:ext cx="2095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2B658B"/>
                </a:solidFill>
                <a:latin typeface="Arial"/>
                <a:ea typeface="Arial"/>
                <a:cs typeface="Arial"/>
              </a:defRPr>
            </a:pPr>
            <a:r>
              <a:rPr sz="2025" b="1">
                <a:solidFill>
                  <a:srgbClr val="2B658B"/>
                </a:solidFill>
                <a:latin typeface="Arial"/>
                <a:ea typeface="Arial"/>
                <a:cs typeface="Arial"/>
              </a:rPr>
              <a:t>MỤC TIÊU A2</a:t>
            </a:r>
          </a:p>
        </p:txBody>
      </p:sp>
      <p:sp>
        <p:nvSpPr>
          <p:cNvPr id="8" name="side rule">
            <a:extLst xmlns:a="http://schemas.openxmlformats.org/drawingml/2006/main">
              <a:ext uri="{FF2B5EF4-FFF2-40B4-BE49-F238E27FC236}">
                <a16:creationId xmlns:a16="http://schemas.microsoft.com/office/drawing/2014/main" id="{464B5599-4726-4D02-A049-F44032CE762A}"/>
              </a:ext>
            </a:extLst>
          </p:cNvPr>
          <p:cNvSpPr>
            <a:spLocks xmlns:a="http://schemas.openxmlformats.org/drawingml/2006/main" noGrp="1"/>
          </p:cNvSpPr>
          <p:nvPr/>
        </p:nvSpPr>
        <p:spPr>
          <a:xfrm xmlns:a="http://schemas.openxmlformats.org/drawingml/2006/main">
            <a:off x="685800" y="2962275"/>
            <a:ext cx="20955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side body">
            <a:extLst xmlns:a="http://schemas.openxmlformats.org/drawingml/2006/main">
              <a:ext uri="{FF2B5EF4-FFF2-40B4-BE49-F238E27FC236}">
                <a16:creationId xmlns:a16="http://schemas.microsoft.com/office/drawing/2014/main" id="{E598D1C3-964F-44E8-873C-5F9650EA3D60}"/>
              </a:ext>
            </a:extLst>
          </p:cNvPr>
          <p:cNvSpPr>
            <a:spLocks xmlns:a="http://schemas.openxmlformats.org/drawingml/2006/main" noGrp="1"/>
          </p:cNvSpPr>
          <p:nvPr/>
        </p:nvSpPr>
        <p:spPr>
          <a:xfrm xmlns:a="http://schemas.openxmlformats.org/drawingml/2006/main">
            <a:off x="685800" y="3105150"/>
            <a:ext cx="20955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Quan hệ che × 1,0</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Thuộc tính nút che × 1,0</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Khoảng thời gian × 0,1</a:t>
            </a:r>
          </a:p>
          <a:p xmlns:a="http://schemas.openxmlformats.org/drawingml/2006/main">
            <a:r>
              <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Hệ số loss không phải phần trăm đóng góp vào AP.</a:t>
            </a:r>
          </a:p>
        </p:txBody>
      </p:sp>
      <p:graphicFrame>
        <p:nvGraphicFramePr>
          <p:cNvPr id="27" name=""/>
          <p:cNvGraphicFramePr/>
          <p:nvPr/>
        </p:nvGraphicFramePr>
        <p:xfrm>
          <a:off xmlns:a="http://schemas.openxmlformats.org/drawingml/2006/main" x="3267075" y="1581150"/>
          <a:ext xmlns:a="http://schemas.openxmlformats.org/drawingml/2006/main" cx="8410575" cy="2857500"/>
        </p:xfrm>
        <a:graphic xmlns:a="http://schemas.openxmlformats.org/drawingml/2006/main">
          <a:graphicData uri="http://schemas.openxmlformats.org/drawingml/2006/table">
            <a:tbl>
              <a:tblPr firstRow="1" bandRow="0"/>
              <a:tblGrid>
                <a:gridCol w="1066800"/>
                <a:gridCol w="1685925"/>
                <a:gridCol w="5657850"/>
              </a:tblGrid>
              <a:tr h="476250">
                <a:tc>
                  <a:txBody>
                    <a:bodyPr wrap="square" lIns="76200" tIns="38100" rIns="76200" bIns="38100">
                      <a:noAutofit/>
                    </a:bodyPr>
                    <a:lstStyle/>
                    <a:p>
                      <a:pPr algn="l"/>
                      <a:r>
                        <a:rPr sz="1275" b="1">
                          <a:solidFill>
                            <a:srgbClr val="182C39"/>
                          </a:solidFill>
                          <a:latin typeface="Arial"/>
                          <a:ea typeface="Arial"/>
                          <a:cs typeface="Arial"/>
                        </a:rPr>
                        <a:t>Seed</a:t>
                      </a:r>
                    </a:p>
                  </a:txBody>
                  <a:tcPr marL="91440" marR="91440" marT="45720" marB="45720" anchor="ctr">
                    <a:solidFill>
                      <a:srgbClr val="E7F0F5"/>
                    </a:solidFill>
                  </a:tcPr>
                </a:tc>
                <a:tc>
                  <a:txBody>
                    <a:bodyPr wrap="square" lIns="76200" tIns="38100" rIns="76200" bIns="38100">
                      <a:noAutofit/>
                    </a:bodyPr>
                    <a:lstStyle/>
                    <a:p>
                      <a:pPr algn="l"/>
                      <a:r>
                        <a:rPr sz="1275" b="1">
                          <a:solidFill>
                            <a:srgbClr val="182C39"/>
                          </a:solidFill>
                          <a:latin typeface="Arial"/>
                          <a:ea typeface="Arial"/>
                          <a:cs typeface="Arial"/>
                        </a:rPr>
                        <a:t>Best val loss</a:t>
                      </a:r>
                    </a:p>
                  </a:txBody>
                  <a:tcPr marL="91440" marR="91440" marT="45720" marB="45720" anchor="ctr">
                    <a:solidFill>
                      <a:srgbClr val="E7F0F5"/>
                    </a:solidFill>
                  </a:tcPr>
                </a:tc>
                <a:tc>
                  <a:txBody>
                    <a:bodyPr wrap="square" lIns="76200" tIns="38100" rIns="76200" bIns="38100">
                      <a:noAutofit/>
                    </a:bodyPr>
                    <a:lstStyle/>
                    <a:p>
                      <a:pPr algn="l"/>
                      <a:r>
                        <a:rPr sz="1275" b="1">
                          <a:solidFill>
                            <a:srgbClr val="182C39"/>
                          </a:solidFill>
                          <a:latin typeface="Arial"/>
                          <a:ea typeface="Arial"/>
                          <a:cs typeface="Arial"/>
                        </a:rPr>
                        <a:t>Điểm lệch thủ tục được báo cáo</a:t>
                      </a:r>
                    </a:p>
                  </a:txBody>
                  <a:tcPr marL="91440" marR="91440" marT="45720" marB="45720" anchor="ctr">
                    <a:solidFill>
                      <a:srgbClr val="E7F0F5"/>
                    </a:solidFill>
                  </a:tcPr>
                </a:tc>
              </a:tr>
              <a:tr h="476250">
                <a:tc>
                  <a:txBody>
                    <a:bodyPr wrap="square" lIns="76200" tIns="38100" rIns="76200" bIns="38100">
                      <a:noAutofit/>
                    </a:bodyPr>
                    <a:lstStyle/>
                    <a:p>
                      <a:pPr algn="l"/>
                      <a:r>
                        <a:rPr sz="1350" b="1">
                          <a:solidFill>
                            <a:srgbClr val="182C39"/>
                          </a:solidFill>
                          <a:latin typeface="Arial"/>
                          <a:ea typeface="Arial"/>
                          <a:cs typeface="Arial"/>
                        </a:rPr>
                        <a:t>999</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0,609500</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Warmup khác kế hoạch</a:t>
                      </a:r>
                    </a:p>
                  </a:txBody>
                  <a:tcPr marL="91440" marR="91440" marT="45720" marB="45720" anchor="ctr">
                    <a:solidFill>
                      <a:srgbClr val="FFFFFF"/>
                    </a:solidFill>
                  </a:tcPr>
                </a:tc>
              </a:tr>
              <a:tr h="476250">
                <a:tc>
                  <a:txBody>
                    <a:bodyPr wrap="square" lIns="76200" tIns="38100" rIns="76200" bIns="38100">
                      <a:noAutofit/>
                    </a:bodyPr>
                    <a:lstStyle/>
                    <a:p>
                      <a:pPr algn="l"/>
                      <a:r>
                        <a:rPr sz="1350" b="1">
                          <a:solidFill>
                            <a:srgbClr val="182C39"/>
                          </a:solidFill>
                          <a:latin typeface="Arial"/>
                          <a:ea typeface="Arial"/>
                          <a:cs typeface="Arial"/>
                        </a:rPr>
                        <a:t>42</a:t>
                      </a:r>
                    </a:p>
                  </a:txBody>
                  <a:tcPr marL="91440" marR="91440" marT="45720" marB="45720" anchor="ctr">
                    <a:solidFill>
                      <a:srgbClr val="F2F5F4"/>
                    </a:solidFill>
                  </a:tcPr>
                </a:tc>
                <a:tc>
                  <a:txBody>
                    <a:bodyPr wrap="square" lIns="76200" tIns="38100" rIns="76200" bIns="38100">
                      <a:noAutofit/>
                    </a:bodyPr>
                    <a:lstStyle/>
                    <a:p>
                      <a:pPr algn="l"/>
                      <a:r>
                        <a:rPr sz="1350" b="0">
                          <a:solidFill>
                            <a:srgbClr val="182C39"/>
                          </a:solidFill>
                          <a:latin typeface="Arial"/>
                          <a:ea typeface="Arial"/>
                          <a:cs typeface="Arial"/>
                        </a:rPr>
                        <a:t>6,081352</a:t>
                      </a:r>
                    </a:p>
                  </a:txBody>
                  <a:tcPr marL="91440" marR="91440" marT="45720" marB="45720" anchor="ctr">
                    <a:solidFill>
                      <a:srgbClr val="F2F5F4"/>
                    </a:solidFill>
                  </a:tcPr>
                </a:tc>
                <a:tc>
                  <a:txBody>
                    <a:bodyPr wrap="square" lIns="76200" tIns="38100" rIns="76200" bIns="38100">
                      <a:noAutofit/>
                    </a:bodyPr>
                    <a:lstStyle/>
                    <a:p>
                      <a:pPr algn="l"/>
                      <a:r>
                        <a:rPr sz="1350" b="0">
                          <a:solidFill>
                            <a:srgbClr val="182C39"/>
                          </a:solidFill>
                          <a:latin typeface="Arial"/>
                          <a:ea typeface="Arial"/>
                          <a:cs typeface="Arial"/>
                        </a:rPr>
                        <a:t>Lịch cũ; dừng epoch 4</a:t>
                      </a:r>
                    </a:p>
                  </a:txBody>
                  <a:tcPr marL="91440" marR="91440" marT="45720" marB="45720" anchor="ctr">
                    <a:solidFill>
                      <a:srgbClr val="F2F5F4"/>
                    </a:solidFill>
                  </a:tcPr>
                </a:tc>
              </a:tr>
              <a:tr h="476250">
                <a:tc>
                  <a:txBody>
                    <a:bodyPr wrap="square" lIns="76200" tIns="38100" rIns="76200" bIns="38100">
                      <a:noAutofit/>
                    </a:bodyPr>
                    <a:lstStyle/>
                    <a:p>
                      <a:pPr algn="l"/>
                      <a:r>
                        <a:rPr sz="1350" b="1">
                          <a:solidFill>
                            <a:srgbClr val="182C39"/>
                          </a:solidFill>
                          <a:latin typeface="Arial"/>
                          <a:ea typeface="Arial"/>
                          <a:cs typeface="Arial"/>
                        </a:rPr>
                        <a:t>7</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0,550259</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Authority commit sau khởi chạy</a:t>
                      </a:r>
                    </a:p>
                  </a:txBody>
                  <a:tcPr marL="91440" marR="91440" marT="45720" marB="45720" anchor="ctr">
                    <a:solidFill>
                      <a:srgbClr val="FFFFFF"/>
                    </a:solidFill>
                  </a:tcPr>
                </a:tc>
              </a:tr>
              <a:tr h="476250">
                <a:tc>
                  <a:txBody>
                    <a:bodyPr wrap="square" lIns="76200" tIns="38100" rIns="76200" bIns="38100">
                      <a:noAutofit/>
                    </a:bodyPr>
                    <a:lstStyle/>
                    <a:p>
                      <a:pPr algn="l"/>
                      <a:r>
                        <a:rPr sz="1350" b="1">
                          <a:solidFill>
                            <a:srgbClr val="182C39"/>
                          </a:solidFill>
                          <a:latin typeface="Arial"/>
                          <a:ea typeface="Arial"/>
                          <a:cs typeface="Arial"/>
                        </a:rPr>
                        <a:t>1337</a:t>
                      </a:r>
                    </a:p>
                  </a:txBody>
                  <a:tcPr marL="91440" marR="91440" marT="45720" marB="45720" anchor="ctr">
                    <a:solidFill>
                      <a:srgbClr val="F2F5F4"/>
                    </a:solidFill>
                  </a:tcPr>
                </a:tc>
                <a:tc>
                  <a:txBody>
                    <a:bodyPr wrap="square" lIns="76200" tIns="38100" rIns="76200" bIns="38100">
                      <a:noAutofit/>
                    </a:bodyPr>
                    <a:lstStyle/>
                    <a:p>
                      <a:pPr algn="l"/>
                      <a:r>
                        <a:rPr sz="1350" b="0">
                          <a:solidFill>
                            <a:srgbClr val="182C39"/>
                          </a:solidFill>
                          <a:latin typeface="Arial"/>
                          <a:ea typeface="Arial"/>
                          <a:cs typeface="Arial"/>
                        </a:rPr>
                        <a:t>0,917827</a:t>
                      </a:r>
                    </a:p>
                  </a:txBody>
                  <a:tcPr marL="91440" marR="91440" marT="45720" marB="45720" anchor="ctr">
                    <a:solidFill>
                      <a:srgbClr val="F2F5F4"/>
                    </a:solidFill>
                  </a:tcPr>
                </a:tc>
                <a:tc>
                  <a:txBody>
                    <a:bodyPr wrap="square" lIns="76200" tIns="38100" rIns="76200" bIns="38100">
                      <a:noAutofit/>
                    </a:bodyPr>
                    <a:lstStyle/>
                    <a:p>
                      <a:pPr algn="l"/>
                      <a:r>
                        <a:rPr sz="1350" b="0">
                          <a:solidFill>
                            <a:srgbClr val="182C39"/>
                          </a:solidFill>
                          <a:latin typeface="Arial"/>
                          <a:ea typeface="Arial"/>
                          <a:cs typeface="Arial"/>
                        </a:rPr>
                        <a:t>Thiếu hồ sơ thực thi</a:t>
                      </a:r>
                    </a:p>
                  </a:txBody>
                  <a:tcPr marL="91440" marR="91440" marT="45720" marB="45720" anchor="ctr">
                    <a:solidFill>
                      <a:srgbClr val="F2F5F4"/>
                    </a:solidFill>
                  </a:tcPr>
                </a:tc>
              </a:tr>
              <a:tr h="476250">
                <a:tc>
                  <a:txBody>
                    <a:bodyPr wrap="square" lIns="76200" tIns="38100" rIns="76200" bIns="38100">
                      <a:noAutofit/>
                    </a:bodyPr>
                    <a:lstStyle/>
                    <a:p>
                      <a:pPr algn="l"/>
                      <a:r>
                        <a:rPr sz="1350" b="1">
                          <a:solidFill>
                            <a:srgbClr val="182C39"/>
                          </a:solidFill>
                          <a:latin typeface="Arial"/>
                          <a:ea typeface="Arial"/>
                          <a:cs typeface="Arial"/>
                        </a:rPr>
                        <a:t>2024</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0,553257</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Lệch commit; đổi lịch học</a:t>
                      </a:r>
                    </a:p>
                  </a:txBody>
                  <a:tcPr marL="91440" marR="91440" marT="45720" marB="45720" anchor="ctr">
                    <a:solidFill>
                      <a:srgbClr val="FFFFFF"/>
                    </a:solidFill>
                  </a:tcPr>
                </a:tc>
              </a:tr>
            </a:tbl>
          </a:graphicData>
        </a:graphic>
      </p:graphicFrame>
      <p:sp>
        <p:nvSpPr>
          <p:cNvPr id="11" name="A2 inference accent">
            <a:extLst xmlns:a="http://schemas.openxmlformats.org/drawingml/2006/main">
              <a:ext uri="{FF2B5EF4-FFF2-40B4-BE49-F238E27FC236}">
                <a16:creationId xmlns:a16="http://schemas.microsoft.com/office/drawing/2014/main" id="{0817368C-F7B5-4A3F-A001-4DA28B866DE1}"/>
              </a:ext>
            </a:extLst>
          </p:cNvPr>
          <p:cNvSpPr>
            <a:spLocks xmlns:a="http://schemas.openxmlformats.org/drawingml/2006/main" noGrp="1"/>
          </p:cNvSpPr>
          <p:nvPr/>
        </p:nvSpPr>
        <p:spPr>
          <a:xfrm xmlns:a="http://schemas.openxmlformats.org/drawingml/2006/main">
            <a:off x="3267075" y="4524375"/>
            <a:ext cx="47625" cy="1438275"/>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2" name="A2 inference title">
            <a:extLst xmlns:a="http://schemas.openxmlformats.org/drawingml/2006/main">
              <a:ext uri="{FF2B5EF4-FFF2-40B4-BE49-F238E27FC236}">
                <a16:creationId xmlns:a16="http://schemas.microsoft.com/office/drawing/2014/main" id="{0D6F4D8A-F00F-499E-8BA4-03B3674CB15E}"/>
              </a:ext>
            </a:extLst>
          </p:cNvPr>
          <p:cNvSpPr>
            <a:spLocks xmlns:a="http://schemas.openxmlformats.org/drawingml/2006/main" noGrp="1"/>
          </p:cNvSpPr>
          <p:nvPr/>
        </p:nvSpPr>
        <p:spPr>
          <a:xfrm xmlns:a="http://schemas.openxmlformats.org/drawingml/2006/main">
            <a:off x="3438525" y="4543425"/>
            <a:ext cx="3667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D746D"/>
                </a:solidFill>
                <a:latin typeface="Arial"/>
                <a:ea typeface="Arial"/>
                <a:cs typeface="Arial"/>
              </a:defRPr>
            </a:pPr>
            <a:r>
              <a:rPr sz="1575" b="1">
                <a:solidFill>
                  <a:srgbClr val="2D746D"/>
                </a:solidFill>
                <a:latin typeface="Arial"/>
                <a:ea typeface="Arial"/>
                <a:cs typeface="Arial"/>
              </a:rPr>
              <a:t>Được nói</a:t>
            </a:r>
          </a:p>
        </p:txBody>
      </p:sp>
      <p:sp>
        <p:nvSpPr>
          <p:cNvPr id="13" name="A2 inference body">
            <a:extLst xmlns:a="http://schemas.openxmlformats.org/drawingml/2006/main">
              <a:ext uri="{FF2B5EF4-FFF2-40B4-BE49-F238E27FC236}">
                <a16:creationId xmlns:a16="http://schemas.microsoft.com/office/drawing/2014/main" id="{0884D321-E67A-4307-98B1-3DC2F2BB1253}"/>
              </a:ext>
            </a:extLst>
          </p:cNvPr>
          <p:cNvSpPr>
            <a:spLocks xmlns:a="http://schemas.openxmlformats.org/drawingml/2006/main" noGrp="1"/>
          </p:cNvSpPr>
          <p:nvPr/>
        </p:nvSpPr>
        <p:spPr>
          <a:xfrm xmlns:a="http://schemas.openxmlformats.org/drawingml/2006/main">
            <a:off x="3438525" y="4943475"/>
            <a:ext cx="36576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5 lượt có loss và hồ sơ riêng; 0/5 đạt đầy đủ điều kiện canonical.</a:t>
            </a:r>
          </a:p>
        </p:txBody>
      </p:sp>
      <p:sp>
        <p:nvSpPr>
          <p:cNvPr id="14" name="A2 no accent">
            <a:extLst xmlns:a="http://schemas.openxmlformats.org/drawingml/2006/main">
              <a:ext uri="{FF2B5EF4-FFF2-40B4-BE49-F238E27FC236}">
                <a16:creationId xmlns:a16="http://schemas.microsoft.com/office/drawing/2014/main" id="{3D416F3B-4585-4787-80B4-0D96E4E371FA}"/>
              </a:ext>
            </a:extLst>
          </p:cNvPr>
          <p:cNvSpPr>
            <a:spLocks xmlns:a="http://schemas.openxmlformats.org/drawingml/2006/main" noGrp="1"/>
          </p:cNvSpPr>
          <p:nvPr/>
        </p:nvSpPr>
        <p:spPr>
          <a:xfrm xmlns:a="http://schemas.openxmlformats.org/drawingml/2006/main">
            <a:off x="7572375" y="4524375"/>
            <a:ext cx="47625" cy="1438275"/>
          </a:xfrm>
          <a:prstGeom xmlns:a="http://schemas.openxmlformats.org/drawingml/2006/main" prst="rect">
            <a:avLst/>
          </a:prstGeom>
          <a:solidFill xmlns:a="http://schemas.openxmlformats.org/drawingml/2006/main">
            <a:srgbClr val="A84F4B"/>
          </a:solidFill>
          <a:ln xmlns:a="http://schemas.openxmlformats.org/drawingml/2006/main" w="0">
            <a:noFill/>
            <a:prstDash val="solid"/>
          </a:ln>
        </p:spPr>
      </p:sp>
      <p:sp>
        <p:nvSpPr>
          <p:cNvPr id="15" name="A2 no title">
            <a:extLst xmlns:a="http://schemas.openxmlformats.org/drawingml/2006/main">
              <a:ext uri="{FF2B5EF4-FFF2-40B4-BE49-F238E27FC236}">
                <a16:creationId xmlns:a16="http://schemas.microsoft.com/office/drawing/2014/main" id="{E678F689-D21C-441E-B495-117977C43C2F}"/>
              </a:ext>
            </a:extLst>
          </p:cNvPr>
          <p:cNvSpPr>
            <a:spLocks xmlns:a="http://schemas.openxmlformats.org/drawingml/2006/main" noGrp="1"/>
          </p:cNvSpPr>
          <p:nvPr/>
        </p:nvSpPr>
        <p:spPr>
          <a:xfrm xmlns:a="http://schemas.openxmlformats.org/drawingml/2006/main">
            <a:off x="7743825" y="4543425"/>
            <a:ext cx="3867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84F4B"/>
                </a:solidFill>
                <a:latin typeface="Arial"/>
                <a:ea typeface="Arial"/>
                <a:cs typeface="Arial"/>
              </a:defRPr>
            </a:pPr>
            <a:r>
              <a:rPr sz="1575" b="1">
                <a:solidFill>
                  <a:srgbClr val="A84F4B"/>
                </a:solidFill>
                <a:latin typeface="Arial"/>
                <a:ea typeface="Arial"/>
                <a:cs typeface="Arial"/>
              </a:rPr>
              <a:t>Không được nói</a:t>
            </a:r>
          </a:p>
        </p:txBody>
      </p:sp>
      <p:sp>
        <p:nvSpPr>
          <p:cNvPr id="16" name="A2 no body">
            <a:extLst xmlns:a="http://schemas.openxmlformats.org/drawingml/2006/main">
              <a:ext uri="{FF2B5EF4-FFF2-40B4-BE49-F238E27FC236}">
                <a16:creationId xmlns:a16="http://schemas.microsoft.com/office/drawing/2014/main" id="{B5BA5D8A-C638-4A5C-9DE1-D3064FC66A57}"/>
              </a:ext>
            </a:extLst>
          </p:cNvPr>
          <p:cNvSpPr>
            <a:spLocks xmlns:a="http://schemas.openxmlformats.org/drawingml/2006/main" noGrp="1"/>
          </p:cNvSpPr>
          <p:nvPr/>
        </p:nvSpPr>
        <p:spPr>
          <a:xfrm xmlns:a="http://schemas.openxmlformats.org/drawingml/2006/main">
            <a:off x="7743825" y="4943475"/>
            <a:ext cx="38576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Loss thấp chứng minh hiểu an ninh hoặc năm lượt là lặp chuẩn đồng nhất.</a:t>
            </a:r>
          </a:p>
        </p:txBody>
      </p:sp>
      <p:sp>
        <p:nvSpPr>
          <p:cNvPr id="17" name="A2 key">
            <a:extLst xmlns:a="http://schemas.openxmlformats.org/drawingml/2006/main">
              <a:ext uri="{FF2B5EF4-FFF2-40B4-BE49-F238E27FC236}">
                <a16:creationId xmlns:a16="http://schemas.microsoft.com/office/drawing/2014/main" id="{A3EA6010-7DC1-446D-BDC7-CAB5E28BA25A}"/>
              </a:ext>
            </a:extLst>
          </p:cNvPr>
          <p:cNvSpPr>
            <a:spLocks xmlns:a="http://schemas.openxmlformats.org/drawingml/2006/main" noGrp="1"/>
          </p:cNvSpPr>
          <p:nvPr/>
        </p:nvSpPr>
        <p:spPr>
          <a:xfrm xmlns:a="http://schemas.openxmlformats.org/drawingml/2006/main">
            <a:off x="3267075" y="6067425"/>
            <a:ext cx="8410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B658B"/>
                </a:solidFill>
                <a:latin typeface="Arial"/>
                <a:ea typeface="Arial"/>
                <a:cs typeface="Arial"/>
              </a:defRPr>
            </a:pPr>
            <a:r>
              <a:rPr sz="1425" b="1">
                <a:solidFill>
                  <a:srgbClr val="2B658B"/>
                </a:solidFill>
                <a:latin typeface="Arial"/>
                <a:ea typeface="Arial"/>
                <a:cs typeface="Arial"/>
              </a:rPr>
              <a:t>Cần đánh giá hạ nguồn bằng V3 với backbone đóng băng.</a:t>
            </a:r>
          </a:p>
        </p:txBody>
      </p:sp>
    </p:spTree>
    <p:extLst>
      <p:ext uri="{BB962C8B-B14F-4D97-AF65-F5344CB8AC3E}">
        <p14:creationId xmlns:p14="http://schemas.microsoft.com/office/powerpoint/2010/main" val="435309158"/>
      </p:ext>
    </p:extLst>
  </p:cSld>
</p:sld>
</file>

<file path=ppt/slides/slide7.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C9FF8638-D677-41B1-A4AA-FDB013EA7C24}"/>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V3: so chất lượng vector trên cùng giao thức</a:t>
            </a:r>
          </a:p>
        </p:txBody>
      </p:sp>
      <p:sp>
        <p:nvSpPr>
          <p:cNvPr id="2" name="subtitle">
            <a:extLst xmlns:a="http://schemas.openxmlformats.org/drawingml/2006/main">
              <a:ext uri="{FF2B5EF4-FFF2-40B4-BE49-F238E27FC236}">
                <a16:creationId xmlns:a16="http://schemas.microsoft.com/office/drawing/2014/main" id="{D149F7EE-964E-42A0-B3BA-4EF95F0F52C1}"/>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6 backbone đóng băng · probe fit 35.000 Train · đo 7.500 Validation</a:t>
            </a:r>
          </a:p>
        </p:txBody>
      </p:sp>
      <p:sp>
        <p:nvSpPr>
          <p:cNvPr id="3" name="top line">
            <a:extLst xmlns:a="http://schemas.openxmlformats.org/drawingml/2006/main">
              <a:ext uri="{FF2B5EF4-FFF2-40B4-BE49-F238E27FC236}">
                <a16:creationId xmlns:a16="http://schemas.microsoft.com/office/drawing/2014/main" id="{1554D422-F25B-470D-94B7-72FE857BC7DE}"/>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07151D56-AB0F-4D9F-B74C-6F080FAD6CF6}"/>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3.1.3, 3.2.2; Bảng 3.6</a:t>
            </a:r>
          </a:p>
        </p:txBody>
      </p:sp>
      <p:sp>
        <p:nvSpPr>
          <p:cNvPr id="5" name="number">
            <a:extLst xmlns:a="http://schemas.openxmlformats.org/drawingml/2006/main">
              <a:ext uri="{FF2B5EF4-FFF2-40B4-BE49-F238E27FC236}">
                <a16:creationId xmlns:a16="http://schemas.microsoft.com/office/drawing/2014/main" id="{49EA98B7-42B0-4E8C-AD69-241209058355}"/>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07 / 10</a:t>
            </a:r>
          </a:p>
        </p:txBody>
      </p:sp>
      <p:sp>
        <p:nvSpPr>
          <p:cNvPr id="6" name="central node">
            <a:extLst xmlns:a="http://schemas.openxmlformats.org/drawingml/2006/main">
              <a:ext uri="{FF2B5EF4-FFF2-40B4-BE49-F238E27FC236}">
                <a16:creationId xmlns:a16="http://schemas.microsoft.com/office/drawing/2014/main" id="{6DCFCC71-377C-4C1F-839E-1B661A13B6D4}"/>
              </a:ext>
            </a:extLst>
          </p:cNvPr>
          <p:cNvSpPr>
            <a:spLocks xmlns:a="http://schemas.openxmlformats.org/drawingml/2006/main" noGrp="1"/>
          </p:cNvSpPr>
          <p:nvPr/>
        </p:nvSpPr>
        <p:spPr>
          <a:xfrm xmlns:a="http://schemas.openxmlformats.org/drawingml/2006/main">
            <a:off x="514350" y="1581150"/>
            <a:ext cx="2428875" cy="4219575"/>
          </a:xfrm>
          <a:prstGeom xmlns:a="http://schemas.openxmlformats.org/drawingml/2006/main" prst="roundRect">
            <a:avLst>
              <a:gd name="adj" fmla="val 3137"/>
            </a:avLst>
          </a:prstGeom>
          <a:solidFill xmlns:a="http://schemas.openxmlformats.org/drawingml/2006/main">
            <a:srgbClr val="E7F0F5"/>
          </a:solidFill>
          <a:ln xmlns:a="http://schemas.openxmlformats.org/drawingml/2006/main" w="9525">
            <a:solidFill>
              <a:srgbClr val="2B658B"/>
            </a:solidFill>
            <a:prstDash val="solid"/>
          </a:ln>
        </p:spPr>
      </p:sp>
      <p:sp>
        <p:nvSpPr>
          <p:cNvPr id="7" name="side head">
            <a:extLst xmlns:a="http://schemas.openxmlformats.org/drawingml/2006/main">
              <a:ext uri="{FF2B5EF4-FFF2-40B4-BE49-F238E27FC236}">
                <a16:creationId xmlns:a16="http://schemas.microsoft.com/office/drawing/2014/main" id="{E3DEB415-596C-4322-BFC0-820CA40113FE}"/>
              </a:ext>
            </a:extLst>
          </p:cNvPr>
          <p:cNvSpPr>
            <a:spLocks xmlns:a="http://schemas.openxmlformats.org/drawingml/2006/main" noGrp="1"/>
          </p:cNvSpPr>
          <p:nvPr/>
        </p:nvSpPr>
        <p:spPr>
          <a:xfrm xmlns:a="http://schemas.openxmlformats.org/drawingml/2006/main">
            <a:off x="685800" y="1809750"/>
            <a:ext cx="2095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2B658B"/>
                </a:solidFill>
                <a:latin typeface="Arial"/>
                <a:ea typeface="Arial"/>
                <a:cs typeface="Arial"/>
              </a:defRPr>
            </a:pPr>
            <a:r>
              <a:rPr sz="2025" b="1">
                <a:solidFill>
                  <a:srgbClr val="2B658B"/>
                </a:solidFill>
                <a:latin typeface="Arial"/>
                <a:ea typeface="Arial"/>
                <a:cs typeface="Arial"/>
              </a:rPr>
              <a:t>PHÉP ĐO</a:t>
            </a:r>
          </a:p>
        </p:txBody>
      </p:sp>
      <p:sp>
        <p:nvSpPr>
          <p:cNvPr id="8" name="side rule">
            <a:extLst xmlns:a="http://schemas.openxmlformats.org/drawingml/2006/main">
              <a:ext uri="{FF2B5EF4-FFF2-40B4-BE49-F238E27FC236}">
                <a16:creationId xmlns:a16="http://schemas.microsoft.com/office/drawing/2014/main" id="{B84EFDAB-7535-4574-AF46-DA1E3AE534B7}"/>
              </a:ext>
            </a:extLst>
          </p:cNvPr>
          <p:cNvSpPr>
            <a:spLocks xmlns:a="http://schemas.openxmlformats.org/drawingml/2006/main" noGrp="1"/>
          </p:cNvSpPr>
          <p:nvPr/>
        </p:nvSpPr>
        <p:spPr>
          <a:xfrm xmlns:a="http://schemas.openxmlformats.org/drawingml/2006/main">
            <a:off x="685800" y="2962275"/>
            <a:ext cx="20955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side body">
            <a:extLst xmlns:a="http://schemas.openxmlformats.org/drawingml/2006/main">
              <a:ext uri="{FF2B5EF4-FFF2-40B4-BE49-F238E27FC236}">
                <a16:creationId xmlns:a16="http://schemas.microsoft.com/office/drawing/2014/main" id="{0745A7C4-24C3-45E8-8EC9-47D916DA96BA}"/>
              </a:ext>
            </a:extLst>
          </p:cNvPr>
          <p:cNvSpPr>
            <a:spLocks xmlns:a="http://schemas.openxmlformats.org/drawingml/2006/main" noGrp="1"/>
          </p:cNvSpPr>
          <p:nvPr/>
        </p:nvSpPr>
        <p:spPr>
          <a:xfrm xmlns:a="http://schemas.openxmlformats.org/drawingml/2006/main">
            <a:off x="685800" y="3105150"/>
            <a:ext cx="20955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Đầu dò tuyến tính chỉ cập nhật trọng số của probe; backbone có 0 bước tối ưu ở V3.</a:t>
            </a:r>
          </a:p>
          <a:p xmlns:a="http://schemas.openxmlformats.org/drawingml/2006/main">
            <a:r>
              <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AP: xếp hạng lớp dương.</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ROC-AUC: phân biệt hai lớp qua các ngưỡng.</a:t>
            </a:r>
          </a:p>
        </p:txBody>
      </p:sp>
      <p:graphicFrame>
        <p:nvGraphicFramePr>
          <p:cNvPr id="27" name=""/>
          <p:cNvGraphicFramePr/>
          <p:nvPr/>
        </p:nvGraphicFramePr>
        <p:xfrm>
          <a:off xmlns:a="http://schemas.openxmlformats.org/drawingml/2006/main" x="3267075" y="1581150"/>
          <a:ext xmlns:a="http://schemas.openxmlformats.org/drawingml/2006/main" cx="8410575" cy="2838450"/>
        </p:xfrm>
        <a:graphic xmlns:a="http://schemas.openxmlformats.org/drawingml/2006/main">
          <a:graphicData uri="http://schemas.openxmlformats.org/drawingml/2006/table">
            <a:tbl>
              <a:tblPr firstRow="1" bandRow="0"/>
              <a:tblGrid>
                <a:gridCol w="1152525"/>
                <a:gridCol w="2190750"/>
                <a:gridCol w="2343150"/>
                <a:gridCol w="2724150"/>
              </a:tblGrid>
              <a:tr h="567690">
                <a:tc>
                  <a:txBody>
                    <a:bodyPr wrap="square" lIns="76200" tIns="38100" rIns="76200" bIns="38100">
                      <a:noAutofit/>
                    </a:bodyPr>
                    <a:lstStyle/>
                    <a:p>
                      <a:pPr algn="l"/>
                      <a:r>
                        <a:rPr sz="1350" b="1">
                          <a:solidFill>
                            <a:srgbClr val="182C39"/>
                          </a:solidFill>
                          <a:latin typeface="Arial"/>
                          <a:ea typeface="Arial"/>
                          <a:cs typeface="Arial"/>
                        </a:rPr>
                        <a:t>Seed</a:t>
                      </a:r>
                    </a:p>
                  </a:txBody>
                  <a:tcPr marL="91440" marR="91440" marT="45720" marB="45720" anchor="ctr">
                    <a:solidFill>
                      <a:srgbClr val="E7F0F5"/>
                    </a:solidFill>
                  </a:tcPr>
                </a:tc>
                <a:tc>
                  <a:txBody>
                    <a:bodyPr wrap="square" lIns="76200" tIns="38100" rIns="76200" bIns="38100">
                      <a:noAutofit/>
                    </a:bodyPr>
                    <a:lstStyle/>
                    <a:p>
                      <a:pPr algn="l"/>
                      <a:r>
                        <a:rPr sz="1350" b="1">
                          <a:solidFill>
                            <a:srgbClr val="182C39"/>
                          </a:solidFill>
                          <a:latin typeface="Arial"/>
                          <a:ea typeface="Arial"/>
                          <a:cs typeface="Arial"/>
                        </a:rPr>
                        <a:t>Sequence AP</a:t>
                      </a:r>
                    </a:p>
                  </a:txBody>
                  <a:tcPr marL="91440" marR="91440" marT="45720" marB="45720" anchor="ctr">
                    <a:solidFill>
                      <a:srgbClr val="E7F0F5"/>
                    </a:solidFill>
                  </a:tcPr>
                </a:tc>
                <a:tc>
                  <a:txBody>
                    <a:bodyPr wrap="square" lIns="76200" tIns="38100" rIns="76200" bIns="38100">
                      <a:noAutofit/>
                    </a:bodyPr>
                    <a:lstStyle/>
                    <a:p>
                      <a:pPr algn="l"/>
                      <a:r>
                        <a:rPr sz="1350" b="1">
                          <a:solidFill>
                            <a:srgbClr val="182C39"/>
                          </a:solidFill>
                          <a:latin typeface="Arial"/>
                          <a:ea typeface="Arial"/>
                          <a:cs typeface="Arial"/>
                        </a:rPr>
                        <a:t>Multi-View AP</a:t>
                      </a:r>
                    </a:p>
                  </a:txBody>
                  <a:tcPr marL="91440" marR="91440" marT="45720" marB="45720" anchor="ctr">
                    <a:solidFill>
                      <a:srgbClr val="E7F0F5"/>
                    </a:solidFill>
                  </a:tcPr>
                </a:tc>
                <a:tc>
                  <a:txBody>
                    <a:bodyPr wrap="square" lIns="76200" tIns="38100" rIns="76200" bIns="38100">
                      <a:noAutofit/>
                    </a:bodyPr>
                    <a:lstStyle/>
                    <a:p>
                      <a:pPr algn="l"/>
                      <a:r>
                        <a:rPr sz="1350" b="1">
                          <a:solidFill>
                            <a:srgbClr val="182C39"/>
                          </a:solidFill>
                          <a:latin typeface="Arial"/>
                          <a:ea typeface="Arial"/>
                          <a:cs typeface="Arial"/>
                        </a:rPr>
                        <a:t>Multi-View ROC-AUC</a:t>
                      </a:r>
                    </a:p>
                  </a:txBody>
                  <a:tcPr marL="91440" marR="91440" marT="45720" marB="45720" anchor="ctr">
                    <a:solidFill>
                      <a:srgbClr val="E7F0F5"/>
                    </a:solidFill>
                  </a:tcPr>
                </a:tc>
              </a:tr>
              <a:tr h="567690">
                <a:tc>
                  <a:txBody>
                    <a:bodyPr wrap="square" lIns="76200" tIns="38100" rIns="76200" bIns="38100">
                      <a:noAutofit/>
                    </a:bodyPr>
                    <a:lstStyle/>
                    <a:p>
                      <a:pPr algn="l"/>
                      <a:r>
                        <a:rPr sz="1425" b="1">
                          <a:solidFill>
                            <a:srgbClr val="182C39"/>
                          </a:solidFill>
                          <a:latin typeface="Arial"/>
                          <a:ea typeface="Arial"/>
                          <a:cs typeface="Arial"/>
                        </a:rPr>
                        <a:t>42</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1,0000</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0,7604</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0,9946</a:t>
                      </a:r>
                    </a:p>
                  </a:txBody>
                  <a:tcPr marL="91440" marR="91440" marT="45720" marB="45720" anchor="ctr">
                    <a:solidFill>
                      <a:srgbClr val="FFFFFF"/>
                    </a:solidFill>
                  </a:tcPr>
                </a:tc>
              </a:tr>
              <a:tr h="567690">
                <a:tc>
                  <a:txBody>
                    <a:bodyPr wrap="square" lIns="76200" tIns="38100" rIns="76200" bIns="38100">
                      <a:noAutofit/>
                    </a:bodyPr>
                    <a:lstStyle/>
                    <a:p>
                      <a:pPr algn="l"/>
                      <a:r>
                        <a:rPr sz="1425" b="1">
                          <a:solidFill>
                            <a:srgbClr val="182C39"/>
                          </a:solidFill>
                          <a:latin typeface="Arial"/>
                          <a:ea typeface="Arial"/>
                          <a:cs typeface="Arial"/>
                        </a:rPr>
                        <a:t>7</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1,0000</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0,6309</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0,8081</a:t>
                      </a:r>
                    </a:p>
                  </a:txBody>
                  <a:tcPr marL="91440" marR="91440" marT="45720" marB="45720" anchor="ctr">
                    <a:solidFill>
                      <a:srgbClr val="F2F5F4"/>
                    </a:solidFill>
                  </a:tcPr>
                </a:tc>
              </a:tr>
              <a:tr h="567690">
                <a:tc>
                  <a:txBody>
                    <a:bodyPr wrap="square" lIns="76200" tIns="38100" rIns="76200" bIns="38100">
                      <a:noAutofit/>
                    </a:bodyPr>
                    <a:lstStyle/>
                    <a:p>
                      <a:pPr algn="l"/>
                      <a:r>
                        <a:rPr sz="1425" b="1">
                          <a:solidFill>
                            <a:srgbClr val="182C39"/>
                          </a:solidFill>
                          <a:latin typeface="Arial"/>
                          <a:ea typeface="Arial"/>
                          <a:cs typeface="Arial"/>
                        </a:rPr>
                        <a:t>999</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1,0000</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0,5911</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0,7693</a:t>
                      </a:r>
                    </a:p>
                  </a:txBody>
                  <a:tcPr marL="91440" marR="91440" marT="45720" marB="45720" anchor="ctr">
                    <a:solidFill>
                      <a:srgbClr val="FFFFFF"/>
                    </a:solidFill>
                  </a:tcPr>
                </a:tc>
              </a:tr>
              <a:tr h="567690">
                <a:tc>
                  <a:txBody>
                    <a:bodyPr wrap="square" lIns="76200" tIns="38100" rIns="76200" bIns="38100">
                      <a:noAutofit/>
                    </a:bodyPr>
                    <a:lstStyle/>
                    <a:p>
                      <a:pPr algn="l"/>
                      <a:r>
                        <a:rPr sz="1425" b="1">
                          <a:solidFill>
                            <a:srgbClr val="182C39"/>
                          </a:solidFill>
                          <a:latin typeface="Arial"/>
                          <a:ea typeface="Arial"/>
                          <a:cs typeface="Arial"/>
                        </a:rPr>
                        <a:t>Trung bình</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1,0000</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0,6608</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0,8573</a:t>
                      </a:r>
                    </a:p>
                  </a:txBody>
                  <a:tcPr marL="91440" marR="91440" marT="45720" marB="45720" anchor="ctr">
                    <a:solidFill>
                      <a:srgbClr val="F2F5F4"/>
                    </a:solidFill>
                  </a:tcPr>
                </a:tc>
              </a:tr>
            </a:tbl>
          </a:graphicData>
        </a:graphic>
      </p:graphicFrame>
      <p:sp>
        <p:nvSpPr>
          <p:cNvPr id="11" name="V3 result accent">
            <a:extLst xmlns:a="http://schemas.openxmlformats.org/drawingml/2006/main">
              <a:ext uri="{FF2B5EF4-FFF2-40B4-BE49-F238E27FC236}">
                <a16:creationId xmlns:a16="http://schemas.microsoft.com/office/drawing/2014/main" id="{F85178E0-039F-4D0F-8256-4D63288E83B4}"/>
              </a:ext>
            </a:extLst>
          </p:cNvPr>
          <p:cNvSpPr>
            <a:spLocks xmlns:a="http://schemas.openxmlformats.org/drawingml/2006/main" noGrp="1"/>
          </p:cNvSpPr>
          <p:nvPr/>
        </p:nvSpPr>
        <p:spPr>
          <a:xfrm xmlns:a="http://schemas.openxmlformats.org/drawingml/2006/main">
            <a:off x="3267075" y="4524375"/>
            <a:ext cx="47625" cy="1438275"/>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2" name="V3 result title">
            <a:extLst xmlns:a="http://schemas.openxmlformats.org/drawingml/2006/main">
              <a:ext uri="{FF2B5EF4-FFF2-40B4-BE49-F238E27FC236}">
                <a16:creationId xmlns:a16="http://schemas.microsoft.com/office/drawing/2014/main" id="{C991BB58-DCBA-4027-BE6D-A938286AF53A}"/>
              </a:ext>
            </a:extLst>
          </p:cNvPr>
          <p:cNvSpPr>
            <a:spLocks xmlns:a="http://schemas.openxmlformats.org/drawingml/2006/main" noGrp="1"/>
          </p:cNvSpPr>
          <p:nvPr/>
        </p:nvSpPr>
        <p:spPr>
          <a:xfrm xmlns:a="http://schemas.openxmlformats.org/drawingml/2006/main">
            <a:off x="3438525" y="4543425"/>
            <a:ext cx="3667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D746D"/>
                </a:solidFill>
                <a:latin typeface="Arial"/>
                <a:ea typeface="Arial"/>
                <a:cs typeface="Arial"/>
              </a:defRPr>
            </a:pPr>
            <a:r>
              <a:rPr sz="1575" b="1">
                <a:solidFill>
                  <a:srgbClr val="2D746D"/>
                </a:solidFill>
                <a:latin typeface="Arial"/>
                <a:ea typeface="Arial"/>
                <a:cs typeface="Arial"/>
              </a:rPr>
              <a:t>Quan sát</a:t>
            </a:r>
          </a:p>
        </p:txBody>
      </p:sp>
      <p:sp>
        <p:nvSpPr>
          <p:cNvPr id="13" name="V3 result body">
            <a:extLst xmlns:a="http://schemas.openxmlformats.org/drawingml/2006/main">
              <a:ext uri="{FF2B5EF4-FFF2-40B4-BE49-F238E27FC236}">
                <a16:creationId xmlns:a16="http://schemas.microsoft.com/office/drawing/2014/main" id="{9BE34CE0-9C75-4E45-A581-4F0F00DE0076}"/>
              </a:ext>
            </a:extLst>
          </p:cNvPr>
          <p:cNvSpPr>
            <a:spLocks xmlns:a="http://schemas.openxmlformats.org/drawingml/2006/main" noGrp="1"/>
          </p:cNvSpPr>
          <p:nvPr/>
        </p:nvSpPr>
        <p:spPr>
          <a:xfrm xmlns:a="http://schemas.openxmlformats.org/drawingml/2006/main">
            <a:off x="3438525" y="4943475"/>
            <a:ext cx="36576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Sequence dẫn trước ở cả 3 seed; AP Multi-View: 0,6608 ± 0,0885 (SD mẫu).</a:t>
            </a:r>
          </a:p>
        </p:txBody>
      </p:sp>
      <p:sp>
        <p:nvSpPr>
          <p:cNvPr id="14" name="V3 scope accent">
            <a:extLst xmlns:a="http://schemas.openxmlformats.org/drawingml/2006/main">
              <a:ext uri="{FF2B5EF4-FFF2-40B4-BE49-F238E27FC236}">
                <a16:creationId xmlns:a16="http://schemas.microsoft.com/office/drawing/2014/main" id="{7EA4351A-3634-4E13-92C1-9C4BE05F8379}"/>
              </a:ext>
            </a:extLst>
          </p:cNvPr>
          <p:cNvSpPr>
            <a:spLocks xmlns:a="http://schemas.openxmlformats.org/drawingml/2006/main" noGrp="1"/>
          </p:cNvSpPr>
          <p:nvPr/>
        </p:nvSpPr>
        <p:spPr>
          <a:xfrm xmlns:a="http://schemas.openxmlformats.org/drawingml/2006/main">
            <a:off x="7572375" y="4524375"/>
            <a:ext cx="47625" cy="1438275"/>
          </a:xfrm>
          <a:prstGeom xmlns:a="http://schemas.openxmlformats.org/drawingml/2006/main" prst="rect">
            <a:avLst/>
          </a:prstGeom>
          <a:solidFill xmlns:a="http://schemas.openxmlformats.org/drawingml/2006/main">
            <a:srgbClr val="A84F4B"/>
          </a:solidFill>
          <a:ln xmlns:a="http://schemas.openxmlformats.org/drawingml/2006/main" w="0">
            <a:noFill/>
            <a:prstDash val="solid"/>
          </a:ln>
        </p:spPr>
      </p:sp>
      <p:sp>
        <p:nvSpPr>
          <p:cNvPr id="15" name="V3 scope title">
            <a:extLst xmlns:a="http://schemas.openxmlformats.org/drawingml/2006/main">
              <a:ext uri="{FF2B5EF4-FFF2-40B4-BE49-F238E27FC236}">
                <a16:creationId xmlns:a16="http://schemas.microsoft.com/office/drawing/2014/main" id="{4B05362C-4F9B-4B30-90CB-25B93BF176D7}"/>
              </a:ext>
            </a:extLst>
          </p:cNvPr>
          <p:cNvSpPr>
            <a:spLocks xmlns:a="http://schemas.openxmlformats.org/drawingml/2006/main" noGrp="1"/>
          </p:cNvSpPr>
          <p:nvPr/>
        </p:nvSpPr>
        <p:spPr>
          <a:xfrm xmlns:a="http://schemas.openxmlformats.org/drawingml/2006/main">
            <a:off x="7743825" y="4543425"/>
            <a:ext cx="3867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84F4B"/>
                </a:solidFill>
                <a:latin typeface="Arial"/>
                <a:ea typeface="Arial"/>
                <a:cs typeface="Arial"/>
              </a:defRPr>
            </a:pPr>
            <a:r>
              <a:rPr sz="1575" b="1">
                <a:solidFill>
                  <a:srgbClr val="A84F4B"/>
                </a:solidFill>
                <a:latin typeface="Arial"/>
                <a:ea typeface="Arial"/>
                <a:cs typeface="Arial"/>
              </a:rPr>
              <a:t>Giới hạn</a:t>
            </a:r>
          </a:p>
        </p:txBody>
      </p:sp>
      <p:sp>
        <p:nvSpPr>
          <p:cNvPr id="16" name="V3 scope body">
            <a:extLst xmlns:a="http://schemas.openxmlformats.org/drawingml/2006/main">
              <a:ext uri="{FF2B5EF4-FFF2-40B4-BE49-F238E27FC236}">
                <a16:creationId xmlns:a16="http://schemas.microsoft.com/office/drawing/2014/main" id="{9B6EB2D9-E6B2-42DD-B995-A76F1865FA7F}"/>
              </a:ext>
            </a:extLst>
          </p:cNvPr>
          <p:cNvSpPr>
            <a:spLocks xmlns:a="http://schemas.openxmlformats.org/drawingml/2006/main" noGrp="1"/>
          </p:cNvSpPr>
          <p:nvPr/>
        </p:nvSpPr>
        <p:spPr>
          <a:xfrm xmlns:a="http://schemas.openxmlformats.org/drawingml/2006/main">
            <a:off x="7743825" y="4943475"/>
            <a:ext cx="38576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AP=1 chỉ trên HDFS Validation. Seed 999 Multi-View có sai lệch khôi phục RNG đã công bố.</a:t>
            </a:r>
          </a:p>
        </p:txBody>
      </p:sp>
      <p:sp>
        <p:nvSpPr>
          <p:cNvPr id="17" name="V3 key">
            <a:extLst xmlns:a="http://schemas.openxmlformats.org/drawingml/2006/main">
              <a:ext uri="{FF2B5EF4-FFF2-40B4-BE49-F238E27FC236}">
                <a16:creationId xmlns:a16="http://schemas.microsoft.com/office/drawing/2014/main" id="{62C2E419-7F9C-49D5-8983-B6339A0A2118}"/>
              </a:ext>
            </a:extLst>
          </p:cNvPr>
          <p:cNvSpPr>
            <a:spLocks xmlns:a="http://schemas.openxmlformats.org/drawingml/2006/main" noGrp="1"/>
          </p:cNvSpPr>
          <p:nvPr/>
        </p:nvSpPr>
        <p:spPr>
          <a:xfrm xmlns:a="http://schemas.openxmlformats.org/drawingml/2006/main">
            <a:off x="3267075" y="6067425"/>
            <a:ext cx="8410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B658B"/>
                </a:solidFill>
                <a:latin typeface="Arial"/>
                <a:ea typeface="Arial"/>
                <a:cs typeface="Arial"/>
              </a:defRPr>
            </a:pPr>
            <a:r>
              <a:rPr sz="1425" b="1">
                <a:solidFill>
                  <a:srgbClr val="2B658B"/>
                </a:solidFill>
                <a:latin typeface="Arial"/>
                <a:ea typeface="Arial"/>
                <a:cs typeface="Arial"/>
              </a:rPr>
              <a:t>Câu hỏi tiếp theo: chênh lệch này có vượt biên H2 đã đặt trước không?</a:t>
            </a:r>
          </a:p>
        </p:txBody>
      </p:sp>
    </p:spTree>
    <p:extLst>
      <p:ext uri="{BB962C8B-B14F-4D97-AF65-F5344CB8AC3E}">
        <p14:creationId xmlns:p14="http://schemas.microsoft.com/office/powerpoint/2010/main" val="407197066"/>
      </p:ext>
    </p:extLst>
  </p:cSld>
</p:sld>
</file>

<file path=ppt/slides/slide8.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CAA65B91-673D-4217-A77D-6D0FCA14F923}"/>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H2: phép thử không thua kém</a:t>
            </a:r>
          </a:p>
        </p:txBody>
      </p:sp>
      <p:sp>
        <p:nvSpPr>
          <p:cNvPr id="2" name="subtitle">
            <a:extLst xmlns:a="http://schemas.openxmlformats.org/drawingml/2006/main">
              <a:ext uri="{FF2B5EF4-FFF2-40B4-BE49-F238E27FC236}">
                <a16:creationId xmlns:a16="http://schemas.microsoft.com/office/drawing/2014/main" id="{306CB0D4-6FBE-4E6B-91D7-1A1A1CEDC5D2}"/>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ΔAP = Multi-View − Sequence; biên đặt trước −0,02 AP</a:t>
            </a:r>
          </a:p>
        </p:txBody>
      </p:sp>
      <p:sp>
        <p:nvSpPr>
          <p:cNvPr id="3" name="top line">
            <a:extLst xmlns:a="http://schemas.openxmlformats.org/drawingml/2006/main">
              <a:ext uri="{FF2B5EF4-FFF2-40B4-BE49-F238E27FC236}">
                <a16:creationId xmlns:a16="http://schemas.microsoft.com/office/drawing/2014/main" id="{99C8DB0E-53BA-4AD1-9A4C-1E60F48FF67F}"/>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C785C34F-7915-4E0F-AF96-20DCDD0382DF}"/>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3.2.3; Bảng 3.7, 3.10</a:t>
            </a:r>
          </a:p>
        </p:txBody>
      </p:sp>
      <p:sp>
        <p:nvSpPr>
          <p:cNvPr id="5" name="number">
            <a:extLst xmlns:a="http://schemas.openxmlformats.org/drawingml/2006/main">
              <a:ext uri="{FF2B5EF4-FFF2-40B4-BE49-F238E27FC236}">
                <a16:creationId xmlns:a16="http://schemas.microsoft.com/office/drawing/2014/main" id="{2585758B-8BE4-4B04-B35D-4E0F7F3BDAA2}"/>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08 / 10</a:t>
            </a:r>
          </a:p>
        </p:txBody>
      </p:sp>
      <p:sp>
        <p:nvSpPr>
          <p:cNvPr id="6" name="central node">
            <a:extLst xmlns:a="http://schemas.openxmlformats.org/drawingml/2006/main">
              <a:ext uri="{FF2B5EF4-FFF2-40B4-BE49-F238E27FC236}">
                <a16:creationId xmlns:a16="http://schemas.microsoft.com/office/drawing/2014/main" id="{BD79777D-5B1C-4B20-8D3E-DAD1FA17DFEE}"/>
              </a:ext>
            </a:extLst>
          </p:cNvPr>
          <p:cNvSpPr>
            <a:spLocks xmlns:a="http://schemas.openxmlformats.org/drawingml/2006/main" noGrp="1"/>
          </p:cNvSpPr>
          <p:nvPr/>
        </p:nvSpPr>
        <p:spPr>
          <a:xfrm xmlns:a="http://schemas.openxmlformats.org/drawingml/2006/main">
            <a:off x="514350" y="1581150"/>
            <a:ext cx="2428875" cy="4219575"/>
          </a:xfrm>
          <a:prstGeom xmlns:a="http://schemas.openxmlformats.org/drawingml/2006/main" prst="roundRect">
            <a:avLst>
              <a:gd name="adj" fmla="val 3137"/>
            </a:avLst>
          </a:prstGeom>
          <a:solidFill xmlns:a="http://schemas.openxmlformats.org/drawingml/2006/main">
            <a:srgbClr val="E7F0F5"/>
          </a:solidFill>
          <a:ln xmlns:a="http://schemas.openxmlformats.org/drawingml/2006/main" w="9525">
            <a:solidFill>
              <a:srgbClr val="2B658B"/>
            </a:solidFill>
            <a:prstDash val="solid"/>
          </a:ln>
        </p:spPr>
      </p:sp>
      <p:sp>
        <p:nvSpPr>
          <p:cNvPr id="7" name="side head">
            <a:extLst xmlns:a="http://schemas.openxmlformats.org/drawingml/2006/main">
              <a:ext uri="{FF2B5EF4-FFF2-40B4-BE49-F238E27FC236}">
                <a16:creationId xmlns:a16="http://schemas.microsoft.com/office/drawing/2014/main" id="{CA7AFF60-940E-47FD-B0C8-909D73E62759}"/>
              </a:ext>
            </a:extLst>
          </p:cNvPr>
          <p:cNvSpPr>
            <a:spLocks xmlns:a="http://schemas.openxmlformats.org/drawingml/2006/main" noGrp="1"/>
          </p:cNvSpPr>
          <p:nvPr/>
        </p:nvSpPr>
        <p:spPr>
          <a:xfrm xmlns:a="http://schemas.openxmlformats.org/drawingml/2006/main">
            <a:off x="685800" y="1809750"/>
            <a:ext cx="2095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2B658B"/>
                </a:solidFill>
                <a:latin typeface="Arial"/>
                <a:ea typeface="Arial"/>
                <a:cs typeface="Arial"/>
              </a:defRPr>
            </a:pPr>
            <a:r>
              <a:rPr sz="2025" b="1">
                <a:solidFill>
                  <a:srgbClr val="2B658B"/>
                </a:solidFill>
                <a:latin typeface="Arial"/>
                <a:ea typeface="Arial"/>
                <a:cs typeface="Arial"/>
              </a:rPr>
              <a:t>PHÁN QUYẾT</a:t>
            </a:r>
          </a:p>
        </p:txBody>
      </p:sp>
      <p:sp>
        <p:nvSpPr>
          <p:cNvPr id="8" name="side rule">
            <a:extLst xmlns:a="http://schemas.openxmlformats.org/drawingml/2006/main">
              <a:ext uri="{FF2B5EF4-FFF2-40B4-BE49-F238E27FC236}">
                <a16:creationId xmlns:a16="http://schemas.microsoft.com/office/drawing/2014/main" id="{9A9363BF-7709-407C-A525-46669F6AEE41}"/>
              </a:ext>
            </a:extLst>
          </p:cNvPr>
          <p:cNvSpPr>
            <a:spLocks xmlns:a="http://schemas.openxmlformats.org/drawingml/2006/main" noGrp="1"/>
          </p:cNvSpPr>
          <p:nvPr/>
        </p:nvSpPr>
        <p:spPr>
          <a:xfrm xmlns:a="http://schemas.openxmlformats.org/drawingml/2006/main">
            <a:off x="685800" y="2962275"/>
            <a:ext cx="20955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side body">
            <a:extLst xmlns:a="http://schemas.openxmlformats.org/drawingml/2006/main">
              <a:ext uri="{FF2B5EF4-FFF2-40B4-BE49-F238E27FC236}">
                <a16:creationId xmlns:a16="http://schemas.microsoft.com/office/drawing/2014/main" id="{41CC4C28-697E-4492-8BB3-1AD67101F67D}"/>
              </a:ext>
            </a:extLst>
          </p:cNvPr>
          <p:cNvSpPr>
            <a:spLocks xmlns:a="http://schemas.openxmlformats.org/drawingml/2006/main" noGrp="1"/>
          </p:cNvSpPr>
          <p:nvPr/>
        </p:nvSpPr>
        <p:spPr>
          <a:xfrm xmlns:a="http://schemas.openxmlformats.org/drawingml/2006/main">
            <a:off x="685800" y="3105150"/>
            <a:ext cx="20955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Cả 3 độ lệch âm vượt xa biên −0,02.</a:t>
            </a:r>
          </a:p>
          <a:p xmlns:a="http://schemas.openxmlformats.org/drawingml/2006/main">
            <a:r>
              <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Trung bình ΔAP = −0,3392 ± 0,0885 (SD mẫu).</a:t>
            </a:r>
          </a:p>
          <a:p xmlns:a="http://schemas.openxmlformats.org/drawingml/2006/main">
            <a:r>
              <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H2 không được hỗ trợ trong đối chứng HDFS này.</a:t>
            </a:r>
          </a:p>
        </p:txBody>
      </p:sp>
      <p:graphicFrame>
        <p:nvGraphicFramePr>
          <p:cNvPr id="27" name=""/>
          <p:cNvGraphicFramePr/>
          <p:nvPr/>
        </p:nvGraphicFramePr>
        <p:xfrm>
          <a:off xmlns:a="http://schemas.openxmlformats.org/drawingml/2006/main" x="3267075" y="1581150"/>
          <a:ext xmlns:a="http://schemas.openxmlformats.org/drawingml/2006/main" cx="8410575" cy="2667000"/>
        </p:xfrm>
        <a:graphic xmlns:a="http://schemas.openxmlformats.org/drawingml/2006/main">
          <a:graphicData uri="http://schemas.openxmlformats.org/drawingml/2006/table">
            <a:tbl>
              <a:tblPr firstRow="1" bandRow="0"/>
              <a:tblGrid>
                <a:gridCol w="1047750"/>
                <a:gridCol w="1857375"/>
                <a:gridCol w="1895475"/>
                <a:gridCol w="1381125"/>
                <a:gridCol w="2228850"/>
              </a:tblGrid>
              <a:tr h="666750">
                <a:tc>
                  <a:txBody>
                    <a:bodyPr wrap="square" lIns="76200" tIns="38100" rIns="76200" bIns="38100">
                      <a:noAutofit/>
                    </a:bodyPr>
                    <a:lstStyle/>
                    <a:p>
                      <a:pPr algn="l"/>
                      <a:r>
                        <a:rPr sz="1275" b="1">
                          <a:solidFill>
                            <a:srgbClr val="182C39"/>
                          </a:solidFill>
                          <a:latin typeface="Arial"/>
                          <a:ea typeface="Arial"/>
                          <a:cs typeface="Arial"/>
                        </a:rPr>
                        <a:t>Seed</a:t>
                      </a:r>
                    </a:p>
                  </a:txBody>
                  <a:tcPr marL="91440" marR="91440" marT="45720" marB="45720" anchor="ctr">
                    <a:solidFill>
                      <a:srgbClr val="E7F0F5"/>
                    </a:solidFill>
                  </a:tcPr>
                </a:tc>
                <a:tc>
                  <a:txBody>
                    <a:bodyPr wrap="square" lIns="76200" tIns="38100" rIns="76200" bIns="38100">
                      <a:noAutofit/>
                    </a:bodyPr>
                    <a:lstStyle/>
                    <a:p>
                      <a:pPr algn="l"/>
                      <a:r>
                        <a:rPr sz="1275" b="1">
                          <a:solidFill>
                            <a:srgbClr val="182C39"/>
                          </a:solidFill>
                          <a:latin typeface="Arial"/>
                          <a:ea typeface="Arial"/>
                          <a:cs typeface="Arial"/>
                        </a:rPr>
                        <a:t>Sequence AP</a:t>
                      </a:r>
                    </a:p>
                  </a:txBody>
                  <a:tcPr marL="91440" marR="91440" marT="45720" marB="45720" anchor="ctr">
                    <a:solidFill>
                      <a:srgbClr val="E7F0F5"/>
                    </a:solidFill>
                  </a:tcPr>
                </a:tc>
                <a:tc>
                  <a:txBody>
                    <a:bodyPr wrap="square" lIns="76200" tIns="38100" rIns="76200" bIns="38100">
                      <a:noAutofit/>
                    </a:bodyPr>
                    <a:lstStyle/>
                    <a:p>
                      <a:pPr algn="l"/>
                      <a:r>
                        <a:rPr sz="1275" b="1">
                          <a:solidFill>
                            <a:srgbClr val="182C39"/>
                          </a:solidFill>
                          <a:latin typeface="Arial"/>
                          <a:ea typeface="Arial"/>
                          <a:cs typeface="Arial"/>
                        </a:rPr>
                        <a:t>Multi-View AP</a:t>
                      </a:r>
                    </a:p>
                  </a:txBody>
                  <a:tcPr marL="91440" marR="91440" marT="45720" marB="45720" anchor="ctr">
                    <a:solidFill>
                      <a:srgbClr val="E7F0F5"/>
                    </a:solidFill>
                  </a:tcPr>
                </a:tc>
                <a:tc>
                  <a:txBody>
                    <a:bodyPr wrap="square" lIns="76200" tIns="38100" rIns="76200" bIns="38100">
                      <a:noAutofit/>
                    </a:bodyPr>
                    <a:lstStyle/>
                    <a:p>
                      <a:pPr algn="l"/>
                      <a:r>
                        <a:rPr sz="1275" b="1">
                          <a:solidFill>
                            <a:srgbClr val="182C39"/>
                          </a:solidFill>
                          <a:latin typeface="Arial"/>
                          <a:ea typeface="Arial"/>
                          <a:cs typeface="Arial"/>
                        </a:rPr>
                        <a:t>ΔAP</a:t>
                      </a:r>
                    </a:p>
                  </a:txBody>
                  <a:tcPr marL="91440" marR="91440" marT="45720" marB="45720" anchor="ctr">
                    <a:solidFill>
                      <a:srgbClr val="E7F0F5"/>
                    </a:solidFill>
                  </a:tcPr>
                </a:tc>
                <a:tc>
                  <a:txBody>
                    <a:bodyPr wrap="square" lIns="76200" tIns="38100" rIns="76200" bIns="38100">
                      <a:noAutofit/>
                    </a:bodyPr>
                    <a:lstStyle/>
                    <a:p>
                      <a:pPr algn="l"/>
                      <a:r>
                        <a:rPr sz="1275" b="1">
                          <a:solidFill>
                            <a:srgbClr val="182C39"/>
                          </a:solidFill>
                          <a:latin typeface="Arial"/>
                          <a:ea typeface="Arial"/>
                          <a:cs typeface="Arial"/>
                        </a:rPr>
                        <a:t>Seq. bỏ tham số</a:t>
                      </a:r>
                    </a:p>
                  </a:txBody>
                  <a:tcPr marL="91440" marR="91440" marT="45720" marB="45720" anchor="ctr">
                    <a:solidFill>
                      <a:srgbClr val="E7F0F5"/>
                    </a:solidFill>
                  </a:tcPr>
                </a:tc>
              </a:tr>
              <a:tr h="666750">
                <a:tc>
                  <a:txBody>
                    <a:bodyPr wrap="square" lIns="76200" tIns="38100" rIns="76200" bIns="38100">
                      <a:noAutofit/>
                    </a:bodyPr>
                    <a:lstStyle/>
                    <a:p>
                      <a:pPr algn="l"/>
                      <a:r>
                        <a:rPr sz="1350" b="1">
                          <a:solidFill>
                            <a:srgbClr val="182C39"/>
                          </a:solidFill>
                          <a:latin typeface="Arial"/>
                          <a:ea typeface="Arial"/>
                          <a:cs typeface="Arial"/>
                        </a:rPr>
                        <a:t>42</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1,0000</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0,7604</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−0,2396</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1,0000</a:t>
                      </a:r>
                    </a:p>
                  </a:txBody>
                  <a:tcPr marL="91440" marR="91440" marT="45720" marB="45720" anchor="ctr">
                    <a:solidFill>
                      <a:srgbClr val="FFFFFF"/>
                    </a:solidFill>
                  </a:tcPr>
                </a:tc>
              </a:tr>
              <a:tr h="666750">
                <a:tc>
                  <a:txBody>
                    <a:bodyPr wrap="square" lIns="76200" tIns="38100" rIns="76200" bIns="38100">
                      <a:noAutofit/>
                    </a:bodyPr>
                    <a:lstStyle/>
                    <a:p>
                      <a:pPr algn="l"/>
                      <a:r>
                        <a:rPr sz="1350" b="1">
                          <a:solidFill>
                            <a:srgbClr val="182C39"/>
                          </a:solidFill>
                          <a:latin typeface="Arial"/>
                          <a:ea typeface="Arial"/>
                          <a:cs typeface="Arial"/>
                        </a:rPr>
                        <a:t>7</a:t>
                      </a:r>
                    </a:p>
                  </a:txBody>
                  <a:tcPr marL="91440" marR="91440" marT="45720" marB="45720" anchor="ctr">
                    <a:solidFill>
                      <a:srgbClr val="F2F5F4"/>
                    </a:solidFill>
                  </a:tcPr>
                </a:tc>
                <a:tc>
                  <a:txBody>
                    <a:bodyPr wrap="square" lIns="76200" tIns="38100" rIns="76200" bIns="38100">
                      <a:noAutofit/>
                    </a:bodyPr>
                    <a:lstStyle/>
                    <a:p>
                      <a:pPr algn="l"/>
                      <a:r>
                        <a:rPr sz="1350" b="0">
                          <a:solidFill>
                            <a:srgbClr val="182C39"/>
                          </a:solidFill>
                          <a:latin typeface="Arial"/>
                          <a:ea typeface="Arial"/>
                          <a:cs typeface="Arial"/>
                        </a:rPr>
                        <a:t>1,0000</a:t>
                      </a:r>
                    </a:p>
                  </a:txBody>
                  <a:tcPr marL="91440" marR="91440" marT="45720" marB="45720" anchor="ctr">
                    <a:solidFill>
                      <a:srgbClr val="F2F5F4"/>
                    </a:solidFill>
                  </a:tcPr>
                </a:tc>
                <a:tc>
                  <a:txBody>
                    <a:bodyPr wrap="square" lIns="76200" tIns="38100" rIns="76200" bIns="38100">
                      <a:noAutofit/>
                    </a:bodyPr>
                    <a:lstStyle/>
                    <a:p>
                      <a:pPr algn="l"/>
                      <a:r>
                        <a:rPr sz="1350" b="0">
                          <a:solidFill>
                            <a:srgbClr val="182C39"/>
                          </a:solidFill>
                          <a:latin typeface="Arial"/>
                          <a:ea typeface="Arial"/>
                          <a:cs typeface="Arial"/>
                        </a:rPr>
                        <a:t>0,6309</a:t>
                      </a:r>
                    </a:p>
                  </a:txBody>
                  <a:tcPr marL="91440" marR="91440" marT="45720" marB="45720" anchor="ctr">
                    <a:solidFill>
                      <a:srgbClr val="F2F5F4"/>
                    </a:solidFill>
                  </a:tcPr>
                </a:tc>
                <a:tc>
                  <a:txBody>
                    <a:bodyPr wrap="square" lIns="76200" tIns="38100" rIns="76200" bIns="38100">
                      <a:noAutofit/>
                    </a:bodyPr>
                    <a:lstStyle/>
                    <a:p>
                      <a:pPr algn="l"/>
                      <a:r>
                        <a:rPr sz="1350" b="0">
                          <a:solidFill>
                            <a:srgbClr val="182C39"/>
                          </a:solidFill>
                          <a:latin typeface="Arial"/>
                          <a:ea typeface="Arial"/>
                          <a:cs typeface="Arial"/>
                        </a:rPr>
                        <a:t>−0,3691</a:t>
                      </a:r>
                    </a:p>
                  </a:txBody>
                  <a:tcPr marL="91440" marR="91440" marT="45720" marB="45720" anchor="ctr">
                    <a:solidFill>
                      <a:srgbClr val="F2F5F4"/>
                    </a:solidFill>
                  </a:tcPr>
                </a:tc>
                <a:tc>
                  <a:txBody>
                    <a:bodyPr wrap="square" lIns="76200" tIns="38100" rIns="76200" bIns="38100">
                      <a:noAutofit/>
                    </a:bodyPr>
                    <a:lstStyle/>
                    <a:p>
                      <a:pPr algn="l"/>
                      <a:r>
                        <a:rPr sz="1350" b="0">
                          <a:solidFill>
                            <a:srgbClr val="182C39"/>
                          </a:solidFill>
                          <a:latin typeface="Arial"/>
                          <a:ea typeface="Arial"/>
                          <a:cs typeface="Arial"/>
                        </a:rPr>
                        <a:t>1,0000</a:t>
                      </a:r>
                    </a:p>
                  </a:txBody>
                  <a:tcPr marL="91440" marR="91440" marT="45720" marB="45720" anchor="ctr">
                    <a:solidFill>
                      <a:srgbClr val="F2F5F4"/>
                    </a:solidFill>
                  </a:tcPr>
                </a:tc>
              </a:tr>
              <a:tr h="666750">
                <a:tc>
                  <a:txBody>
                    <a:bodyPr wrap="square" lIns="76200" tIns="38100" rIns="76200" bIns="38100">
                      <a:noAutofit/>
                    </a:bodyPr>
                    <a:lstStyle/>
                    <a:p>
                      <a:pPr algn="l"/>
                      <a:r>
                        <a:rPr sz="1350" b="1">
                          <a:solidFill>
                            <a:srgbClr val="182C39"/>
                          </a:solidFill>
                          <a:latin typeface="Arial"/>
                          <a:ea typeface="Arial"/>
                          <a:cs typeface="Arial"/>
                        </a:rPr>
                        <a:t>999</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1,0000</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0,5911</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−0,4089</a:t>
                      </a:r>
                    </a:p>
                  </a:txBody>
                  <a:tcPr marL="91440" marR="91440" marT="45720" marB="45720" anchor="ctr">
                    <a:solidFill>
                      <a:srgbClr val="FFFFFF"/>
                    </a:solidFill>
                  </a:tcPr>
                </a:tc>
                <a:tc>
                  <a:txBody>
                    <a:bodyPr wrap="square" lIns="76200" tIns="38100" rIns="76200" bIns="38100">
                      <a:noAutofit/>
                    </a:bodyPr>
                    <a:lstStyle/>
                    <a:p>
                      <a:pPr algn="l"/>
                      <a:r>
                        <a:rPr sz="1350" b="0">
                          <a:solidFill>
                            <a:srgbClr val="182C39"/>
                          </a:solidFill>
                          <a:latin typeface="Arial"/>
                          <a:ea typeface="Arial"/>
                          <a:cs typeface="Arial"/>
                        </a:rPr>
                        <a:t>1,0000</a:t>
                      </a:r>
                    </a:p>
                  </a:txBody>
                  <a:tcPr marL="91440" marR="91440" marT="45720" marB="45720" anchor="ctr">
                    <a:solidFill>
                      <a:srgbClr val="FFFFFF"/>
                    </a:solidFill>
                  </a:tcPr>
                </a:tc>
              </a:tr>
            </a:tbl>
          </a:graphicData>
        </a:graphic>
      </p:graphicFrame>
      <p:sp>
        <p:nvSpPr>
          <p:cNvPr id="11" name="H2 logic accent">
            <a:extLst xmlns:a="http://schemas.openxmlformats.org/drawingml/2006/main">
              <a:ext uri="{FF2B5EF4-FFF2-40B4-BE49-F238E27FC236}">
                <a16:creationId xmlns:a16="http://schemas.microsoft.com/office/drawing/2014/main" id="{9401AA80-6402-4883-AD98-09151C8D71FF}"/>
              </a:ext>
            </a:extLst>
          </p:cNvPr>
          <p:cNvSpPr>
            <a:spLocks xmlns:a="http://schemas.openxmlformats.org/drawingml/2006/main" noGrp="1"/>
          </p:cNvSpPr>
          <p:nvPr/>
        </p:nvSpPr>
        <p:spPr>
          <a:xfrm xmlns:a="http://schemas.openxmlformats.org/drawingml/2006/main">
            <a:off x="3267075" y="4524375"/>
            <a:ext cx="47625" cy="1438275"/>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2" name="H2 logic title">
            <a:extLst xmlns:a="http://schemas.openxmlformats.org/drawingml/2006/main">
              <a:ext uri="{FF2B5EF4-FFF2-40B4-BE49-F238E27FC236}">
                <a16:creationId xmlns:a16="http://schemas.microsoft.com/office/drawing/2014/main" id="{5125291D-F809-4459-8CED-F13ACEE6F83A}"/>
              </a:ext>
            </a:extLst>
          </p:cNvPr>
          <p:cNvSpPr>
            <a:spLocks xmlns:a="http://schemas.openxmlformats.org/drawingml/2006/main" noGrp="1"/>
          </p:cNvSpPr>
          <p:nvPr/>
        </p:nvSpPr>
        <p:spPr>
          <a:xfrm xmlns:a="http://schemas.openxmlformats.org/drawingml/2006/main">
            <a:off x="3438525" y="4543425"/>
            <a:ext cx="3667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D746D"/>
                </a:solidFill>
                <a:latin typeface="Arial"/>
                <a:ea typeface="Arial"/>
                <a:cs typeface="Arial"/>
              </a:defRPr>
            </a:pPr>
            <a:r>
              <a:rPr sz="1575" b="1">
                <a:solidFill>
                  <a:srgbClr val="2D746D"/>
                </a:solidFill>
                <a:latin typeface="Arial"/>
                <a:ea typeface="Arial"/>
                <a:cs typeface="Arial"/>
              </a:rPr>
              <a:t>Kiểm tra lời giải thích</a:t>
            </a:r>
          </a:p>
        </p:txBody>
      </p:sp>
      <p:sp>
        <p:nvSpPr>
          <p:cNvPr id="13" name="H2 logic body">
            <a:extLst xmlns:a="http://schemas.openxmlformats.org/drawingml/2006/main">
              <a:ext uri="{FF2B5EF4-FFF2-40B4-BE49-F238E27FC236}">
                <a16:creationId xmlns:a16="http://schemas.microsoft.com/office/drawing/2014/main" id="{2E6BA6C7-CFA5-4498-A98A-011E64E21253}"/>
              </a:ext>
            </a:extLst>
          </p:cNvPr>
          <p:cNvSpPr>
            <a:spLocks xmlns:a="http://schemas.openxmlformats.org/drawingml/2006/main" noGrp="1"/>
          </p:cNvSpPr>
          <p:nvPr/>
        </p:nvSpPr>
        <p:spPr>
          <a:xfrm xmlns:a="http://schemas.openxmlformats.org/drawingml/2006/main">
            <a:off x="3438525" y="4943475"/>
            <a:ext cx="36576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Che tham số Sequence trên cả Train/Validation rồi fit probe mới: AP vẫn 1,0000 ở 3 seed.</a:t>
            </a:r>
          </a:p>
        </p:txBody>
      </p:sp>
      <p:sp>
        <p:nvSpPr>
          <p:cNvPr id="14" name="H2 scope accent">
            <a:extLst xmlns:a="http://schemas.openxmlformats.org/drawingml/2006/main">
              <a:ext uri="{FF2B5EF4-FFF2-40B4-BE49-F238E27FC236}">
                <a16:creationId xmlns:a16="http://schemas.microsoft.com/office/drawing/2014/main" id="{E1E0681F-8B12-4296-AD22-638D886C7290}"/>
              </a:ext>
            </a:extLst>
          </p:cNvPr>
          <p:cNvSpPr>
            <a:spLocks xmlns:a="http://schemas.openxmlformats.org/drawingml/2006/main" noGrp="1"/>
          </p:cNvSpPr>
          <p:nvPr/>
        </p:nvSpPr>
        <p:spPr>
          <a:xfrm xmlns:a="http://schemas.openxmlformats.org/drawingml/2006/main">
            <a:off x="7572375" y="4524375"/>
            <a:ext cx="47625" cy="1438275"/>
          </a:xfrm>
          <a:prstGeom xmlns:a="http://schemas.openxmlformats.org/drawingml/2006/main" prst="rect">
            <a:avLst/>
          </a:prstGeom>
          <a:solidFill xmlns:a="http://schemas.openxmlformats.org/drawingml/2006/main">
            <a:srgbClr val="A84F4B"/>
          </a:solidFill>
          <a:ln xmlns:a="http://schemas.openxmlformats.org/drawingml/2006/main" w="0">
            <a:noFill/>
            <a:prstDash val="solid"/>
          </a:ln>
        </p:spPr>
      </p:sp>
      <p:sp>
        <p:nvSpPr>
          <p:cNvPr id="15" name="H2 scope title">
            <a:extLst xmlns:a="http://schemas.openxmlformats.org/drawingml/2006/main">
              <a:ext uri="{FF2B5EF4-FFF2-40B4-BE49-F238E27FC236}">
                <a16:creationId xmlns:a16="http://schemas.microsoft.com/office/drawing/2014/main" id="{D241CC1A-BBD7-4AD0-9E93-5F3AC90108A1}"/>
              </a:ext>
            </a:extLst>
          </p:cNvPr>
          <p:cNvSpPr>
            <a:spLocks xmlns:a="http://schemas.openxmlformats.org/drawingml/2006/main" noGrp="1"/>
          </p:cNvSpPr>
          <p:nvPr/>
        </p:nvSpPr>
        <p:spPr>
          <a:xfrm xmlns:a="http://schemas.openxmlformats.org/drawingml/2006/main">
            <a:off x="7743825" y="4543425"/>
            <a:ext cx="3867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84F4B"/>
                </a:solidFill>
                <a:latin typeface="Arial"/>
                <a:ea typeface="Arial"/>
                <a:cs typeface="Arial"/>
              </a:defRPr>
            </a:pPr>
            <a:r>
              <a:rPr sz="1575" b="1">
                <a:solidFill>
                  <a:srgbClr val="A84F4B"/>
                </a:solidFill>
                <a:latin typeface="Arial"/>
                <a:ea typeface="Arial"/>
                <a:cs typeface="Arial"/>
              </a:rPr>
              <a:t>Giới hạn suy luận</a:t>
            </a:r>
          </a:p>
        </p:txBody>
      </p:sp>
      <p:sp>
        <p:nvSpPr>
          <p:cNvPr id="16" name="H2 scope body">
            <a:extLst xmlns:a="http://schemas.openxmlformats.org/drawingml/2006/main">
              <a:ext uri="{FF2B5EF4-FFF2-40B4-BE49-F238E27FC236}">
                <a16:creationId xmlns:a16="http://schemas.microsoft.com/office/drawing/2014/main" id="{10B93A2D-A526-467B-88E8-A0F57E5B4535}"/>
              </a:ext>
            </a:extLst>
          </p:cNvPr>
          <p:cNvSpPr>
            <a:spLocks xmlns:a="http://schemas.openxmlformats.org/drawingml/2006/main" noGrp="1"/>
          </p:cNvSpPr>
          <p:nvPr/>
        </p:nvSpPr>
        <p:spPr>
          <a:xfrm xmlns:a="http://schemas.openxmlformats.org/drawingml/2006/main">
            <a:off x="7743825" y="4943475"/>
            <a:ext cx="38576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n=3; không suy ra ý nghĩa thống kê rộng, nguyên nhân cụ thể hay mọi dữ liệu/kiến trúc.</a:t>
            </a:r>
          </a:p>
        </p:txBody>
      </p:sp>
      <p:sp>
        <p:nvSpPr>
          <p:cNvPr id="17" name="H2 key">
            <a:extLst xmlns:a="http://schemas.openxmlformats.org/drawingml/2006/main">
              <a:ext uri="{FF2B5EF4-FFF2-40B4-BE49-F238E27FC236}">
                <a16:creationId xmlns:a16="http://schemas.microsoft.com/office/drawing/2014/main" id="{7B657D25-0324-41CE-A7FD-A1C8BB0C7016}"/>
              </a:ext>
            </a:extLst>
          </p:cNvPr>
          <p:cNvSpPr>
            <a:spLocks xmlns:a="http://schemas.openxmlformats.org/drawingml/2006/main" noGrp="1"/>
          </p:cNvSpPr>
          <p:nvPr/>
        </p:nvSpPr>
        <p:spPr>
          <a:xfrm xmlns:a="http://schemas.openxmlformats.org/drawingml/2006/main">
            <a:off x="3267075" y="6067425"/>
            <a:ext cx="8410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B658B"/>
                </a:solidFill>
                <a:latin typeface="Arial"/>
                <a:ea typeface="Arial"/>
                <a:cs typeface="Arial"/>
              </a:defRPr>
            </a:pPr>
            <a:r>
              <a:rPr sz="1425" b="1">
                <a:solidFill>
                  <a:srgbClr val="2B658B"/>
                </a:solidFill>
                <a:latin typeface="Arial"/>
                <a:ea typeface="Arial"/>
                <a:cs typeface="Arial"/>
              </a:rPr>
              <a:t>Kết quả âm tính là kết quả của phép đối chứng, không phải lỗi cần che giấu.</a:t>
            </a:r>
          </a:p>
        </p:txBody>
      </p:sp>
    </p:spTree>
    <p:extLst>
      <p:ext uri="{BB962C8B-B14F-4D97-AF65-F5344CB8AC3E}">
        <p14:creationId xmlns:p14="http://schemas.microsoft.com/office/powerpoint/2010/main" val="942568562"/>
      </p:ext>
    </p:extLst>
  </p:cSld>
</p:sld>
</file>

<file path=ppt/slides/slide9.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83A20DE3-E833-40FD-A126-1837BEF8D872}"/>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H1: đúng cấp độ đo mới trả lời đúng câu hỏi</a:t>
            </a:r>
          </a:p>
        </p:txBody>
      </p:sp>
      <p:sp>
        <p:nvSpPr>
          <p:cNvPr id="2" name="subtitle">
            <a:extLst xmlns:a="http://schemas.openxmlformats.org/drawingml/2006/main">
              <a:ext uri="{FF2B5EF4-FFF2-40B4-BE49-F238E27FC236}">
                <a16:creationId xmlns:a16="http://schemas.microsoft.com/office/drawing/2014/main" id="{F9D8D1C9-092F-4E32-875B-60828E228849}"/>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Mục tiêu tham số cấp token/khe; vector đánh giá gộp cấp phiên 128 chiều</a:t>
            </a:r>
          </a:p>
        </p:txBody>
      </p:sp>
      <p:sp>
        <p:nvSpPr>
          <p:cNvPr id="3" name="top line">
            <a:extLst xmlns:a="http://schemas.openxmlformats.org/drawingml/2006/main">
              <a:ext uri="{FF2B5EF4-FFF2-40B4-BE49-F238E27FC236}">
                <a16:creationId xmlns:a16="http://schemas.microsoft.com/office/drawing/2014/main" id="{8D800AA8-7CE7-4883-84F2-BC31DDA33D72}"/>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ACE888A2-0C6B-4DCE-AC52-6028EBD5B853}"/>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3.2.3; Bảng 3.8–3.9</a:t>
            </a:r>
          </a:p>
        </p:txBody>
      </p:sp>
      <p:sp>
        <p:nvSpPr>
          <p:cNvPr id="5" name="number">
            <a:extLst xmlns:a="http://schemas.openxmlformats.org/drawingml/2006/main">
              <a:ext uri="{FF2B5EF4-FFF2-40B4-BE49-F238E27FC236}">
                <a16:creationId xmlns:a16="http://schemas.microsoft.com/office/drawing/2014/main" id="{69DD9754-12F3-4CF7-9F6D-977298BB65C0}"/>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09 / 10</a:t>
            </a:r>
          </a:p>
        </p:txBody>
      </p:sp>
      <p:sp>
        <p:nvSpPr>
          <p:cNvPr id="6" name="central node">
            <a:extLst xmlns:a="http://schemas.openxmlformats.org/drawingml/2006/main">
              <a:ext uri="{FF2B5EF4-FFF2-40B4-BE49-F238E27FC236}">
                <a16:creationId xmlns:a16="http://schemas.microsoft.com/office/drawing/2014/main" id="{8C0C0D43-1E37-498B-B084-19AAA9535651}"/>
              </a:ext>
            </a:extLst>
          </p:cNvPr>
          <p:cNvSpPr>
            <a:spLocks xmlns:a="http://schemas.openxmlformats.org/drawingml/2006/main" noGrp="1"/>
          </p:cNvSpPr>
          <p:nvPr/>
        </p:nvSpPr>
        <p:spPr>
          <a:xfrm xmlns:a="http://schemas.openxmlformats.org/drawingml/2006/main">
            <a:off x="514350" y="1581150"/>
            <a:ext cx="2428875" cy="4219575"/>
          </a:xfrm>
          <a:prstGeom xmlns:a="http://schemas.openxmlformats.org/drawingml/2006/main" prst="roundRect">
            <a:avLst>
              <a:gd name="adj" fmla="val 3137"/>
            </a:avLst>
          </a:prstGeom>
          <a:solidFill xmlns:a="http://schemas.openxmlformats.org/drawingml/2006/main">
            <a:srgbClr val="E7F0F5"/>
          </a:solidFill>
          <a:ln xmlns:a="http://schemas.openxmlformats.org/drawingml/2006/main" w="9525">
            <a:solidFill>
              <a:srgbClr val="2B658B"/>
            </a:solidFill>
            <a:prstDash val="solid"/>
          </a:ln>
        </p:spPr>
      </p:sp>
      <p:sp>
        <p:nvSpPr>
          <p:cNvPr id="7" name="side head">
            <a:extLst xmlns:a="http://schemas.openxmlformats.org/drawingml/2006/main">
              <a:ext uri="{FF2B5EF4-FFF2-40B4-BE49-F238E27FC236}">
                <a16:creationId xmlns:a16="http://schemas.microsoft.com/office/drawing/2014/main" id="{F1D6B3CE-1158-475B-9265-1248FB93F8E5}"/>
              </a:ext>
            </a:extLst>
          </p:cNvPr>
          <p:cNvSpPr>
            <a:spLocks xmlns:a="http://schemas.openxmlformats.org/drawingml/2006/main" noGrp="1"/>
          </p:cNvSpPr>
          <p:nvPr/>
        </p:nvSpPr>
        <p:spPr>
          <a:xfrm xmlns:a="http://schemas.openxmlformats.org/drawingml/2006/main">
            <a:off x="685800" y="1809750"/>
            <a:ext cx="2095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2B658B"/>
                </a:solidFill>
                <a:latin typeface="Arial"/>
                <a:ea typeface="Arial"/>
                <a:cs typeface="Arial"/>
              </a:defRPr>
            </a:pPr>
            <a:r>
              <a:rPr sz="2025" b="1">
                <a:solidFill>
                  <a:srgbClr val="2B658B"/>
                </a:solidFill>
                <a:latin typeface="Arial"/>
                <a:ea typeface="Arial"/>
                <a:cs typeface="Arial"/>
              </a:rPr>
              <a:t>CHƯA ĐO TRỰC TIẾP</a:t>
            </a:r>
          </a:p>
        </p:txBody>
      </p:sp>
      <p:sp>
        <p:nvSpPr>
          <p:cNvPr id="8" name="side rule">
            <a:extLst xmlns:a="http://schemas.openxmlformats.org/drawingml/2006/main">
              <a:ext uri="{FF2B5EF4-FFF2-40B4-BE49-F238E27FC236}">
                <a16:creationId xmlns:a16="http://schemas.microsoft.com/office/drawing/2014/main" id="{AFA2B726-3527-49E3-AE71-1D4FA4A90953}"/>
              </a:ext>
            </a:extLst>
          </p:cNvPr>
          <p:cNvSpPr>
            <a:spLocks xmlns:a="http://schemas.openxmlformats.org/drawingml/2006/main" noGrp="1"/>
          </p:cNvSpPr>
          <p:nvPr/>
        </p:nvSpPr>
        <p:spPr>
          <a:xfrm xmlns:a="http://schemas.openxmlformats.org/drawingml/2006/main">
            <a:off x="685800" y="2962275"/>
            <a:ext cx="20955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side body">
            <a:extLst xmlns:a="http://schemas.openxmlformats.org/drawingml/2006/main">
              <a:ext uri="{FF2B5EF4-FFF2-40B4-BE49-F238E27FC236}">
                <a16:creationId xmlns:a16="http://schemas.microsoft.com/office/drawing/2014/main" id="{7ABBD595-20BA-4BE1-8C25-C117C305F365}"/>
              </a:ext>
            </a:extLst>
          </p:cNvPr>
          <p:cNvSpPr>
            <a:spLocks xmlns:a="http://schemas.openxmlformats.org/drawingml/2006/main" noGrp="1"/>
          </p:cNvSpPr>
          <p:nvPr/>
        </p:nvSpPr>
        <p:spPr>
          <a:xfrm xmlns:a="http://schemas.openxmlformats.org/drawingml/2006/main">
            <a:off x="685800" y="3105150"/>
            <a:ext cx="20955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Nhãn tham số [Lᵢ,4] và vector phiên 128 chiều khác độ mịn.</a:t>
            </a:r>
          </a:p>
          <a:p xmlns:a="http://schemas.openxmlformats.org/drawingml/2006/main">
            <a:r>
              <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Che tham số là phép quan sát phụ, không chứng minh “hiểu ngữ nghĩa”.</a:t>
            </a:r>
          </a:p>
        </p:txBody>
      </p:sp>
      <p:graphicFrame>
        <p:nvGraphicFramePr>
          <p:cNvPr id="27" name=""/>
          <p:cNvGraphicFramePr/>
          <p:nvPr/>
        </p:nvGraphicFramePr>
        <p:xfrm>
          <a:off xmlns:a="http://schemas.openxmlformats.org/drawingml/2006/main" x="3267075" y="1581150"/>
          <a:ext xmlns:a="http://schemas.openxmlformats.org/drawingml/2006/main" cx="8410575" cy="2657475"/>
        </p:xfrm>
        <a:graphic xmlns:a="http://schemas.openxmlformats.org/drawingml/2006/main">
          <a:graphicData uri="http://schemas.openxmlformats.org/drawingml/2006/table">
            <a:tbl>
              <a:tblPr firstRow="1" bandRow="0"/>
              <a:tblGrid>
                <a:gridCol w="1066800"/>
                <a:gridCol w="1476375"/>
                <a:gridCol w="1495425"/>
                <a:gridCol w="4371975"/>
              </a:tblGrid>
              <a:tr h="664369">
                <a:tc>
                  <a:txBody>
                    <a:bodyPr wrap="square" lIns="76200" tIns="38100" rIns="76200" bIns="38100">
                      <a:noAutofit/>
                    </a:bodyPr>
                    <a:lstStyle/>
                    <a:p>
                      <a:pPr algn="l"/>
                      <a:r>
                        <a:rPr sz="1350" b="1">
                          <a:solidFill>
                            <a:srgbClr val="182C39"/>
                          </a:solidFill>
                          <a:latin typeface="Arial"/>
                          <a:ea typeface="Arial"/>
                          <a:cs typeface="Arial"/>
                        </a:rPr>
                        <a:t>Seed</a:t>
                      </a:r>
                    </a:p>
                  </a:txBody>
                  <a:tcPr marL="91440" marR="91440" marT="45720" marB="45720" anchor="ctr">
                    <a:solidFill>
                      <a:srgbClr val="E7F0F5"/>
                    </a:solidFill>
                  </a:tcPr>
                </a:tc>
                <a:tc>
                  <a:txBody>
                    <a:bodyPr wrap="square" lIns="76200" tIns="38100" rIns="76200" bIns="38100">
                      <a:noAutofit/>
                    </a:bodyPr>
                    <a:lstStyle/>
                    <a:p>
                      <a:pPr algn="l"/>
                      <a:r>
                        <a:rPr sz="1350" b="1">
                          <a:solidFill>
                            <a:srgbClr val="182C39"/>
                          </a:solidFill>
                          <a:latin typeface="Arial"/>
                          <a:ea typeface="Arial"/>
                          <a:cs typeface="Arial"/>
                        </a:rPr>
                        <a:t>Cosine</a:t>
                      </a:r>
                    </a:p>
                  </a:txBody>
                  <a:tcPr marL="91440" marR="91440" marT="45720" marB="45720" anchor="ctr">
                    <a:solidFill>
                      <a:srgbClr val="E7F0F5"/>
                    </a:solidFill>
                  </a:tcPr>
                </a:tc>
                <a:tc>
                  <a:txBody>
                    <a:bodyPr wrap="square" lIns="76200" tIns="38100" rIns="76200" bIns="38100">
                      <a:noAutofit/>
                    </a:bodyPr>
                    <a:lstStyle/>
                    <a:p>
                      <a:pPr algn="l"/>
                      <a:r>
                        <a:rPr sz="1350" b="1">
                          <a:solidFill>
                            <a:srgbClr val="182C39"/>
                          </a:solidFill>
                          <a:latin typeface="Arial"/>
                          <a:ea typeface="Arial"/>
                          <a:cs typeface="Arial"/>
                        </a:rPr>
                        <a:t>L2</a:t>
                      </a:r>
                    </a:p>
                  </a:txBody>
                  <a:tcPr marL="91440" marR="91440" marT="45720" marB="45720" anchor="ctr">
                    <a:solidFill>
                      <a:srgbClr val="E7F0F5"/>
                    </a:solidFill>
                  </a:tcPr>
                </a:tc>
                <a:tc>
                  <a:txBody>
                    <a:bodyPr wrap="square" lIns="76200" tIns="38100" rIns="76200" bIns="38100">
                      <a:noAutofit/>
                    </a:bodyPr>
                    <a:lstStyle/>
                    <a:p>
                      <a:pPr algn="l"/>
                      <a:r>
                        <a:rPr sz="1350" b="1">
                          <a:solidFill>
                            <a:srgbClr val="182C39"/>
                          </a:solidFill>
                          <a:latin typeface="Arial"/>
                          <a:ea typeface="Arial"/>
                          <a:cs typeface="Arial"/>
                        </a:rPr>
                        <a:t>AP có / che tham số</a:t>
                      </a:r>
                    </a:p>
                  </a:txBody>
                  <a:tcPr marL="91440" marR="91440" marT="45720" marB="45720" anchor="ctr">
                    <a:solidFill>
                      <a:srgbClr val="E7F0F5"/>
                    </a:solidFill>
                  </a:tcPr>
                </a:tc>
              </a:tr>
              <a:tr h="664369">
                <a:tc>
                  <a:txBody>
                    <a:bodyPr wrap="square" lIns="76200" tIns="38100" rIns="76200" bIns="38100">
                      <a:noAutofit/>
                    </a:bodyPr>
                    <a:lstStyle/>
                    <a:p>
                      <a:pPr algn="l"/>
                      <a:r>
                        <a:rPr sz="1425" b="1">
                          <a:solidFill>
                            <a:srgbClr val="182C39"/>
                          </a:solidFill>
                          <a:latin typeface="Arial"/>
                          <a:ea typeface="Arial"/>
                          <a:cs typeface="Arial"/>
                        </a:rPr>
                        <a:t>42</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0,9581</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3,2742</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1,0000 / 1,0000</a:t>
                      </a:r>
                    </a:p>
                  </a:txBody>
                  <a:tcPr marL="91440" marR="91440" marT="45720" marB="45720" anchor="ctr">
                    <a:solidFill>
                      <a:srgbClr val="FFFFFF"/>
                    </a:solidFill>
                  </a:tcPr>
                </a:tc>
              </a:tr>
              <a:tr h="664369">
                <a:tc>
                  <a:txBody>
                    <a:bodyPr wrap="square" lIns="76200" tIns="38100" rIns="76200" bIns="38100">
                      <a:noAutofit/>
                    </a:bodyPr>
                    <a:lstStyle/>
                    <a:p>
                      <a:pPr algn="l"/>
                      <a:r>
                        <a:rPr sz="1425" b="1">
                          <a:solidFill>
                            <a:srgbClr val="182C39"/>
                          </a:solidFill>
                          <a:latin typeface="Arial"/>
                          <a:ea typeface="Arial"/>
                          <a:cs typeface="Arial"/>
                        </a:rPr>
                        <a:t>7</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0,8201</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6,7778</a:t>
                      </a:r>
                    </a:p>
                  </a:txBody>
                  <a:tcPr marL="91440" marR="91440" marT="45720" marB="45720" anchor="ctr">
                    <a:solidFill>
                      <a:srgbClr val="F2F5F4"/>
                    </a:solidFill>
                  </a:tcPr>
                </a:tc>
                <a:tc>
                  <a:txBody>
                    <a:bodyPr wrap="square" lIns="76200" tIns="38100" rIns="76200" bIns="38100">
                      <a:noAutofit/>
                    </a:bodyPr>
                    <a:lstStyle/>
                    <a:p>
                      <a:pPr algn="l"/>
                      <a:r>
                        <a:rPr sz="1425" b="0">
                          <a:solidFill>
                            <a:srgbClr val="182C39"/>
                          </a:solidFill>
                          <a:latin typeface="Arial"/>
                          <a:ea typeface="Arial"/>
                          <a:cs typeface="Arial"/>
                        </a:rPr>
                        <a:t>1,0000 / 1,0000</a:t>
                      </a:r>
                    </a:p>
                  </a:txBody>
                  <a:tcPr marL="91440" marR="91440" marT="45720" marB="45720" anchor="ctr">
                    <a:solidFill>
                      <a:srgbClr val="F2F5F4"/>
                    </a:solidFill>
                  </a:tcPr>
                </a:tc>
              </a:tr>
              <a:tr h="664369">
                <a:tc>
                  <a:txBody>
                    <a:bodyPr wrap="square" lIns="76200" tIns="38100" rIns="76200" bIns="38100">
                      <a:noAutofit/>
                    </a:bodyPr>
                    <a:lstStyle/>
                    <a:p>
                      <a:pPr algn="l"/>
                      <a:r>
                        <a:rPr sz="1425" b="1">
                          <a:solidFill>
                            <a:srgbClr val="182C39"/>
                          </a:solidFill>
                          <a:latin typeface="Arial"/>
                          <a:ea typeface="Arial"/>
                          <a:cs typeface="Arial"/>
                        </a:rPr>
                        <a:t>999</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0,9546</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3,4056</a:t>
                      </a:r>
                    </a:p>
                  </a:txBody>
                  <a:tcPr marL="91440" marR="91440" marT="45720" marB="45720" anchor="ctr">
                    <a:solidFill>
                      <a:srgbClr val="FFFFFF"/>
                    </a:solidFill>
                  </a:tcPr>
                </a:tc>
                <a:tc>
                  <a:txBody>
                    <a:bodyPr wrap="square" lIns="76200" tIns="38100" rIns="76200" bIns="38100">
                      <a:noAutofit/>
                    </a:bodyPr>
                    <a:lstStyle/>
                    <a:p>
                      <a:pPr algn="l"/>
                      <a:r>
                        <a:rPr sz="1425" b="0">
                          <a:solidFill>
                            <a:srgbClr val="182C39"/>
                          </a:solidFill>
                          <a:latin typeface="Arial"/>
                          <a:ea typeface="Arial"/>
                          <a:cs typeface="Arial"/>
                        </a:rPr>
                        <a:t>1,0000 / 1,0000</a:t>
                      </a:r>
                    </a:p>
                  </a:txBody>
                  <a:tcPr marL="91440" marR="91440" marT="45720" marB="45720" anchor="ctr">
                    <a:solidFill>
                      <a:srgbClr val="FFFFFF"/>
                    </a:solidFill>
                  </a:tcPr>
                </a:tc>
              </a:tr>
            </a:tbl>
          </a:graphicData>
        </a:graphic>
      </p:graphicFrame>
      <p:sp>
        <p:nvSpPr>
          <p:cNvPr id="11" name="H1 result accent">
            <a:extLst xmlns:a="http://schemas.openxmlformats.org/drawingml/2006/main">
              <a:ext uri="{FF2B5EF4-FFF2-40B4-BE49-F238E27FC236}">
                <a16:creationId xmlns:a16="http://schemas.microsoft.com/office/drawing/2014/main" id="{C81734F3-07DA-495F-82DE-334307C495A0}"/>
              </a:ext>
            </a:extLst>
          </p:cNvPr>
          <p:cNvSpPr>
            <a:spLocks xmlns:a="http://schemas.openxmlformats.org/drawingml/2006/main" noGrp="1"/>
          </p:cNvSpPr>
          <p:nvPr/>
        </p:nvSpPr>
        <p:spPr>
          <a:xfrm xmlns:a="http://schemas.openxmlformats.org/drawingml/2006/main">
            <a:off x="3267075" y="4524375"/>
            <a:ext cx="47625" cy="1438275"/>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2" name="H1 result title">
            <a:extLst xmlns:a="http://schemas.openxmlformats.org/drawingml/2006/main">
              <a:ext uri="{FF2B5EF4-FFF2-40B4-BE49-F238E27FC236}">
                <a16:creationId xmlns:a16="http://schemas.microsoft.com/office/drawing/2014/main" id="{FE4307DA-ED80-401C-AB46-9E489CC0760C}"/>
              </a:ext>
            </a:extLst>
          </p:cNvPr>
          <p:cNvSpPr>
            <a:spLocks xmlns:a="http://schemas.openxmlformats.org/drawingml/2006/main" noGrp="1"/>
          </p:cNvSpPr>
          <p:nvPr/>
        </p:nvSpPr>
        <p:spPr>
          <a:xfrm xmlns:a="http://schemas.openxmlformats.org/drawingml/2006/main">
            <a:off x="3438525" y="4543425"/>
            <a:ext cx="3667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D746D"/>
                </a:solidFill>
                <a:latin typeface="Arial"/>
                <a:ea typeface="Arial"/>
                <a:cs typeface="Arial"/>
              </a:defRPr>
            </a:pPr>
            <a:r>
              <a:rPr sz="1575" b="1">
                <a:solidFill>
                  <a:srgbClr val="2D746D"/>
                </a:solidFill>
                <a:latin typeface="Arial"/>
                <a:ea typeface="Arial"/>
                <a:cs typeface="Arial"/>
              </a:rPr>
              <a:t>Điều quan sát được</a:t>
            </a:r>
          </a:p>
        </p:txBody>
      </p:sp>
      <p:sp>
        <p:nvSpPr>
          <p:cNvPr id="13" name="H1 result body">
            <a:extLst xmlns:a="http://schemas.openxmlformats.org/drawingml/2006/main">
              <a:ext uri="{FF2B5EF4-FFF2-40B4-BE49-F238E27FC236}">
                <a16:creationId xmlns:a16="http://schemas.microsoft.com/office/drawing/2014/main" id="{C212D03E-89A0-400B-8BFB-2AFA9BC3C5BD}"/>
              </a:ext>
            </a:extLst>
          </p:cNvPr>
          <p:cNvSpPr>
            <a:spLocks xmlns:a="http://schemas.openxmlformats.org/drawingml/2006/main" noGrp="1"/>
          </p:cNvSpPr>
          <p:nvPr/>
        </p:nvSpPr>
        <p:spPr>
          <a:xfrm xmlns:a="http://schemas.openxmlformats.org/drawingml/2006/main">
            <a:off x="3438525" y="4943475"/>
            <a:ext cx="36576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Vector đổi khi che tham số; AP phát hiện bất thường trong phép thử này không đổi.</a:t>
            </a:r>
          </a:p>
        </p:txBody>
      </p:sp>
      <p:sp>
        <p:nvSpPr>
          <p:cNvPr id="14" name="H1 repro accent">
            <a:extLst xmlns:a="http://schemas.openxmlformats.org/drawingml/2006/main">
              <a:ext uri="{FF2B5EF4-FFF2-40B4-BE49-F238E27FC236}">
                <a16:creationId xmlns:a16="http://schemas.microsoft.com/office/drawing/2014/main" id="{24DF0742-87BC-489E-8B2F-C938F06918CA}"/>
              </a:ext>
            </a:extLst>
          </p:cNvPr>
          <p:cNvSpPr>
            <a:spLocks xmlns:a="http://schemas.openxmlformats.org/drawingml/2006/main" noGrp="1"/>
          </p:cNvSpPr>
          <p:nvPr/>
        </p:nvSpPr>
        <p:spPr>
          <a:xfrm xmlns:a="http://schemas.openxmlformats.org/drawingml/2006/main">
            <a:off x="7572375" y="4524375"/>
            <a:ext cx="47625" cy="1438275"/>
          </a:xfrm>
          <a:prstGeom xmlns:a="http://schemas.openxmlformats.org/drawingml/2006/main" prst="rect">
            <a:avLst/>
          </a:prstGeom>
          <a:solidFill xmlns:a="http://schemas.openxmlformats.org/drawingml/2006/main">
            <a:srgbClr val="A3692D"/>
          </a:solidFill>
          <a:ln xmlns:a="http://schemas.openxmlformats.org/drawingml/2006/main" w="0">
            <a:noFill/>
            <a:prstDash val="solid"/>
          </a:ln>
        </p:spPr>
      </p:sp>
      <p:sp>
        <p:nvSpPr>
          <p:cNvPr id="15" name="H1 repro title">
            <a:extLst xmlns:a="http://schemas.openxmlformats.org/drawingml/2006/main">
              <a:ext uri="{FF2B5EF4-FFF2-40B4-BE49-F238E27FC236}">
                <a16:creationId xmlns:a16="http://schemas.microsoft.com/office/drawing/2014/main" id="{E6A3031D-6FD3-4CDB-BD4D-A10F74FF64DA}"/>
              </a:ext>
            </a:extLst>
          </p:cNvPr>
          <p:cNvSpPr>
            <a:spLocks xmlns:a="http://schemas.openxmlformats.org/drawingml/2006/main" noGrp="1"/>
          </p:cNvSpPr>
          <p:nvPr/>
        </p:nvSpPr>
        <p:spPr>
          <a:xfrm xmlns:a="http://schemas.openxmlformats.org/drawingml/2006/main">
            <a:off x="7743825" y="4543425"/>
            <a:ext cx="3867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3692D"/>
                </a:solidFill>
                <a:latin typeface="Arial"/>
                <a:ea typeface="Arial"/>
                <a:cs typeface="Arial"/>
              </a:defRPr>
            </a:pPr>
            <a:r>
              <a:rPr sz="1575" b="1">
                <a:solidFill>
                  <a:srgbClr val="A3692D"/>
                </a:solidFill>
                <a:latin typeface="Arial"/>
                <a:ea typeface="Arial"/>
                <a:cs typeface="Arial"/>
              </a:rPr>
              <a:t>Tái lập seed 42</a:t>
            </a:r>
          </a:p>
        </p:txBody>
      </p:sp>
      <p:sp>
        <p:nvSpPr>
          <p:cNvPr id="16" name="H1 repro body">
            <a:extLst xmlns:a="http://schemas.openxmlformats.org/drawingml/2006/main">
              <a:ext uri="{FF2B5EF4-FFF2-40B4-BE49-F238E27FC236}">
                <a16:creationId xmlns:a16="http://schemas.microsoft.com/office/drawing/2014/main" id="{F50091A4-89E3-48E4-92AD-D810C722CA68}"/>
              </a:ext>
            </a:extLst>
          </p:cNvPr>
          <p:cNvSpPr>
            <a:spLocks xmlns:a="http://schemas.openxmlformats.org/drawingml/2006/main" noGrp="1"/>
          </p:cNvSpPr>
          <p:nvPr/>
        </p:nvSpPr>
        <p:spPr>
          <a:xfrm xmlns:a="http://schemas.openxmlformats.org/drawingml/2006/main">
            <a:off x="7743825" y="4943475"/>
            <a:ext cx="38576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6 epoch; tốt nhất epoch 3; loss 0,009218; VRAM 170,45 MB. AP 0,899385 và 1,0000 thuộc hai giao thức probe khác nhau.</a:t>
            </a:r>
          </a:p>
        </p:txBody>
      </p:sp>
      <p:sp>
        <p:nvSpPr>
          <p:cNvPr id="17" name="H1 key">
            <a:extLst xmlns:a="http://schemas.openxmlformats.org/drawingml/2006/main">
              <a:ext uri="{FF2B5EF4-FFF2-40B4-BE49-F238E27FC236}">
                <a16:creationId xmlns:a16="http://schemas.microsoft.com/office/drawing/2014/main" id="{F65A8066-6E7A-436B-9B83-F8CAF7B94C83}"/>
              </a:ext>
            </a:extLst>
          </p:cNvPr>
          <p:cNvSpPr>
            <a:spLocks xmlns:a="http://schemas.openxmlformats.org/drawingml/2006/main" noGrp="1"/>
          </p:cNvSpPr>
          <p:nvPr/>
        </p:nvSpPr>
        <p:spPr>
          <a:xfrm xmlns:a="http://schemas.openxmlformats.org/drawingml/2006/main">
            <a:off x="3267075" y="6067425"/>
            <a:ext cx="8410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A84F4B"/>
                </a:solidFill>
                <a:latin typeface="Arial"/>
                <a:ea typeface="Arial"/>
                <a:cs typeface="Arial"/>
              </a:defRPr>
            </a:pPr>
            <a:r>
              <a:rPr sz="1425" b="1">
                <a:solidFill>
                  <a:srgbClr val="A84F4B"/>
                </a:solidFill>
                <a:latin typeface="Arial"/>
                <a:ea typeface="Arial"/>
                <a:cs typeface="Arial"/>
              </a:rPr>
              <a:t>Cần biểu diễn và nhãn cùng cấp token để kiểm tra H1 theo phát biểu ban đầu.</a:t>
            </a:r>
          </a:p>
        </p:txBody>
      </p:sp>
    </p:spTree>
    <p:extLst>
      <p:ext uri="{BB962C8B-B14F-4D97-AF65-F5344CB8AC3E}">
        <p14:creationId xmlns:p14="http://schemas.microsoft.com/office/powerpoint/2010/main" val="1534334197"/>
      </p:ext>
    </p:extLst>
  </p:cSld>
</p:sld>
</file>

<file path=ppt/slides/slide10.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31" name="title">
            <a:extLst xmlns:a="http://schemas.openxmlformats.org/drawingml/2006/main">
              <a:ext uri="{FF2B5EF4-FFF2-40B4-BE49-F238E27FC236}">
                <a16:creationId xmlns:a16="http://schemas.microsoft.com/office/drawing/2014/main" id="{79D0DBD9-70E8-4F91-AB85-DE1CBE0447E3}"/>
              </a:ext>
            </a:extLst>
          </p:cNvPr>
          <p:cNvSpPr>
            <a:spLocks xmlns:a="http://schemas.openxmlformats.org/drawingml/2006/main" noGrp="1"/>
          </p:cNvSpPr>
          <p:nvPr/>
        </p:nvSpPr>
        <p:spPr>
          <a:xfrm xmlns:a="http://schemas.openxmlformats.org/drawingml/2006/main">
            <a:off x="514350" y="2476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82C39"/>
                </a:solidFill>
                <a:latin typeface="Arial"/>
                <a:ea typeface="Arial"/>
                <a:cs typeface="Arial"/>
              </a:defRPr>
            </a:pPr>
            <a:r>
              <a:rPr sz="2925" b="1">
                <a:solidFill>
                  <a:srgbClr val="182C39"/>
                </a:solidFill>
                <a:latin typeface="Arial"/>
                <a:ea typeface="Arial"/>
                <a:cs typeface="Arial"/>
              </a:rPr>
              <a:t>Kết luận: phần đã chứng minh và phần chưa</a:t>
            </a:r>
          </a:p>
        </p:txBody>
      </p:sp>
      <p:sp>
        <p:nvSpPr>
          <p:cNvPr id="2" name="subtitle">
            <a:extLst xmlns:a="http://schemas.openxmlformats.org/drawingml/2006/main">
              <a:ext uri="{FF2B5EF4-FFF2-40B4-BE49-F238E27FC236}">
                <a16:creationId xmlns:a16="http://schemas.microsoft.com/office/drawing/2014/main" id="{322F7DAC-5C06-42F2-B6A2-9405CC0BAC9B}"/>
              </a:ext>
            </a:extLst>
          </p:cNvPr>
          <p:cNvSpPr>
            <a:spLocks xmlns:a="http://schemas.openxmlformats.org/drawingml/2006/main" noGrp="1"/>
          </p:cNvSpPr>
          <p:nvPr/>
        </p:nvSpPr>
        <p:spPr>
          <a:xfrm xmlns:a="http://schemas.openxmlformats.org/drawingml/2006/main">
            <a:off x="523875" y="819150"/>
            <a:ext cx="11001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06473"/>
                </a:solidFill>
                <a:latin typeface="Arial"/>
                <a:ea typeface="Arial"/>
                <a:cs typeface="Arial"/>
              </a:defRPr>
            </a:pPr>
            <a:r>
              <a:rPr sz="1350" b="0">
                <a:solidFill>
                  <a:srgbClr val="506473"/>
                </a:solidFill>
                <a:latin typeface="Arial"/>
                <a:ea typeface="Arial"/>
                <a:cs typeface="Arial"/>
              </a:rPr>
              <a:t>Đóng góp có thể bảo vệ nằm ở đặc tả, tích hợp và kiểm toán, không ở lời hứa kiến trúc</a:t>
            </a:r>
          </a:p>
        </p:txBody>
      </p:sp>
      <p:sp>
        <p:nvSpPr>
          <p:cNvPr id="3" name="top line">
            <a:extLst xmlns:a="http://schemas.openxmlformats.org/drawingml/2006/main">
              <a:ext uri="{FF2B5EF4-FFF2-40B4-BE49-F238E27FC236}">
                <a16:creationId xmlns:a16="http://schemas.microsoft.com/office/drawing/2014/main" id="{0D42525F-907D-4F86-9918-350FC922F2EE}"/>
              </a:ext>
            </a:extLst>
          </p:cNvPr>
          <p:cNvSpPr>
            <a:spLocks xmlns:a="http://schemas.openxmlformats.org/drawingml/2006/main" noGrp="1"/>
          </p:cNvSpPr>
          <p:nvPr/>
        </p:nvSpPr>
        <p:spPr>
          <a:xfrm xmlns:a="http://schemas.openxmlformats.org/drawingml/2006/main">
            <a:off x="514350" y="1181100"/>
            <a:ext cx="1116330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4" name="source">
            <a:extLst xmlns:a="http://schemas.openxmlformats.org/drawingml/2006/main">
              <a:ext uri="{FF2B5EF4-FFF2-40B4-BE49-F238E27FC236}">
                <a16:creationId xmlns:a16="http://schemas.microsoft.com/office/drawing/2014/main" id="{D3B4EB2A-84F8-44FD-AD58-EF979847229C}"/>
              </a:ext>
            </a:extLst>
          </p:cNvPr>
          <p:cNvSpPr>
            <a:spLocks xmlns:a="http://schemas.openxmlformats.org/drawingml/2006/main" noGrp="1"/>
          </p:cNvSpPr>
          <p:nvPr/>
        </p:nvSpPr>
        <p:spPr>
          <a:xfrm xmlns:a="http://schemas.openxmlformats.org/drawingml/2006/main">
            <a:off x="514350" y="6429375"/>
            <a:ext cx="981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3.2.3–3.3.3; Kết luận Chương 3</a:t>
            </a:r>
          </a:p>
        </p:txBody>
      </p:sp>
      <p:sp>
        <p:nvSpPr>
          <p:cNvPr id="5" name="number">
            <a:extLst xmlns:a="http://schemas.openxmlformats.org/drawingml/2006/main">
              <a:ext uri="{FF2B5EF4-FFF2-40B4-BE49-F238E27FC236}">
                <a16:creationId xmlns:a16="http://schemas.microsoft.com/office/drawing/2014/main" id="{6EC9351E-D81C-47B0-959A-D4DF9837D021}"/>
              </a:ext>
            </a:extLst>
          </p:cNvPr>
          <p:cNvSpPr>
            <a:spLocks xmlns:a="http://schemas.openxmlformats.org/drawingml/2006/main" noGrp="1"/>
          </p:cNvSpPr>
          <p:nvPr/>
        </p:nvSpPr>
        <p:spPr>
          <a:xfrm xmlns:a="http://schemas.openxmlformats.org/drawingml/2006/main">
            <a:off x="10572750" y="6429375"/>
            <a:ext cx="1104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050" b="0">
                <a:solidFill>
                  <a:srgbClr val="506473"/>
                </a:solidFill>
                <a:latin typeface="Arial"/>
                <a:ea typeface="Arial"/>
                <a:cs typeface="Arial"/>
              </a:defRPr>
            </a:pPr>
            <a:r>
              <a:rPr sz="1050" b="0">
                <a:solidFill>
                  <a:srgbClr val="506473"/>
                </a:solidFill>
                <a:latin typeface="Arial"/>
                <a:ea typeface="Arial"/>
                <a:cs typeface="Arial"/>
              </a:rPr>
              <a:t>10 / 10</a:t>
            </a:r>
          </a:p>
        </p:txBody>
      </p:sp>
      <p:sp>
        <p:nvSpPr>
          <p:cNvPr id="6" name="central node">
            <a:extLst xmlns:a="http://schemas.openxmlformats.org/drawingml/2006/main">
              <a:ext uri="{FF2B5EF4-FFF2-40B4-BE49-F238E27FC236}">
                <a16:creationId xmlns:a16="http://schemas.microsoft.com/office/drawing/2014/main" id="{33862B27-9234-4760-AD20-EB80971F8E64}"/>
              </a:ext>
            </a:extLst>
          </p:cNvPr>
          <p:cNvSpPr>
            <a:spLocks xmlns:a="http://schemas.openxmlformats.org/drawingml/2006/main" noGrp="1"/>
          </p:cNvSpPr>
          <p:nvPr/>
        </p:nvSpPr>
        <p:spPr>
          <a:xfrm xmlns:a="http://schemas.openxmlformats.org/drawingml/2006/main">
            <a:off x="514350" y="1819275"/>
            <a:ext cx="2571750" cy="3943350"/>
          </a:xfrm>
          <a:prstGeom xmlns:a="http://schemas.openxmlformats.org/drawingml/2006/main" prst="roundRect">
            <a:avLst>
              <a:gd name="adj" fmla="val 2963"/>
            </a:avLst>
          </a:prstGeom>
          <a:solidFill xmlns:a="http://schemas.openxmlformats.org/drawingml/2006/main">
            <a:srgbClr val="E7F0F5"/>
          </a:solidFill>
          <a:ln xmlns:a="http://schemas.openxmlformats.org/drawingml/2006/main" w="9525">
            <a:solidFill>
              <a:srgbClr val="2B658B"/>
            </a:solidFill>
            <a:prstDash val="solid"/>
          </a:ln>
        </p:spPr>
      </p:sp>
      <p:sp>
        <p:nvSpPr>
          <p:cNvPr id="7" name="central head">
            <a:extLst xmlns:a="http://schemas.openxmlformats.org/drawingml/2006/main">
              <a:ext uri="{FF2B5EF4-FFF2-40B4-BE49-F238E27FC236}">
                <a16:creationId xmlns:a16="http://schemas.microsoft.com/office/drawing/2014/main" id="{357C0E64-8DBA-430A-A99B-B006D28D961D}"/>
              </a:ext>
            </a:extLst>
          </p:cNvPr>
          <p:cNvSpPr>
            <a:spLocks xmlns:a="http://schemas.openxmlformats.org/drawingml/2006/main" noGrp="1"/>
          </p:cNvSpPr>
          <p:nvPr/>
        </p:nvSpPr>
        <p:spPr>
          <a:xfrm xmlns:a="http://schemas.openxmlformats.org/drawingml/2006/main">
            <a:off x="685800" y="2047875"/>
            <a:ext cx="22383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B658B"/>
                </a:solidFill>
                <a:latin typeface="Arial"/>
                <a:ea typeface="Arial"/>
                <a:cs typeface="Arial"/>
              </a:defRPr>
            </a:pPr>
            <a:r>
              <a:rPr sz="2100" b="1">
                <a:solidFill>
                  <a:srgbClr val="2B658B"/>
                </a:solidFill>
                <a:latin typeface="Arial"/>
                <a:ea typeface="Arial"/>
                <a:cs typeface="Arial"/>
              </a:rPr>
              <a:t>3 ĐÓNG GÓP</a:t>
            </a:r>
          </a:p>
        </p:txBody>
      </p:sp>
      <p:sp>
        <p:nvSpPr>
          <p:cNvPr id="8" name="central rule">
            <a:extLst xmlns:a="http://schemas.openxmlformats.org/drawingml/2006/main">
              <a:ext uri="{FF2B5EF4-FFF2-40B4-BE49-F238E27FC236}">
                <a16:creationId xmlns:a16="http://schemas.microsoft.com/office/drawing/2014/main" id="{86EBD92C-9E0C-4C36-B2FD-68D55EB78A6D}"/>
              </a:ext>
            </a:extLst>
          </p:cNvPr>
          <p:cNvSpPr>
            <a:spLocks xmlns:a="http://schemas.openxmlformats.org/drawingml/2006/main" noGrp="1"/>
          </p:cNvSpPr>
          <p:nvPr/>
        </p:nvSpPr>
        <p:spPr>
          <a:xfrm xmlns:a="http://schemas.openxmlformats.org/drawingml/2006/main">
            <a:off x="685800" y="2981325"/>
            <a:ext cx="21526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9" name="central body">
            <a:extLst xmlns:a="http://schemas.openxmlformats.org/drawingml/2006/main">
              <a:ext uri="{FF2B5EF4-FFF2-40B4-BE49-F238E27FC236}">
                <a16:creationId xmlns:a16="http://schemas.microsoft.com/office/drawing/2014/main" id="{BF863C08-6F8A-4140-9A69-5F7096EC6884}"/>
              </a:ext>
            </a:extLst>
          </p:cNvPr>
          <p:cNvSpPr>
            <a:spLocks xmlns:a="http://schemas.openxmlformats.org/drawingml/2006/main" noGrp="1"/>
          </p:cNvSpPr>
          <p:nvPr/>
        </p:nvSpPr>
        <p:spPr>
          <a:xfrm xmlns:a="http://schemas.openxmlformats.org/drawingml/2006/main">
            <a:off x="685800" y="3143250"/>
            <a:ext cx="221932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C1: Hợp đồng Biểu diễn.</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C2: kiến trúc chuỗi–đồ thị.</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C3: hiện thực, phân chia và đối soát kết quả.</a:t>
            </a:r>
          </a:p>
          <a:p xmlns:a="http://schemas.openxmlformats.org/drawingml/2006/main">
            <a:r>
              <a:t/>
            </a:r>
          </a:p>
          <a:p xmlns:a="http://schemas.openxmlformats.org/drawingml/2006/main">
            <a:pPr algn="l">
              <a:defRPr sz="1425" b="0">
                <a:solidFill>
                  <a:srgbClr val="182C39"/>
                </a:solidFill>
                <a:latin typeface="Arial"/>
                <a:ea typeface="Arial"/>
                <a:cs typeface="Arial"/>
              </a:defRPr>
            </a:pPr>
            <a:r>
              <a:rPr sz="1425" b="0">
                <a:solidFill>
                  <a:srgbClr val="182C39"/>
                </a:solidFill>
                <a:latin typeface="Arial"/>
                <a:ea typeface="Arial"/>
                <a:cs typeface="Arial"/>
              </a:rPr>
              <a:t>Không nhận các khối nguyên thủy là phát minh mới.</a:t>
            </a:r>
          </a:p>
        </p:txBody>
      </p:sp>
      <p:sp>
        <p:nvSpPr>
          <p:cNvPr id="10" name="branch 0 accent">
            <a:extLst xmlns:a="http://schemas.openxmlformats.org/drawingml/2006/main">
              <a:ext uri="{FF2B5EF4-FFF2-40B4-BE49-F238E27FC236}">
                <a16:creationId xmlns:a16="http://schemas.microsoft.com/office/drawing/2014/main" id="{DC5FFDF4-E5A2-4980-8080-9EFBDF176165}"/>
              </a:ext>
            </a:extLst>
          </p:cNvPr>
          <p:cNvSpPr>
            <a:spLocks xmlns:a="http://schemas.openxmlformats.org/drawingml/2006/main" noGrp="1"/>
          </p:cNvSpPr>
          <p:nvPr/>
        </p:nvSpPr>
        <p:spPr>
          <a:xfrm xmlns:a="http://schemas.openxmlformats.org/drawingml/2006/main">
            <a:off x="3476625" y="1447800"/>
            <a:ext cx="47625" cy="20955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11" name="branch 0 headrule">
            <a:extLst xmlns:a="http://schemas.openxmlformats.org/drawingml/2006/main">
              <a:ext uri="{FF2B5EF4-FFF2-40B4-BE49-F238E27FC236}">
                <a16:creationId xmlns:a16="http://schemas.microsoft.com/office/drawing/2014/main" id="{EBC01216-D5A0-492B-AC5D-412B5E92A5CE}"/>
              </a:ext>
            </a:extLst>
          </p:cNvPr>
          <p:cNvSpPr>
            <a:spLocks xmlns:a="http://schemas.openxmlformats.org/drawingml/2006/main" noGrp="1"/>
          </p:cNvSpPr>
          <p:nvPr/>
        </p:nvSpPr>
        <p:spPr>
          <a:xfrm xmlns:a="http://schemas.openxmlformats.org/drawingml/2006/main">
            <a:off x="3629025" y="1809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2" name="branch 0 title">
            <a:extLst xmlns:a="http://schemas.openxmlformats.org/drawingml/2006/main">
              <a:ext uri="{FF2B5EF4-FFF2-40B4-BE49-F238E27FC236}">
                <a16:creationId xmlns:a16="http://schemas.microsoft.com/office/drawing/2014/main" id="{E85AA40B-F677-4ACE-A2D2-86F1005489F4}"/>
              </a:ext>
            </a:extLst>
          </p:cNvPr>
          <p:cNvSpPr>
            <a:spLocks xmlns:a="http://schemas.openxmlformats.org/drawingml/2006/main" noGrp="1"/>
          </p:cNvSpPr>
          <p:nvPr/>
        </p:nvSpPr>
        <p:spPr>
          <a:xfrm xmlns:a="http://schemas.openxmlformats.org/drawingml/2006/main">
            <a:off x="3638550" y="1466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B658B"/>
                </a:solidFill>
                <a:latin typeface="Arial"/>
                <a:ea typeface="Arial"/>
                <a:cs typeface="Arial"/>
              </a:defRPr>
            </a:pPr>
            <a:r>
              <a:rPr sz="1725" b="1">
                <a:solidFill>
                  <a:srgbClr val="2B658B"/>
                </a:solidFill>
                <a:latin typeface="Arial"/>
                <a:ea typeface="Arial"/>
                <a:cs typeface="Arial"/>
              </a:rPr>
              <a:t>H1 / H2</a:t>
            </a:r>
          </a:p>
        </p:txBody>
      </p:sp>
      <p:sp>
        <p:nvSpPr>
          <p:cNvPr id="13" name="branch 0 body">
            <a:extLst xmlns:a="http://schemas.openxmlformats.org/drawingml/2006/main">
              <a:ext uri="{FF2B5EF4-FFF2-40B4-BE49-F238E27FC236}">
                <a16:creationId xmlns:a16="http://schemas.microsoft.com/office/drawing/2014/main" id="{7CE74DA4-8772-4CAC-B778-BA893B39E8CB}"/>
              </a:ext>
            </a:extLst>
          </p:cNvPr>
          <p:cNvSpPr>
            <a:spLocks xmlns:a="http://schemas.openxmlformats.org/drawingml/2006/main" noGrp="1"/>
          </p:cNvSpPr>
          <p:nvPr/>
        </p:nvSpPr>
        <p:spPr>
          <a:xfrm xmlns:a="http://schemas.openxmlformats.org/drawingml/2006/main">
            <a:off x="3638550" y="1905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H1 chưa đo trực tiếp, chỉ có quan sát che đầu vào. H2 không được hỗ trợ trong đối chứng HDFS Validation.</a:t>
            </a:r>
          </a:p>
        </p:txBody>
      </p:sp>
      <p:sp>
        <p:nvSpPr>
          <p:cNvPr id="14" name="branch 1 accent">
            <a:extLst xmlns:a="http://schemas.openxmlformats.org/drawingml/2006/main">
              <a:ext uri="{FF2B5EF4-FFF2-40B4-BE49-F238E27FC236}">
                <a16:creationId xmlns:a16="http://schemas.microsoft.com/office/drawing/2014/main" id="{628ED696-DA7B-45C6-AF80-46D132A6D123}"/>
              </a:ext>
            </a:extLst>
          </p:cNvPr>
          <p:cNvSpPr>
            <a:spLocks xmlns:a="http://schemas.openxmlformats.org/drawingml/2006/main" noGrp="1"/>
          </p:cNvSpPr>
          <p:nvPr/>
        </p:nvSpPr>
        <p:spPr>
          <a:xfrm xmlns:a="http://schemas.openxmlformats.org/drawingml/2006/main">
            <a:off x="7715250" y="1447800"/>
            <a:ext cx="47625" cy="2095500"/>
          </a:xfrm>
          <a:prstGeom xmlns:a="http://schemas.openxmlformats.org/drawingml/2006/main" prst="rect">
            <a:avLst/>
          </a:prstGeom>
          <a:solidFill xmlns:a="http://schemas.openxmlformats.org/drawingml/2006/main">
            <a:srgbClr val="2D746D"/>
          </a:solidFill>
          <a:ln xmlns:a="http://schemas.openxmlformats.org/drawingml/2006/main" w="0">
            <a:noFill/>
            <a:prstDash val="solid"/>
          </a:ln>
        </p:spPr>
      </p:sp>
      <p:sp>
        <p:nvSpPr>
          <p:cNvPr id="15" name="branch 1 headrule">
            <a:extLst xmlns:a="http://schemas.openxmlformats.org/drawingml/2006/main">
              <a:ext uri="{FF2B5EF4-FFF2-40B4-BE49-F238E27FC236}">
                <a16:creationId xmlns:a16="http://schemas.microsoft.com/office/drawing/2014/main" id="{72BA2D7F-DFFF-4B70-8039-E50C688A0111}"/>
              </a:ext>
            </a:extLst>
          </p:cNvPr>
          <p:cNvSpPr>
            <a:spLocks xmlns:a="http://schemas.openxmlformats.org/drawingml/2006/main" noGrp="1"/>
          </p:cNvSpPr>
          <p:nvPr/>
        </p:nvSpPr>
        <p:spPr>
          <a:xfrm xmlns:a="http://schemas.openxmlformats.org/drawingml/2006/main">
            <a:off x="7867650" y="1809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16" name="branch 1 title">
            <a:extLst xmlns:a="http://schemas.openxmlformats.org/drawingml/2006/main">
              <a:ext uri="{FF2B5EF4-FFF2-40B4-BE49-F238E27FC236}">
                <a16:creationId xmlns:a16="http://schemas.microsoft.com/office/drawing/2014/main" id="{581CC9A7-3165-4221-8D8C-1A1FBE1C5535}"/>
              </a:ext>
            </a:extLst>
          </p:cNvPr>
          <p:cNvSpPr>
            <a:spLocks xmlns:a="http://schemas.openxmlformats.org/drawingml/2006/main" noGrp="1"/>
          </p:cNvSpPr>
          <p:nvPr/>
        </p:nvSpPr>
        <p:spPr>
          <a:xfrm xmlns:a="http://schemas.openxmlformats.org/drawingml/2006/main">
            <a:off x="7877175" y="1466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D746D"/>
                </a:solidFill>
                <a:latin typeface="Arial"/>
                <a:ea typeface="Arial"/>
                <a:cs typeface="Arial"/>
              </a:defRPr>
            </a:pPr>
            <a:r>
              <a:rPr sz="1725" b="1">
                <a:solidFill>
                  <a:srgbClr val="2D746D"/>
                </a:solidFill>
                <a:latin typeface="Arial"/>
                <a:ea typeface="Arial"/>
                <a:cs typeface="Arial"/>
              </a:rPr>
              <a:t>H3–H5 / ER1</a:t>
            </a:r>
          </a:p>
        </p:txBody>
      </p:sp>
      <p:sp>
        <p:nvSpPr>
          <p:cNvPr id="17" name="branch 1 body">
            <a:extLst xmlns:a="http://schemas.openxmlformats.org/drawingml/2006/main">
              <a:ext uri="{FF2B5EF4-FFF2-40B4-BE49-F238E27FC236}">
                <a16:creationId xmlns:a16="http://schemas.microsoft.com/office/drawing/2014/main" id="{63092E5C-489F-447E-905E-FE7E42D4B783}"/>
              </a:ext>
            </a:extLst>
          </p:cNvPr>
          <p:cNvSpPr>
            <a:spLocks xmlns:a="http://schemas.openxmlformats.org/drawingml/2006/main" noGrp="1"/>
          </p:cNvSpPr>
          <p:nvPr/>
        </p:nvSpPr>
        <p:spPr>
          <a:xfrm xmlns:a="http://schemas.openxmlformats.org/drawingml/2006/main">
            <a:off x="7877175" y="1905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Trôi dạt, nhãn yếu, riêng tư chưa kiểm chứng. ER1 có quan sát VRAM, chưa đo thông lượng và độ trễ.</a:t>
            </a:r>
          </a:p>
        </p:txBody>
      </p:sp>
      <p:sp>
        <p:nvSpPr>
          <p:cNvPr id="18" name="branch 2 accent">
            <a:extLst xmlns:a="http://schemas.openxmlformats.org/drawingml/2006/main">
              <a:ext uri="{FF2B5EF4-FFF2-40B4-BE49-F238E27FC236}">
                <a16:creationId xmlns:a16="http://schemas.microsoft.com/office/drawing/2014/main" id="{211F4560-5C03-47AC-B38F-35BF5B6B7265}"/>
              </a:ext>
            </a:extLst>
          </p:cNvPr>
          <p:cNvSpPr>
            <a:spLocks xmlns:a="http://schemas.openxmlformats.org/drawingml/2006/main" noGrp="1"/>
          </p:cNvSpPr>
          <p:nvPr/>
        </p:nvSpPr>
        <p:spPr>
          <a:xfrm xmlns:a="http://schemas.openxmlformats.org/drawingml/2006/main">
            <a:off x="3476625" y="3733800"/>
            <a:ext cx="47625" cy="2095500"/>
          </a:xfrm>
          <a:prstGeom xmlns:a="http://schemas.openxmlformats.org/drawingml/2006/main" prst="rect">
            <a:avLst/>
          </a:prstGeom>
          <a:solidFill xmlns:a="http://schemas.openxmlformats.org/drawingml/2006/main">
            <a:srgbClr val="A3692D"/>
          </a:solidFill>
          <a:ln xmlns:a="http://schemas.openxmlformats.org/drawingml/2006/main" w="0">
            <a:noFill/>
            <a:prstDash val="solid"/>
          </a:ln>
        </p:spPr>
      </p:sp>
      <p:sp>
        <p:nvSpPr>
          <p:cNvPr id="19" name="branch 2 headrule">
            <a:extLst xmlns:a="http://schemas.openxmlformats.org/drawingml/2006/main">
              <a:ext uri="{FF2B5EF4-FFF2-40B4-BE49-F238E27FC236}">
                <a16:creationId xmlns:a16="http://schemas.microsoft.com/office/drawing/2014/main" id="{A5745884-2793-4574-962D-6DC7A21CA938}"/>
              </a:ext>
            </a:extLst>
          </p:cNvPr>
          <p:cNvSpPr>
            <a:spLocks xmlns:a="http://schemas.openxmlformats.org/drawingml/2006/main" noGrp="1"/>
          </p:cNvSpPr>
          <p:nvPr/>
        </p:nvSpPr>
        <p:spPr>
          <a:xfrm xmlns:a="http://schemas.openxmlformats.org/drawingml/2006/main">
            <a:off x="3629025" y="4095750"/>
            <a:ext cx="3609975"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0" name="branch 2 title">
            <a:extLst xmlns:a="http://schemas.openxmlformats.org/drawingml/2006/main">
              <a:ext uri="{FF2B5EF4-FFF2-40B4-BE49-F238E27FC236}">
                <a16:creationId xmlns:a16="http://schemas.microsoft.com/office/drawing/2014/main" id="{3A448870-112E-44BE-9641-1A716134EB7D}"/>
              </a:ext>
            </a:extLst>
          </p:cNvPr>
          <p:cNvSpPr>
            <a:spLocks xmlns:a="http://schemas.openxmlformats.org/drawingml/2006/main" noGrp="1"/>
          </p:cNvSpPr>
          <p:nvPr/>
        </p:nvSpPr>
        <p:spPr>
          <a:xfrm xmlns:a="http://schemas.openxmlformats.org/drawingml/2006/main">
            <a:off x="3638550" y="3752850"/>
            <a:ext cx="3590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3692D"/>
                </a:solidFill>
                <a:latin typeface="Arial"/>
                <a:ea typeface="Arial"/>
                <a:cs typeface="Arial"/>
              </a:defRPr>
            </a:pPr>
            <a:r>
              <a:rPr sz="1725" b="1">
                <a:solidFill>
                  <a:srgbClr val="A3692D"/>
                </a:solidFill>
                <a:latin typeface="Arial"/>
                <a:ea typeface="Arial"/>
                <a:cs typeface="Arial"/>
              </a:rPr>
              <a:t>Graph-Only / Test</a:t>
            </a:r>
          </a:p>
        </p:txBody>
      </p:sp>
      <p:sp>
        <p:nvSpPr>
          <p:cNvPr id="21" name="branch 2 body">
            <a:extLst xmlns:a="http://schemas.openxmlformats.org/drawingml/2006/main">
              <a:ext uri="{FF2B5EF4-FFF2-40B4-BE49-F238E27FC236}">
                <a16:creationId xmlns:a16="http://schemas.microsoft.com/office/drawing/2014/main" id="{4A062E3D-1272-4C85-9DF5-15D0B0046B32}"/>
              </a:ext>
            </a:extLst>
          </p:cNvPr>
          <p:cNvSpPr>
            <a:spLocks xmlns:a="http://schemas.openxmlformats.org/drawingml/2006/main" noGrp="1"/>
          </p:cNvSpPr>
          <p:nvPr/>
        </p:nvSpPr>
        <p:spPr>
          <a:xfrm xmlns:a="http://schemas.openxmlformats.org/drawingml/2006/main">
            <a:off x="3638550" y="4191000"/>
            <a:ext cx="3571875"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Graph-Only xác nhận mới chưa huấn luyện V3; số lịch sử chỉ tham khảo. Test niêm phong, không có điểm Test.</a:t>
            </a:r>
          </a:p>
        </p:txBody>
      </p:sp>
      <p:sp>
        <p:nvSpPr>
          <p:cNvPr id="22" name="branch 3 accent">
            <a:extLst xmlns:a="http://schemas.openxmlformats.org/drawingml/2006/main">
              <a:ext uri="{FF2B5EF4-FFF2-40B4-BE49-F238E27FC236}">
                <a16:creationId xmlns:a16="http://schemas.microsoft.com/office/drawing/2014/main" id="{E7D686DF-7CE7-4534-9985-27D4EF02D3B6}"/>
              </a:ext>
            </a:extLst>
          </p:cNvPr>
          <p:cNvSpPr>
            <a:spLocks xmlns:a="http://schemas.openxmlformats.org/drawingml/2006/main" noGrp="1"/>
          </p:cNvSpPr>
          <p:nvPr/>
        </p:nvSpPr>
        <p:spPr>
          <a:xfrm xmlns:a="http://schemas.openxmlformats.org/drawingml/2006/main">
            <a:off x="7715250" y="3733800"/>
            <a:ext cx="47625" cy="2095500"/>
          </a:xfrm>
          <a:prstGeom xmlns:a="http://schemas.openxmlformats.org/drawingml/2006/main" prst="rect">
            <a:avLst/>
          </a:prstGeom>
          <a:solidFill xmlns:a="http://schemas.openxmlformats.org/drawingml/2006/main">
            <a:srgbClr val="A84F4B"/>
          </a:solidFill>
          <a:ln xmlns:a="http://schemas.openxmlformats.org/drawingml/2006/main" w="0">
            <a:noFill/>
            <a:prstDash val="solid"/>
          </a:ln>
        </p:spPr>
      </p:sp>
      <p:sp>
        <p:nvSpPr>
          <p:cNvPr id="23" name="branch 3 headrule">
            <a:extLst xmlns:a="http://schemas.openxmlformats.org/drawingml/2006/main">
              <a:ext uri="{FF2B5EF4-FFF2-40B4-BE49-F238E27FC236}">
                <a16:creationId xmlns:a16="http://schemas.microsoft.com/office/drawing/2014/main" id="{4C7B39C6-2A0E-409A-A392-D58A87A56B0A}"/>
              </a:ext>
            </a:extLst>
          </p:cNvPr>
          <p:cNvSpPr>
            <a:spLocks xmlns:a="http://schemas.openxmlformats.org/drawingml/2006/main" noGrp="1"/>
          </p:cNvSpPr>
          <p:nvPr/>
        </p:nvSpPr>
        <p:spPr>
          <a:xfrm xmlns:a="http://schemas.openxmlformats.org/drawingml/2006/main">
            <a:off x="7867650" y="4095750"/>
            <a:ext cx="3714750" cy="9525"/>
          </a:xfrm>
          <a:prstGeom xmlns:a="http://schemas.openxmlformats.org/drawingml/2006/main" prst="rect">
            <a:avLst/>
          </a:prstGeom>
          <a:solidFill xmlns:a="http://schemas.openxmlformats.org/drawingml/2006/main">
            <a:srgbClr val="CAD5D9"/>
          </a:solidFill>
          <a:ln xmlns:a="http://schemas.openxmlformats.org/drawingml/2006/main" w="0">
            <a:noFill/>
            <a:prstDash val="solid"/>
          </a:ln>
        </p:spPr>
      </p:sp>
      <p:sp>
        <p:nvSpPr>
          <p:cNvPr id="24" name="branch 3 title">
            <a:extLst xmlns:a="http://schemas.openxmlformats.org/drawingml/2006/main">
              <a:ext uri="{FF2B5EF4-FFF2-40B4-BE49-F238E27FC236}">
                <a16:creationId xmlns:a16="http://schemas.microsoft.com/office/drawing/2014/main" id="{1BBE913A-249D-4276-9342-1C1930D9E10D}"/>
              </a:ext>
            </a:extLst>
          </p:cNvPr>
          <p:cNvSpPr>
            <a:spLocks xmlns:a="http://schemas.openxmlformats.org/drawingml/2006/main" noGrp="1"/>
          </p:cNvSpPr>
          <p:nvPr/>
        </p:nvSpPr>
        <p:spPr>
          <a:xfrm xmlns:a="http://schemas.openxmlformats.org/drawingml/2006/main">
            <a:off x="7877175" y="3752850"/>
            <a:ext cx="3695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A84F4B"/>
                </a:solidFill>
                <a:latin typeface="Arial"/>
                <a:ea typeface="Arial"/>
                <a:cs typeface="Arial"/>
              </a:defRPr>
            </a:pPr>
            <a:r>
              <a:rPr sz="1725" b="1">
                <a:solidFill>
                  <a:srgbClr val="A84F4B"/>
                </a:solidFill>
                <a:latin typeface="Arial"/>
                <a:ea typeface="Arial"/>
                <a:cs typeface="Arial"/>
              </a:rPr>
              <a:t>Việc cần làm tiếp</a:t>
            </a:r>
          </a:p>
        </p:txBody>
      </p:sp>
      <p:sp>
        <p:nvSpPr>
          <p:cNvPr id="25" name="branch 3 body">
            <a:extLst xmlns:a="http://schemas.openxmlformats.org/drawingml/2006/main">
              <a:ext uri="{FF2B5EF4-FFF2-40B4-BE49-F238E27FC236}">
                <a16:creationId xmlns:a16="http://schemas.microsoft.com/office/drawing/2014/main" id="{662FF368-E358-419E-9B7F-C2E97453768B}"/>
              </a:ext>
            </a:extLst>
          </p:cNvPr>
          <p:cNvSpPr>
            <a:spLocks xmlns:a="http://schemas.openxmlformats.org/drawingml/2006/main" noGrp="1"/>
          </p:cNvSpPr>
          <p:nvPr/>
        </p:nvSpPr>
        <p:spPr>
          <a:xfrm xmlns:a="http://schemas.openxmlformats.org/drawingml/2006/main">
            <a:off x="7877175" y="4191000"/>
            <a:ext cx="36766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82C39"/>
                </a:solidFill>
                <a:latin typeface="Arial"/>
                <a:ea typeface="Arial"/>
                <a:cs typeface="Arial"/>
              </a:defRPr>
            </a:pPr>
            <a:r>
              <a:rPr sz="1350" b="0">
                <a:solidFill>
                  <a:srgbClr val="182C39"/>
                </a:solidFill>
                <a:latin typeface="Arial"/>
                <a:ea typeface="Arial"/>
                <a:cs typeface="Arial"/>
              </a:rPr>
              <a:t>Probe H1 ở cấp token; tìm cơ chế làm Multi-View giảm; thử dữ liệu giàu quan hệ; mở Test theo giao thức khóa trước.</a:t>
            </a:r>
          </a:p>
        </p:txBody>
      </p:sp>
      <p:sp>
        <p:nvSpPr>
          <p:cNvPr id="26" name="upper bar">
            <a:extLst xmlns:a="http://schemas.openxmlformats.org/drawingml/2006/main">
              <a:ext uri="{FF2B5EF4-FFF2-40B4-BE49-F238E27FC236}">
                <a16:creationId xmlns:a16="http://schemas.microsoft.com/office/drawing/2014/main" id="{AAE7ED4D-09EC-452F-BE62-B75E363C0CBD}"/>
              </a:ext>
            </a:extLst>
          </p:cNvPr>
          <p:cNvSpPr>
            <a:spLocks xmlns:a="http://schemas.openxmlformats.org/drawingml/2006/main" noGrp="1"/>
          </p:cNvSpPr>
          <p:nvPr/>
        </p:nvSpPr>
        <p:spPr>
          <a:xfrm xmlns:a="http://schemas.openxmlformats.org/drawingml/2006/main">
            <a:off x="3086100" y="248602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7" name="upper dot">
            <a:extLst xmlns:a="http://schemas.openxmlformats.org/drawingml/2006/main">
              <a:ext uri="{FF2B5EF4-FFF2-40B4-BE49-F238E27FC236}">
                <a16:creationId xmlns:a16="http://schemas.microsoft.com/office/drawing/2014/main" id="{1A4438A2-9203-4A79-8685-A5E332D56644}"/>
              </a:ext>
            </a:extLst>
          </p:cNvPr>
          <p:cNvSpPr>
            <a:spLocks xmlns:a="http://schemas.openxmlformats.org/drawingml/2006/main" noGrp="1"/>
          </p:cNvSpPr>
          <p:nvPr/>
        </p:nvSpPr>
        <p:spPr>
          <a:xfrm xmlns:a="http://schemas.openxmlformats.org/drawingml/2006/main">
            <a:off x="3343275" y="245745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8" name="lower bar">
            <a:extLst xmlns:a="http://schemas.openxmlformats.org/drawingml/2006/main">
              <a:ext uri="{FF2B5EF4-FFF2-40B4-BE49-F238E27FC236}">
                <a16:creationId xmlns:a16="http://schemas.microsoft.com/office/drawing/2014/main" id="{B3FBA404-1001-43A3-986B-E95D970BC226}"/>
              </a:ext>
            </a:extLst>
          </p:cNvPr>
          <p:cNvSpPr>
            <a:spLocks xmlns:a="http://schemas.openxmlformats.org/drawingml/2006/main" noGrp="1"/>
          </p:cNvSpPr>
          <p:nvPr/>
        </p:nvSpPr>
        <p:spPr>
          <a:xfrm xmlns:a="http://schemas.openxmlformats.org/drawingml/2006/main">
            <a:off x="3086100" y="4562475"/>
            <a:ext cx="285750" cy="1905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29" name="lower dot">
            <a:extLst xmlns:a="http://schemas.openxmlformats.org/drawingml/2006/main">
              <a:ext uri="{FF2B5EF4-FFF2-40B4-BE49-F238E27FC236}">
                <a16:creationId xmlns:a16="http://schemas.microsoft.com/office/drawing/2014/main" id="{3414A3C8-329A-42C5-B97B-A2C637EDA4FC}"/>
              </a:ext>
            </a:extLst>
          </p:cNvPr>
          <p:cNvSpPr>
            <a:spLocks xmlns:a="http://schemas.openxmlformats.org/drawingml/2006/main" noGrp="1"/>
          </p:cNvSpPr>
          <p:nvPr/>
        </p:nvSpPr>
        <p:spPr>
          <a:xfrm xmlns:a="http://schemas.openxmlformats.org/drawingml/2006/main">
            <a:off x="3343275" y="4533900"/>
            <a:ext cx="76200" cy="76200"/>
          </a:xfrm>
          <a:prstGeom xmlns:a="http://schemas.openxmlformats.org/drawingml/2006/main" prst="rect">
            <a:avLst/>
          </a:prstGeom>
          <a:solidFill xmlns:a="http://schemas.openxmlformats.org/drawingml/2006/main">
            <a:srgbClr val="2B658B"/>
          </a:solidFill>
          <a:ln xmlns:a="http://schemas.openxmlformats.org/drawingml/2006/main" w="0">
            <a:noFill/>
            <a:prstDash val="solid"/>
          </a:ln>
        </p:spPr>
      </p:sp>
      <p:sp>
        <p:nvSpPr>
          <p:cNvPr id="30" name="takeaway">
            <a:extLst xmlns:a="http://schemas.openxmlformats.org/drawingml/2006/main">
              <a:ext uri="{FF2B5EF4-FFF2-40B4-BE49-F238E27FC236}">
                <a16:creationId xmlns:a16="http://schemas.microsoft.com/office/drawing/2014/main" id="{BA558972-CAA5-466F-905B-BAEE3EFBD945}"/>
              </a:ext>
            </a:extLst>
          </p:cNvPr>
          <p:cNvSpPr>
            <a:spLocks xmlns:a="http://schemas.openxmlformats.org/drawingml/2006/main" noGrp="1"/>
          </p:cNvSpPr>
          <p:nvPr/>
        </p:nvSpPr>
        <p:spPr>
          <a:xfrm xmlns:a="http://schemas.openxmlformats.org/drawingml/2006/main">
            <a:off x="514350" y="60579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A84F4B"/>
                </a:solidFill>
                <a:latin typeface="Arial"/>
                <a:ea typeface="Arial"/>
                <a:cs typeface="Arial"/>
              </a:defRPr>
            </a:pPr>
            <a:r>
              <a:rPr sz="1350" b="1">
                <a:solidFill>
                  <a:srgbClr val="A84F4B"/>
                </a:solidFill>
                <a:latin typeface="Arial"/>
                <a:ea typeface="Arial"/>
                <a:cs typeface="Arial"/>
              </a:rPr>
              <a:t>Kết quả chắc nhất hiện có: Sequence-Only mạnh hơn Multi-View trong phép đối chứng HDFS đã thực hiện.</a:t>
            </a:r>
          </a:p>
        </p:txBody>
      </p:sp>
    </p:spTree>
    <p:extLst>
      <p:ext uri="{BB962C8B-B14F-4D97-AF65-F5344CB8AC3E}">
        <p14:creationId xmlns:p14="http://schemas.microsoft.com/office/powerpoint/2010/main" val="14755231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2026-10-02T10:00:04.4570000Z</dcterms:created>
  <dcterms:modified xsi:type="dcterms:W3CDTF">2026-10-02T10:00:04.4570000Z</dcterms:modified>
</coreProperties>
</file>