
<file path=[Content_Types].xml><?xml version="1.0" encoding="utf-8"?>
<Types xmlns="http://schemas.openxmlformats.org/package/2006/content-types">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p:sldMasterIdLst>
    <p:sldMasterId id="2147483648" r:id="rId1"/>
  </p:sldMasterIdLst>
  <p:notesMasterIdLst>
    <p:notesMasterId r:id="rId12"/>
  </p:notesMasterIdLst>
  <p:sldIdLst>
    <p:sldId id="256" r:id="rId2"/>
    <p:sldId id="257" r:id="rId3"/>
    <p:sldId id="258" r:id="rId4"/>
    <p:sldId id="259" r:id="rId5"/>
    <p:sldId id="260" r:id="rId6"/>
    <p:sldId id="261" r:id="rId7"/>
    <p:sldId id="262" r:id="rId8"/>
    <p:sldId id="263" r:id="rId9"/>
    <p:sldId id="264" r:id="rId10"/>
    <p:sldId id="265" r:id="rId11"/>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notesMaster" Target="notesMasters/notesMaster1.xml"/><Relationship Id="rId13" Type="http://schemas.openxmlformats.org/officeDocument/2006/relationships/presProps" Target="presProps.xml"/><Relationship Id="rId14" Type="http://schemas.openxmlformats.org/officeDocument/2006/relationships/viewProps" Target="viewProps.xml"/><Relationship Id="rId15" Type="http://schemas.openxmlformats.org/officeDocument/2006/relationships/theme" Target="theme/theme1.xml"/><Relationship Id="rId16" Type="http://schemas.openxmlformats.org/officeDocument/2006/relationships/tableStyles" Target="tableStyles.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p:cNvSpPr>
            <a:spLocks noGrp="1"/>
          </p:cNvSpPr>
          <p:nvPr>
            <p:ph type="hdr" sz="quarter"/>
          </p:nvPr>
        </p:nvSpPr>
        <p:spPr>
          <a:prstGeom prst="rect">
            <a:avLst/>
          </a:prstGeom>
        </p:spPr>
        <p:txBody>
          <a:bodyPr/>
          <a:lstStyle/>
          <a:p>
            <a:endParaRPr/>
          </a:p>
        </p:txBody>
      </p:sp>
      <p:sp>
        <p:nvSpPr>
          <p:cNvPr id="3" name="Date Placeholder"/>
          <p:cNvSpPr>
            <a:spLocks noGrp="1"/>
          </p:cNvSpPr>
          <p:nvPr>
            <p:ph type="dt" sz="quarter" idx="1"/>
          </p:nvPr>
        </p:nvSpPr>
        <p:spPr>
          <a:prstGeom prst="rect">
            <a:avLst/>
          </a:prstGeom>
        </p:spPr>
        <p:txBody>
          <a:bodyPr/>
          <a:lstStyle/>
          <a:p>
            <a:endParaRPr/>
          </a:p>
        </p:txBody>
      </p:sp>
      <p:sp>
        <p:nvSpPr>
          <p:cNvPr id="4" name="Slide Image Placeholder"/>
          <p:cNvSpPr>
            <a:spLocks noGrp="1" noRot="1" noChangeAspect="1"/>
          </p:cNvSpPr>
          <p:nvPr>
            <p:ph type="sldImg" idx="2"/>
          </p:nvPr>
        </p:nvSpPr>
        <p:spPr>
          <a:prstGeom prst="rect">
            <a:avLst/>
          </a:prstGeom>
        </p:spPr>
        <p:txBody>
          <a:bodyPr/>
          <a:lstStyle/>
          <a:p>
            <a:endParaRPr/>
          </a:p>
        </p:txBody>
      </p:sp>
      <p:sp>
        <p:nvSpPr>
          <p:cNvPr id="5" name="Notes Placeholder"/>
          <p:cNvSpPr>
            <a:spLocks noGrp="1"/>
          </p:cNvSpPr>
          <p:nvPr>
            <p:ph type="body" sz="quarter" idx="3"/>
          </p:nvPr>
        </p:nvSpPr>
        <p:spPr>
          <a:prstGeom prst="rect">
            <a:avLst/>
          </a:prstGeom>
        </p:spPr>
        <p:txBody>
          <a:bodyPr/>
          <a:lstStyle/>
          <a:p>
            <a:endParaRPr/>
          </a:p>
        </p:txBody>
      </p:sp>
      <p:sp>
        <p:nvSpPr>
          <p:cNvPr id="6" name="Footer Placeholder"/>
          <p:cNvSpPr>
            <a:spLocks noGrp="1"/>
          </p:cNvSpPr>
          <p:nvPr>
            <p:ph type="ftr" sz="quarter" idx="4"/>
          </p:nvPr>
        </p:nvSpPr>
        <p:spPr>
          <a:prstGeom prst="rect">
            <a:avLst/>
          </a:prstGeom>
        </p:spPr>
        <p:txBody>
          <a:bodyPr/>
          <a:lstStyle/>
          <a:p>
            <a:endParaRPr/>
          </a:p>
        </p:txBody>
      </p:sp>
      <p:sp>
        <p:nvSpPr>
          <p:cNvPr id="7" name="Slide Number Placeholder"/>
          <p:cNvSpPr>
            <a:spLocks noGrp="1"/>
          </p:cNvSpPr>
          <p:nvPr>
            <p:ph type="sldNum" sz="quarter" idx="5"/>
          </p:nvPr>
        </p:nvSpPr>
        <p:spPr>
          <a:prstGeom prst="rect">
            <a:avLst/>
          </a:prstGeom>
        </p:spPr>
        <p:txBody>
          <a:bodyPr/>
          <a:lstStyle/>
          <a:p>
            <a:endParaRPr/>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lvl1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D:/chuyen-de-chuyen-sau/Chuyên đề chuyên sâu.docx; SHA-256 2425ffb1b8c109a410a93a30e76c99251d234fa20ab33efbb9922bdc44f0e92f.</a:t>
            </a:r>
          </a:p>
          <a:p>
            <a:endParaRPr/>
          </a:p>
          <a:p>
            <a:r>
              <a:t>Kính thưa cô và các thầy cô, em là Đoàn Ngọc Hoàng Minh. Chuyên đề của em nghiên cứu cách tạo đặc trưng từ log để phục vụ phát hiện tấn công. Vấn đề em theo đuổi không chỉ là đổi log thành vector. Em muốn biết khi gom nhiều sự kiện vào một vector thì thông tin an ninh nào còn lại, thông tin nào mất đi, và mình có cách nào kiểm tra điều đó mà không tự đánh lừa bằng một điểm số đẹp. Em xin đi từ câu hỏi ấy đến phương pháp, rồi trình bày kết quả thực nghiệm, kể cả kết quả chưa ủng hộ giả thuyết ban đầu.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D:/chuyen-de-chuyen-sau/Chuyên đề chuyên sâu.docx; SHA-256 2425ffb1b8c109a410a93a30e76c99251d234fa20ab33efbb9922bdc44f0e92f.</a:t>
            </a:r>
          </a:p>
          <a:p>
            <a:endParaRPr/>
          </a:p>
          <a:p>
            <a:r>
              <a:t>Một dòng log thường kể được rất ít. Nó cho biết một sự kiện đã xảy ra, nhưng ý nghĩa an ninh của sự kiện ấy còn phụ thuộc vào cái gì xảy ra trước đó, thực thể nào liên quan và tham số cụ thể là gì. Vì vậy, nếu chỉ đếm mẫu hoặc tần suất, ta dễ bỏ sót quan hệ và tham số. Nếu chỉ đọc chuỗi, ta giữ được diễn biến nhưng chưa chắc nhìn rõ các phụ thuộc giữa nhiều thực thể. Nếu dựng đồ thị, quan hệ hiện ra rõ hơn, đổi lại chi phí xử lý tăng lên.</a:t>
            </a:r>
          </a:p>
          <a:p>
            <a:endParaRPr/>
          </a:p>
          <a:p>
            <a:r>
              <a:t>Từ khảo sát ở Chương 1, em rút ra năm khoảng trống. Trên slide em đã đặt chúng ở phía bên phải; trong 15 phút này em tập trung vào ba khoảng trống chi phối cách làm: giữ ngữ nghĩa tham số, kết hợp chuỗi với đồ thị mà không làm hỏng biểu diễn tốt sẵn có, và kiểm soát rò rỉ khi đánh giá. Hai khoảng trống còn lại — nhãn an ninh mức thô và quyền riêng tư — được đưa vào khung thiết kế nhưng chưa có thực nghiệm đầy đủ.</a:t>
            </a:r>
          </a:p>
          <a:p>
            <a:endParaRPr/>
          </a:p>
          <a:p>
            <a:r>
              <a:t>**Một mô hình phức tạp hơn không mặc nhiên học được tín hiệu an ninh tốt hơn.** Muốn nói nó tốt hơn, trước hết phải chỉ rõ tín hiệu cần giữ là gì, rồi đo dưới cùng một cách chia dữ liệu và cùng một giao thức.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D:/chuyen-de-chuyen-sau/Chuyên đề chuyên sâu.docx; SHA-256 2425ffb1b8c109a410a93a30e76c99251d234fa20ab33efbb9922bdc44f0e92f.</a:t>
            </a:r>
          </a:p>
          <a:p>
            <a:endParaRPr/>
          </a:p>
          <a:p>
            <a:r>
              <a:t>Em gọi bộ tiêu chí đó là Hợp đồng Biểu diễn. Nó có ba nhóm điều kiện. Bảo toàn là giữ những thứ có thể mang ý nghĩa an ninh, như tham số lệnh, thứ tự thời gian và quan hệ phụ thuộc. Bất biến là không để những thay đổi vô hại — chẳng hạn một PID ngẫu nhiên hoặc cách ghi thời gian — làm đổi kết luận một cách vô lý. Triệt tiêu là hạn chế dấu vết rò rỉ, dấu vết môi trường thí nghiệm và định danh nhạy cảm mà mô hình có thể lợi dụng để học đường tắt.</a:t>
            </a:r>
          </a:p>
          <a:p>
            <a:endParaRPr/>
          </a:p>
          <a:p>
            <a:r>
              <a:t>Ba từ này dễ nghe như cam kết rằng mô hình đã đạt cả ba. Em không dùng chúng theo nghĩa đó. Đây là **đặc tả những gì cần kiểm tra**. Một phép kiểm tra có thể thất bại, và thất bại ấy vẫn cho ta thông tin. Ví dụ, muốn nói vector giữ tham số, phải có phép đo phù hợp với tham số; chỉ nhìn AP phát hiện bất thường ở cấp phiên thì chưa đủ.</a:t>
            </a:r>
          </a:p>
          <a:p>
            <a:endParaRPr/>
          </a:p>
          <a:p>
            <a:r>
              <a:t>Vì thế, em tách bộ trích xuất khỏi bộ phát hiện. Bộ trích xuất học vector từ log; khi đánh giá thì khóa trọng số của nó, huấn luyện riêng một đầu dò tuyến tính. Cách này đo được thông tin có thể đọc ra bằng một bộ phân loại tuyến tính, chứ không tuyên bố đã khai thác hết mọi thông tin phi tuyến trong vector.</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D:/chuyen-de-chuyen-sau/Chuyên đề chuyên sâu.docx; SHA-256 2425ffb1b8c109a410a93a30e76c99251d234fa20ab33efbb9922bdc44f0e92f.</a:t>
            </a:r>
          </a:p>
          <a:p>
            <a:endParaRPr/>
          </a:p>
          <a:p>
            <a:r>
              <a:t>Kiến trúc em đề xuất có hai nhánh. Nhánh chuỗi dùng Transformer để giữ thứ tự và ngữ cảnh sự kiện. Nhánh đồ thị dùng Temporal GNN để biểu diễn các quan hệ thực thể biến đổi theo thời gian. Sau đó, hai nhánh được gióng hàng trong không gian chiếu và kết hợp thành vector cho đánh giá hạ nguồn. Trong thiết kế, đầu chiếu và các hàm mất mát phục vụ huấn luyện không phải là toàn bộ chi phí suy luận khi triển khai.</a:t>
            </a:r>
          </a:p>
          <a:p>
            <a:endParaRPr/>
          </a:p>
          <a:p>
            <a:r>
              <a:t>Lý do ghép hai nhánh là hợp lý về mặt bài toán: chuỗi thấy diễn biến, đồ thị thấy phụ thuộc. Nhưng có một giả định cần kiểm tra: **hai nguồn thông tin có thực sự bổ sung cho nhau trên dữ liệu đang xét không?** Nếu nhánh đồ thị nhiễu, hoặc bước gióng hàng ép hai biểu diễn khác bản chất thành quá giống nhau, kết quả có thể giảm. Em không coi sơ đồ kiến trúc là bằng chứng rằng Multi-View sẽ thắng.</a:t>
            </a:r>
          </a:p>
          <a:p>
            <a:endParaRPr/>
          </a:p>
          <a:p>
            <a:r>
              <a:t>Phần suy luận theo dòng ở cuối slide là hướng thiết kế: sự kiện mới đến, trạng thái hữu hạn được cập nhật, rồi tạo vector hiện tại. Trong thực nghiệm HDFS hiện nay em chưa đo toàn trình thông lượng hay độ trễ. Do đó, em chỉ bảo vệ đây là cấu trúc dự kiến cho vận hành, chưa bảo vệ được yêu cầu thời gian thực.</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D:/chuyen-de-chuyen-sau/Chuyên đề chuyên sâu.docx; SHA-256 2425ffb1b8c109a410a93a30e76c99251d234fa20ab33efbb9922bdc44f0e92f.</a:t>
            </a:r>
          </a:p>
          <a:p>
            <a:endParaRPr/>
          </a:p>
          <a:p>
            <a:r>
              <a:t>Dữ liệu HDFS có hơn 11 triệu bản ghi log, gắn với hơn 575 nghìn phiên khối. Chiến dịch này dùng 35 nghìn phiên Train và 7 nghìn 500 phiên Validation, với cửa sổ ngữ cảnh dài 256 sự kiện. Điểm cần chú ý không chỉ là quy mô, mà là **thứ tự phân chia**: Train ở trước, Validation ở sau theo thời gian; phiên giữa các phân vùng không chồng lấn, và vùng giáp ranh được loại bỏ.</a:t>
            </a:r>
          </a:p>
          <a:p>
            <a:endParaRPr/>
          </a:p>
          <a:p>
            <a:r>
              <a:t>Nếu trộn ngẫu nhiên những phiên có liên hệ thời gian rồi mới chia, ta có nguy cơ cho mô hình nhìn thấy ở Train những dấu vết rất gần với mẫu Validation. Khi ấy điểm số có thể đẹp nhưng câu hỏi nghiên cứu lại bị trả lời sai. Quy trình ở đây cố gắng chặn con đường đó bằng manifest, mã băm danh sách phiên và những bất biến phân chia trong mã nguồn.</a:t>
            </a:r>
          </a:p>
          <a:p>
            <a:endParaRPr/>
          </a:p>
          <a:p>
            <a:r>
              <a:t>Tập Test vẫn niêm phong. Em sẽ nhắc lại giới hạn này ở phần kết quả: những số AP và ROC-AUC sắp trình bày là trên Validation. Chúng có ích để so sánh các nhánh trong cùng phép thử, nhưng chưa phải điểm số cuối cùng trên Test.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D:/chuyen-de-chuyen-sau/Chuyên đề chuyên sâu.docx; SHA-256 2425ffb1b8c109a410a93a30e76c99251d234fa20ab33efbb9922bdc44f0e92f.</a:t>
            </a:r>
          </a:p>
          <a:p>
            <a:endParaRPr/>
          </a:p>
          <a:p>
            <a:r>
              <a:t>Stage A2 học từ ba bài tập: đoán quan hệ bị che, đoán thuộc tính nút bị che và xử lý khoảng thời gian. Trọng số trong hàm mất mát lần lượt là một, một và không phẩy một. Đây là hệ số thiết kế của mục tiêu, **không phải tỷ lệ đóng góp thực tế** của từng loại thông tin vào khả năng phát hiện tấn công.</a:t>
            </a:r>
          </a:p>
          <a:p>
            <a:endParaRPr/>
          </a:p>
          <a:p>
            <a:r>
              <a:t>Em báo cáo năm lượt chạy với các seed khác nhau. Cột loss cho biết mức tối ưu đối với bài tập tự giám sát của từng lượt. Nhưng khi rà hồ sơ, không lượt nào khớp trọn vẹn mọi điều kiện của giao thức chuẩn: có trường hợp lịch học cũ, dừng sớm, thiếu hồ sơ hoặc mốc commit không đúng kế hoạch đã khóa. Nói như vậy không có nghĩa cả năm lượt “hỏng”; nó có nghĩa em không được phép gọi chúng là năm lần lặp hoàn toàn tương đương rồi lấy trung bình như thể điều kiện giống nhau.</a:t>
            </a:r>
          </a:p>
          <a:p>
            <a:endParaRPr/>
          </a:p>
          <a:p>
            <a:r>
              <a:t>Quan trọng hơn, loss thấp chưa chứng minh biểu diễn có ích cho an ninh. Mô hình có thể giải tốt bài tập che quan hệ nhưng không giúp tách lớp bất thường. Vì vậy, muốn kiểm tra giả thuyết về chất lượng biểu diễn, em chuyển sang đầu dò hạ nguồn với trọng số backbone đã đóng băng.</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D:/chuyen-de-chuyen-sau/Chuyên đề chuyên sâu.docx; SHA-256 2425ffb1b8c109a410a93a30e76c99251d234fa20ab33efbb9922bdc44f0e92f.</a:t>
            </a:r>
          </a:p>
          <a:p>
            <a:endParaRPr/>
          </a:p>
          <a:p>
            <a:r>
              <a:t>Giao thức V3 dùng sáu bộ trích xuất cố định: ba Sequence-Only và ba Multi-View theo các seed ghép cặp. Với mỗi bộ, đầu dò tuyến tính học trên 35 nghìn vector Train rồi được đo trên 7 nghìn 500 vector Validation; backbone không cập nhật. Em đã chạy lại trích xuất và fit đầu dò từ cả sáu checkpoint trên GPU. Các số in ra khớp Word ở độ chính xác báo cáo. Đây là đánh giá lại checkpoint, chưa phải huấn luyện lại Stage A2.</a:t>
            </a:r>
          </a:p>
          <a:p>
            <a:endParaRPr/>
          </a:p>
          <a:p>
            <a:r>
              <a:t>Sequence-Only đạt AP bằng một trên cả ba seed. Multi-View đạt khoảng 0,76; 0,63; và 0,59, trung bình 0,6608. AP cho biết thứ hạng của lớp dương trong bài toán này; ROC-AUC nhìn khả năng phân biệt hai lớp trên toàn dải ngưỡng. Kết quả AP bằng một là rất cao, nhưng em chỉ phát biểu đúng phạm vi: **đó là kết quả quan sát trên HDFS Validation theo giao thức V3**. Nó không phải chứng cứ rằng mô hình sẽ không mắc lỗi ở một tập dữ liệu khác.</a:t>
            </a:r>
          </a:p>
          <a:p>
            <a:endParaRPr/>
          </a:p>
          <a:p>
            <a:r>
              <a:t>Điều có thể rút ra ngay từ bảng là Multi-View thấp hơn Sequence-Only ở cả ba seed. Đây là điểm trái với kỳ vọng khi thiết kế kiến trúc. Em không bỏ qua nó; em dùng nó để kiểm tra trực tiếp giả thuyết H2 ở slide sau.</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D:/chuyen-de-chuyen-sau/Chuyên đề chuyên sâu.docx; SHA-256 2425ffb1b8c109a410a93a30e76c99251d234fa20ab33efbb9922bdc44f0e92f.</a:t>
            </a:r>
          </a:p>
          <a:p>
            <a:endParaRPr/>
          </a:p>
          <a:p>
            <a:r>
              <a:t>H2 hỏi liệu Multi-View có ít nhất không thua kém Sequence-Only hay không. “Không thua kém” phải có ngưỡng cụ thể, chứ không thể nhìn bảng rồi mới đặt ngưỡng. Trong chuyên đề, biên AP được đặt trước là âm 0,02. Em lấy AP Multi-View trừ AP Sequence theo từng seed. Ba độ lệch là âm 0,2396; âm 0,3691; và âm 0,4089. Cả ba đều vượt xa biên theo chiều bất lợi. Trung bình là âm 0,3392; số cộng trừ đi kèm là độ lệch chuẩn mẫu qua ba seed, không phải khoảng tin cậy.</a:t>
            </a:r>
          </a:p>
          <a:p>
            <a:endParaRPr/>
          </a:p>
          <a:p>
            <a:r>
              <a:t>Có một cách bắt bẻ hợp lý: Sequence thắng vì được nhìn trực tiếp các khe tham số, còn Multi-View thì không. Em đã kiểm tra đúng điểm này bằng cách che tham số của Sequence trên cả Train và Validation, lấy lại biểu diễn rồi huấn luyện một đầu dò mới. Trong phép kiểm tra ấy, AP của Sequence vẫn bằng một ở cả ba seed. Như vậy, lời giải thích “chỉ vì Sequence thấy tham số đầu vào” không phù hợp với kết quả của phép kiểm tra cụ thể này.</a:t>
            </a:r>
          </a:p>
          <a:p>
            <a:endParaRPr/>
          </a:p>
          <a:p>
            <a:r>
              <a:t>Kết luận em bảo vệ là H2 **không được hỗ trợ trong đối chứng HDFS Validation đã thực hiện**. Em không nói mọi mô hình đa góc nhìn đều kém. Ba seed cũng không đủ để tuyên bố ý nghĩa thống kê rộng hoặc quan hệ nhân quả. Nhưng với biên đặt trước và ba cặp quan sát hiện có, em không thể gọi Multi-View là không thua kém.</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D:/chuyen-de-chuyen-sau/Chuyên đề chuyên sâu.docx; SHA-256 2425ffb1b8c109a410a93a30e76c99251d234fa20ab33efbb9922bdc44f0e92f.</a:t>
            </a:r>
          </a:p>
          <a:p>
            <a:endParaRPr/>
          </a:p>
          <a:p>
            <a:r>
              <a:t>H1 hỏi liệu tham số động có được giữ lại với ý nghĩa an ninh hay không. Trở ngại là nhãn tham số nằm ở cấp token hoặc khe tham số, còn vector mang đi đánh giá là một vector gộp 128 chiều cho cả phiên. Đây là lệch cấp độ mục tiêu. Nếu em dùng điểm phát hiện bất thường cấp phiên để xác nhận H1, em đã trả lời một câu hỏi khác.</a:t>
            </a:r>
          </a:p>
          <a:p>
            <a:endParaRPr/>
          </a:p>
          <a:p>
            <a:r>
              <a:t>Vì chưa đo trực tiếp được, em làm phép thử gián tiếp: giữ nguyên mô hình Sequence, che các khe tham số đầu vào rồi so vector với trường hợp không che. Cosine từ 0,8201 đến 0,9581 và khoảng cách Euclid khác không cho thấy vector đã thay đổi. Nhưng AP phát hiện bất thường vẫn bằng một. Cách đọc đúng là: **vector nhạy với thao tác che tham số; phép thử này chưa cho biết nó hiểu hoặc giữ đúng ngữ nghĩa tham số đến mức nào**. Cũng chưa thể kết luận tham số là vô ích: bài toán hạ nguồn HDFS này có thể được giải bằng những tín hiệu khác.</a:t>
            </a:r>
          </a:p>
          <a:p>
            <a:endParaRPr/>
          </a:p>
          <a:p>
            <a:r>
              <a:t>Ở nửa còn lại là lượt chạy lại thủ công Sequence seed 42. Mô hình chạy sáu epoch; checkpoint tốt nhất ở epoch ba; loss Validation tốt nhất là 0,009218; bộ nhớ GPU đỉnh khoảng 170,45 MB. Hai số AP 0,899385 và 1,0000 nằm cạnh nhau nhưng thuộc hai giao thức khác nhau: một đầu dò nội bộ chia Validation 80/20, và một đầu dò V3 học trên Train rồi đánh giá trên Validation. Em giữ cả hai để người đọc thấy quá trình, đồng thời ghi rõ không được so chúng như hai phép đo đồng nhất.</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t>Nguồn nội dung: D:/chuyen-de-chuyen-sau/Chuyên đề chuyên sâu.docx; SHA-256 2425ffb1b8c109a410a93a30e76c99251d234fa20ab33efbb9922bdc44f0e92f.</a:t>
            </a:r>
          </a:p>
          <a:p>
            <a:endParaRPr/>
          </a:p>
          <a:p>
            <a:r>
              <a:t>Đóng góp của chuyên đề có ba phần. Thứ nhất là Hợp đồng Biểu diễn: một cách đặt tiêu chí cụ thể cho vector log. Thứ hai là tích hợp kiến trúc chuỗi và đồ thị theo thời gian; em không tuyên bố các khối nguyên thủy như Transformer hay VICReg là thuật toán do em phát minh. Thứ ba là hạ tầng thực nghiệm và đối soát: từ phân chia dữ liệu, đầu dò đóng băng, đến việc công khai các sai lệch thủ tục và kết quả âm tính.</a:t>
            </a:r>
          </a:p>
          <a:p>
            <a:endParaRPr/>
          </a:p>
          <a:p>
            <a:r>
              <a:t>Trạng thái bằng chứng hiện nay cũng phải tách rõ. H1 chưa được kiểm tra trực tiếp; H2 không được hỗ trợ trong đối chứng HDFS Validation; H3 đến H5 chưa có thực nghiệm xác nhận. ER1 mới có quan sát bộ nhớ, chưa có số đo thông lượng và độ trễ. Graph-Only xác nhận mới chưa được huấn luyện theo V3, còn Test vẫn niêm phong.</a:t>
            </a:r>
          </a:p>
          <a:p>
            <a:endParaRPr/>
          </a:p>
          <a:p>
            <a:r>
              <a:t>Theo em, kết quả âm tính ở H2 không làm chuyên đề mất giá trị. Nó chỉ ra đúng chỗ giả định kiến trúc chưa đứng vững: thêm góc nhìn đồ thị đã không tạo ra lợi ích trên phép thử này. Hướng tiếp theo không phải chỉnh cách kể để biến kết quả thành tích cực, mà là đo H1 ở đúng cấp token, tìm nguyên nhân Multi-View giảm hiệu năng, thử trên dữ liệu có cấu trúc quan hệ phong phú hơn, rồi mới mở Test theo giao thức khóa trước. Đó là phạm vi em có thể bảo vệ bằng dữ liệu đang có. Em xin cảm ơn cô và các thầy cô.</a:t>
            </a:r>
          </a:p>
        </p:txBody>
      </p:sp>
      <p:sp>
        <p:nvSpPr>
          <p:cNvPr id="4" name="Slide Number Placeholder 3"/>
          <p:cNvSpPr>
            <a:spLocks noGrp="1"/>
          </p:cNvSpPr>
          <p:nvPr>
            <p:ph type="sldNum" idx="5"/>
          </p:nvPr>
        </p:nvSpPr>
        <p:spPr/>
        <p:txBody>
          <a:bodyPr/>
          <a:lstStyle/>
          <a:p>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Title Slide">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name="Master">
    <p:bg>
      <p:bgRef idx="1001">
        <a:schemeClr val="bg1"/>
      </p:bgRef>
    </p:bg>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txStyles>
    <p:titleStyle>
      <a:lvl1pPr algn="l">
        <a:lnSpc>
          <a:spcPct val="90000"/>
        </a:lnSpc>
        <a:spcBef>
          <a:spcPts val="0"/>
        </a:spcBef>
        <a:buNone/>
        <a:defRPr sz="4400">
          <a:solidFill>
            <a:schemeClr val="tx1"/>
          </a:solidFill>
          <a:latin typeface="+mj-lt"/>
          <a:ea typeface="+mj-lt"/>
          <a:cs typeface="+mj-lt"/>
        </a:defRPr>
      </a:lvl1pPr>
    </p:titleStyle>
    <p:bodyStyle>
      <a:lvl1pPr marL="228600" indent="-228600" algn="l">
        <a:lnSpc>
          <a:spcPct val="90000"/>
        </a:lnSpc>
        <a:spcBef>
          <a:spcPts val="1000"/>
        </a:spcBef>
        <a:buChar char="•"/>
        <a:defRPr sz="2800">
          <a:solidFill>
            <a:schemeClr val="tx1"/>
          </a:solidFill>
          <a:latin typeface="+mn-lt"/>
          <a:ea typeface="+mn-lt"/>
          <a:cs typeface="+mn-lt"/>
        </a:defRPr>
      </a:lvl1pPr>
      <a:lvl2pPr marL="685800" indent="-228600" algn="l">
        <a:lnSpc>
          <a:spcPct val="90000"/>
        </a:lnSpc>
        <a:spcBef>
          <a:spcPts val="500"/>
        </a:spcBef>
        <a:buChar char="•"/>
        <a:defRPr sz="2400">
          <a:solidFill>
            <a:schemeClr val="tx1"/>
          </a:solidFill>
          <a:latin typeface="+mn-lt"/>
          <a:ea typeface="+mn-lt"/>
          <a:cs typeface="+mn-lt"/>
        </a:defRPr>
      </a:lvl2pPr>
      <a:lvl3pPr marL="1143000" indent="-228600" algn="l">
        <a:lnSpc>
          <a:spcPct val="90000"/>
        </a:lnSpc>
        <a:spcBef>
          <a:spcPts val="500"/>
        </a:spcBef>
        <a:buChar char="•"/>
        <a:defRPr sz="2000">
          <a:solidFill>
            <a:schemeClr val="tx1"/>
          </a:solidFill>
          <a:latin typeface="+mn-lt"/>
          <a:ea typeface="+mn-lt"/>
          <a:cs typeface="+mn-lt"/>
        </a:defRPr>
      </a:lvl3pPr>
      <a:lvl4pPr marL="1600200" indent="-228600" algn="l">
        <a:lnSpc>
          <a:spcPct val="90000"/>
        </a:lnSpc>
        <a:spcBef>
          <a:spcPts val="500"/>
        </a:spcBef>
        <a:buChar char="•"/>
        <a:defRPr sz="1800">
          <a:solidFill>
            <a:schemeClr val="tx1"/>
          </a:solidFill>
          <a:latin typeface="+mn-lt"/>
          <a:ea typeface="+mn-lt"/>
          <a:cs typeface="+mn-lt"/>
        </a:defRPr>
      </a:lvl4pPr>
      <a:lvl5pPr marL="2057400" indent="-228600" algn="l">
        <a:lnSpc>
          <a:spcPct val="90000"/>
        </a:lnSpc>
        <a:spcBef>
          <a:spcPts val="500"/>
        </a:spcBef>
        <a:buChar char="•"/>
        <a:defRPr sz="1800">
          <a:solidFill>
            <a:schemeClr val="tx1"/>
          </a:solidFill>
          <a:latin typeface="+mn-lt"/>
          <a:ea typeface="+mn-lt"/>
          <a:cs typeface="+mn-lt"/>
        </a:defRPr>
      </a:lvl5pPr>
      <a:lvl6pPr marL="2514600" indent="-228600" algn="l">
        <a:lnSpc>
          <a:spcPct val="90000"/>
        </a:lnSpc>
        <a:spcBef>
          <a:spcPts val="500"/>
        </a:spcBef>
        <a:buChar char="•"/>
        <a:defRPr sz="1800">
          <a:solidFill>
            <a:schemeClr val="tx1"/>
          </a:solidFill>
          <a:latin typeface="+mn-lt"/>
          <a:ea typeface="+mn-lt"/>
          <a:cs typeface="+mn-lt"/>
        </a:defRPr>
      </a:lvl6pPr>
      <a:lvl7pPr marL="2971800" indent="-228600" algn="l">
        <a:lnSpc>
          <a:spcPct val="90000"/>
        </a:lnSpc>
        <a:spcBef>
          <a:spcPts val="500"/>
        </a:spcBef>
        <a:buChar char="•"/>
        <a:defRPr sz="1800">
          <a:solidFill>
            <a:schemeClr val="tx1"/>
          </a:solidFill>
          <a:latin typeface="+mn-lt"/>
          <a:ea typeface="+mn-lt"/>
          <a:cs typeface="+mn-lt"/>
        </a:defRPr>
      </a:lvl7pPr>
      <a:lvl8pPr marL="3429000" indent="-228600" algn="l">
        <a:lnSpc>
          <a:spcPct val="90000"/>
        </a:lnSpc>
        <a:spcBef>
          <a:spcPts val="500"/>
        </a:spcBef>
        <a:buChar char="•"/>
        <a:defRPr sz="1800">
          <a:solidFill>
            <a:schemeClr val="tx1"/>
          </a:solidFill>
          <a:latin typeface="+mn-lt"/>
          <a:ea typeface="+mn-lt"/>
          <a:cs typeface="+mn-lt"/>
        </a:defRPr>
      </a:lvl8pPr>
      <a:lvl9pPr marL="3886200" indent="-228600" algn="l">
        <a:lnSpc>
          <a:spcPct val="90000"/>
        </a:lnSpc>
        <a:spcBef>
          <a:spcPts val="500"/>
        </a:spcBef>
        <a:buChar char="•"/>
        <a:defRPr sz="1800">
          <a:solidFill>
            <a:schemeClr val="tx1"/>
          </a:solidFill>
          <a:latin typeface="+mn-lt"/>
          <a:ea typeface="+mn-lt"/>
          <a:cs typeface="+mn-lt"/>
        </a:defRPr>
      </a:lvl9pPr>
    </p:bodyStyle>
    <p:otherStyle>
      <a:lvl1pPr marL="0" algn="l">
        <a:buNone/>
        <a:defRPr sz="1800">
          <a:solidFill>
            <a:schemeClr val="tx1"/>
          </a:solidFill>
          <a:latin typeface="+mn-lt"/>
          <a:ea typeface="+mn-lt"/>
          <a:cs typeface="+mn-lt"/>
        </a:defRPr>
      </a:lvl1pPr>
      <a:lvl2pPr marL="457200" algn="l">
        <a:buNone/>
        <a:defRPr sz="1800">
          <a:solidFill>
            <a:schemeClr val="tx1"/>
          </a:solidFill>
          <a:latin typeface="+mn-lt"/>
          <a:ea typeface="+mn-lt"/>
          <a:cs typeface="+mn-lt"/>
        </a:defRPr>
      </a:lvl2pPr>
      <a:lvl3pPr marL="914400" algn="l">
        <a:buNone/>
        <a:defRPr sz="1800">
          <a:solidFill>
            <a:schemeClr val="tx1"/>
          </a:solidFill>
          <a:latin typeface="+mn-lt"/>
          <a:ea typeface="+mn-lt"/>
          <a:cs typeface="+mn-lt"/>
        </a:defRPr>
      </a:lvl3pPr>
      <a:lvl4pPr marL="1371600" algn="l">
        <a:buNone/>
        <a:defRPr sz="1800">
          <a:solidFill>
            <a:schemeClr val="tx1"/>
          </a:solidFill>
          <a:latin typeface="+mn-lt"/>
          <a:ea typeface="+mn-lt"/>
          <a:cs typeface="+mn-lt"/>
        </a:defRPr>
      </a:lvl4pPr>
      <a:lvl5pPr marL="1828800" algn="l">
        <a:buNone/>
        <a:defRPr sz="1800">
          <a:solidFill>
            <a:schemeClr val="tx1"/>
          </a:solidFill>
          <a:latin typeface="+mn-lt"/>
          <a:ea typeface="+mn-lt"/>
          <a:cs typeface="+mn-lt"/>
        </a:defRPr>
      </a:lvl5pPr>
      <a:lvl6pPr marL="2286000" algn="l">
        <a:buNone/>
        <a:defRPr sz="1800">
          <a:solidFill>
            <a:schemeClr val="tx1"/>
          </a:solidFill>
          <a:latin typeface="+mn-lt"/>
          <a:ea typeface="+mn-lt"/>
          <a:cs typeface="+mn-lt"/>
        </a:defRPr>
      </a:lvl6pPr>
      <a:lvl7pPr marL="2743200" algn="l">
        <a:buNone/>
        <a:defRPr sz="1800">
          <a:solidFill>
            <a:schemeClr val="tx1"/>
          </a:solidFill>
          <a:latin typeface="+mn-lt"/>
          <a:ea typeface="+mn-lt"/>
          <a:cs typeface="+mn-lt"/>
        </a:defRPr>
      </a:lvl7pPr>
      <a:lvl8pPr marL="3200400" algn="l">
        <a:buNone/>
        <a:defRPr sz="1800">
          <a:solidFill>
            <a:schemeClr val="tx1"/>
          </a:solidFill>
          <a:latin typeface="+mn-lt"/>
          <a:ea typeface="+mn-lt"/>
          <a:cs typeface="+mn-lt"/>
        </a:defRPr>
      </a:lvl8pPr>
      <a:lvl9pPr marL="3657600" algn="l">
        <a:buNone/>
        <a:defRPr sz="1800">
          <a:solidFill>
            <a:schemeClr val="tx1"/>
          </a:solidFill>
          <a:latin typeface="+mn-lt"/>
          <a:ea typeface="+mn-lt"/>
          <a:cs typeface="+mn-lt"/>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20" name="cover rule">
            <a:extLst>
              <a:ext uri="{FF2B5EF4-FFF2-40B4-BE49-F238E27FC236}">
                <a16:creationId xmlns:a16="http://schemas.microsoft.com/office/drawing/2014/main" id="{64006B3F-6CB6-49D7-8AE2-F20593D42633}"/>
              </a:ext>
            </a:extLst>
          </p:cNvPr>
          <p:cNvSpPr>
            <a:spLocks noGrp="1"/>
          </p:cNvSpPr>
          <p:nvPr/>
        </p:nvSpPr>
        <p:spPr>
          <a:xfrm>
            <a:off x="590550" y="714375"/>
            <a:ext cx="1571625" cy="47625"/>
          </a:xfrm>
          <a:prstGeom prst="rect">
            <a:avLst/>
          </a:prstGeom>
          <a:solidFill>
            <a:srgbClr val="2B658B"/>
          </a:solidFill>
          <a:ln w="0">
            <a:noFill/>
            <a:prstDash val="solid"/>
          </a:ln>
        </p:spPr>
      </p:sp>
      <p:sp>
        <p:nvSpPr>
          <p:cNvPr id="2" name="institution">
            <a:extLst>
              <a:ext uri="{FF2B5EF4-FFF2-40B4-BE49-F238E27FC236}">
                <a16:creationId xmlns:a16="http://schemas.microsoft.com/office/drawing/2014/main" id="{1D24C8E0-AA72-428C-8695-E2030D9369CD}"/>
              </a:ext>
            </a:extLst>
          </p:cNvPr>
          <p:cNvSpPr>
            <a:spLocks noGrp="1"/>
          </p:cNvSpPr>
          <p:nvPr/>
        </p:nvSpPr>
        <p:spPr>
          <a:xfrm>
            <a:off x="590550" y="952500"/>
            <a:ext cx="7620000" cy="285750"/>
          </a:xfrm>
          <a:prstGeom prst="rect">
            <a:avLst/>
          </a:prstGeom>
          <a:noFill/>
          <a:ln w="0">
            <a:noFill/>
            <a:prstDash val="solid"/>
          </a:ln>
        </p:spPr>
        <p:txBody>
          <a:bodyPr wrap="square" lIns="0" tIns="0" rIns="0" bIns="0" anchor="ctr">
            <a:noAutofit/>
          </a:bodyPr>
          <a:lstStyle/>
          <a:p>
            <a:pPr algn="l">
              <a:defRPr sz="1500" b="1">
                <a:solidFill>
                  <a:srgbClr val="2B658B"/>
                </a:solidFill>
                <a:latin typeface="Arial"/>
                <a:ea typeface="Arial"/>
                <a:cs typeface="Arial"/>
              </a:defRPr>
            </a:pPr>
            <a:r>
              <a:rPr sz="1500" b="1">
                <a:solidFill>
                  <a:srgbClr val="2B658B"/>
                </a:solidFill>
                <a:latin typeface="Arial"/>
                <a:ea typeface="Arial"/>
                <a:cs typeface="Arial"/>
              </a:rPr>
              <a:t>HỌC VIỆN KỸ THUẬT MẬT MÃ</a:t>
            </a:r>
          </a:p>
        </p:txBody>
      </p:sp>
      <p:sp>
        <p:nvSpPr>
          <p:cNvPr id="3" name="course">
            <a:extLst>
              <a:ext uri="{FF2B5EF4-FFF2-40B4-BE49-F238E27FC236}">
                <a16:creationId xmlns:a16="http://schemas.microsoft.com/office/drawing/2014/main" id="{852388E1-F498-491F-B6EF-792B0A8FB49F}"/>
              </a:ext>
            </a:extLst>
          </p:cNvPr>
          <p:cNvSpPr>
            <a:spLocks noGrp="1"/>
          </p:cNvSpPr>
          <p:nvPr/>
        </p:nvSpPr>
        <p:spPr>
          <a:xfrm>
            <a:off x="590550" y="1438275"/>
            <a:ext cx="8096250" cy="304800"/>
          </a:xfrm>
          <a:prstGeom prst="rect">
            <a:avLst/>
          </a:prstGeom>
          <a:noFill/>
          <a:ln w="0">
            <a:noFill/>
            <a:prstDash val="solid"/>
          </a:ln>
        </p:spPr>
        <p:txBody>
          <a:bodyPr wrap="square" lIns="0" tIns="0" rIns="0" bIns="0" anchor="ctr">
            <a:noAutofit/>
          </a:bodyPr>
          <a:lstStyle/>
          <a:p>
            <a:pPr algn="l">
              <a:defRPr sz="1575" b="1">
                <a:solidFill>
                  <a:srgbClr val="506473"/>
                </a:solidFill>
                <a:latin typeface="Arial"/>
                <a:ea typeface="Arial"/>
                <a:cs typeface="Arial"/>
              </a:defRPr>
            </a:pPr>
            <a:r>
              <a:rPr sz="1575" b="1">
                <a:solidFill>
                  <a:srgbClr val="506473"/>
                </a:solidFill>
                <a:latin typeface="Arial"/>
                <a:ea typeface="Arial"/>
                <a:cs typeface="Arial"/>
              </a:rPr>
              <a:t>BÁO CÁO MÔN HỌC · CHUYÊN ĐỀ CHUYÊN SÂU</a:t>
            </a:r>
          </a:p>
        </p:txBody>
      </p:sp>
      <p:sp>
        <p:nvSpPr>
          <p:cNvPr id="4" name="title 1">
            <a:extLst>
              <a:ext uri="{FF2B5EF4-FFF2-40B4-BE49-F238E27FC236}">
                <a16:creationId xmlns:a16="http://schemas.microsoft.com/office/drawing/2014/main" id="{2606739B-BC03-4AD9-A24D-05E5F585D544}"/>
              </a:ext>
            </a:extLst>
          </p:cNvPr>
          <p:cNvSpPr>
            <a:spLocks noGrp="1"/>
          </p:cNvSpPr>
          <p:nvPr/>
        </p:nvSpPr>
        <p:spPr>
          <a:xfrm>
            <a:off x="590550" y="2095500"/>
            <a:ext cx="8001000" cy="590550"/>
          </a:xfrm>
          <a:prstGeom prst="rect">
            <a:avLst/>
          </a:prstGeom>
          <a:noFill/>
          <a:ln w="0">
            <a:noFill/>
            <a:prstDash val="solid"/>
          </a:ln>
        </p:spPr>
        <p:txBody>
          <a:bodyPr wrap="square" lIns="0" tIns="0" rIns="0" bIns="0" anchor="ctr">
            <a:noAutofit/>
          </a:bodyPr>
          <a:lstStyle/>
          <a:p>
            <a:pPr algn="l">
              <a:defRPr sz="3600" b="1">
                <a:solidFill>
                  <a:srgbClr val="182C39"/>
                </a:solidFill>
                <a:latin typeface="Arial"/>
                <a:ea typeface="Arial"/>
                <a:cs typeface="Arial"/>
              </a:defRPr>
            </a:pPr>
            <a:r>
              <a:rPr sz="3600" b="1">
                <a:solidFill>
                  <a:srgbClr val="182C39"/>
                </a:solidFill>
                <a:latin typeface="Arial"/>
                <a:ea typeface="Arial"/>
                <a:cs typeface="Arial"/>
              </a:rPr>
              <a:t>NGHIÊN CỨU PHƯƠNG PHÁP</a:t>
            </a:r>
          </a:p>
        </p:txBody>
      </p:sp>
      <p:sp>
        <p:nvSpPr>
          <p:cNvPr id="5" name="title 2">
            <a:extLst>
              <a:ext uri="{FF2B5EF4-FFF2-40B4-BE49-F238E27FC236}">
                <a16:creationId xmlns:a16="http://schemas.microsoft.com/office/drawing/2014/main" id="{00755E3E-5FEF-45B8-BB2E-D9436350F6C1}"/>
              </a:ext>
            </a:extLst>
          </p:cNvPr>
          <p:cNvSpPr>
            <a:spLocks noGrp="1"/>
          </p:cNvSpPr>
          <p:nvPr/>
        </p:nvSpPr>
        <p:spPr>
          <a:xfrm>
            <a:off x="590550" y="2714625"/>
            <a:ext cx="8001000" cy="590550"/>
          </a:xfrm>
          <a:prstGeom prst="rect">
            <a:avLst/>
          </a:prstGeom>
          <a:noFill/>
          <a:ln w="0">
            <a:noFill/>
            <a:prstDash val="solid"/>
          </a:ln>
        </p:spPr>
        <p:txBody>
          <a:bodyPr wrap="square" lIns="0" tIns="0" rIns="0" bIns="0" anchor="ctr">
            <a:noAutofit/>
          </a:bodyPr>
          <a:lstStyle/>
          <a:p>
            <a:pPr algn="l">
              <a:defRPr sz="3600" b="1">
                <a:solidFill>
                  <a:srgbClr val="182C39"/>
                </a:solidFill>
                <a:latin typeface="Arial"/>
                <a:ea typeface="Arial"/>
                <a:cs typeface="Arial"/>
              </a:defRPr>
            </a:pPr>
            <a:r>
              <a:rPr sz="3600" b="1">
                <a:solidFill>
                  <a:srgbClr val="182C39"/>
                </a:solidFill>
                <a:latin typeface="Arial"/>
                <a:ea typeface="Arial"/>
                <a:cs typeface="Arial"/>
              </a:rPr>
              <a:t>TRÍCH XUẤT ĐẶC TRƯNG</a:t>
            </a:r>
          </a:p>
        </p:txBody>
      </p:sp>
      <p:sp>
        <p:nvSpPr>
          <p:cNvPr id="6" name="title 3">
            <a:extLst>
              <a:ext uri="{FF2B5EF4-FFF2-40B4-BE49-F238E27FC236}">
                <a16:creationId xmlns:a16="http://schemas.microsoft.com/office/drawing/2014/main" id="{84E5E145-AD27-4FA0-BD9C-6FECE200CC3F}"/>
              </a:ext>
            </a:extLst>
          </p:cNvPr>
          <p:cNvSpPr>
            <a:spLocks noGrp="1"/>
          </p:cNvSpPr>
          <p:nvPr/>
        </p:nvSpPr>
        <p:spPr>
          <a:xfrm>
            <a:off x="590550" y="3352800"/>
            <a:ext cx="8001000" cy="552450"/>
          </a:xfrm>
          <a:prstGeom prst="rect">
            <a:avLst/>
          </a:prstGeom>
          <a:noFill/>
          <a:ln w="0">
            <a:noFill/>
            <a:prstDash val="solid"/>
          </a:ln>
        </p:spPr>
        <p:txBody>
          <a:bodyPr wrap="square" lIns="0" tIns="0" rIns="0" bIns="0" anchor="ctr">
            <a:noAutofit/>
          </a:bodyPr>
          <a:lstStyle/>
          <a:p>
            <a:pPr algn="l">
              <a:defRPr sz="2850" b="1">
                <a:solidFill>
                  <a:srgbClr val="182C39"/>
                </a:solidFill>
                <a:latin typeface="Arial"/>
                <a:ea typeface="Arial"/>
                <a:cs typeface="Arial"/>
              </a:defRPr>
            </a:pPr>
            <a:r>
              <a:rPr sz="2850" b="1">
                <a:solidFill>
                  <a:srgbClr val="182C39"/>
                </a:solidFill>
                <a:latin typeface="Arial"/>
                <a:ea typeface="Arial"/>
                <a:cs typeface="Arial"/>
              </a:rPr>
              <a:t>ĐỐI VỚI DỮ LIỆU LOGS</a:t>
            </a:r>
          </a:p>
        </p:txBody>
      </p:sp>
      <p:sp>
        <p:nvSpPr>
          <p:cNvPr id="7" name="title 4">
            <a:extLst>
              <a:ext uri="{FF2B5EF4-FFF2-40B4-BE49-F238E27FC236}">
                <a16:creationId xmlns:a16="http://schemas.microsoft.com/office/drawing/2014/main" id="{85913EC1-CAE1-4DFC-9991-C213802225DF}"/>
              </a:ext>
            </a:extLst>
          </p:cNvPr>
          <p:cNvSpPr>
            <a:spLocks noGrp="1"/>
          </p:cNvSpPr>
          <p:nvPr/>
        </p:nvSpPr>
        <p:spPr>
          <a:xfrm>
            <a:off x="590550" y="3905250"/>
            <a:ext cx="8096250" cy="552450"/>
          </a:xfrm>
          <a:prstGeom prst="rect">
            <a:avLst/>
          </a:prstGeom>
          <a:noFill/>
          <a:ln w="0">
            <a:noFill/>
            <a:prstDash val="solid"/>
          </a:ln>
        </p:spPr>
        <p:txBody>
          <a:bodyPr wrap="square" lIns="0" tIns="0" rIns="0" bIns="0" anchor="ctr">
            <a:noAutofit/>
          </a:bodyPr>
          <a:lstStyle/>
          <a:p>
            <a:pPr algn="l">
              <a:defRPr sz="2700" b="1">
                <a:solidFill>
                  <a:srgbClr val="182C39"/>
                </a:solidFill>
                <a:latin typeface="Arial"/>
                <a:ea typeface="Arial"/>
                <a:cs typeface="Arial"/>
              </a:defRPr>
            </a:pPr>
            <a:r>
              <a:rPr sz="2700" b="1">
                <a:solidFill>
                  <a:srgbClr val="182C39"/>
                </a:solidFill>
                <a:latin typeface="Arial"/>
                <a:ea typeface="Arial"/>
                <a:cs typeface="Arial"/>
              </a:rPr>
              <a:t>TRONG PHÁT HIỆN TẤN CÔNG</a:t>
            </a:r>
          </a:p>
        </p:txBody>
      </p:sp>
      <p:sp>
        <p:nvSpPr>
          <p:cNvPr id="8" name="name">
            <a:extLst>
              <a:ext uri="{FF2B5EF4-FFF2-40B4-BE49-F238E27FC236}">
                <a16:creationId xmlns:a16="http://schemas.microsoft.com/office/drawing/2014/main" id="{AE12C39A-313B-4071-8DD9-272A38A2823C}"/>
              </a:ext>
            </a:extLst>
          </p:cNvPr>
          <p:cNvSpPr>
            <a:spLocks noGrp="1"/>
          </p:cNvSpPr>
          <p:nvPr/>
        </p:nvSpPr>
        <p:spPr>
          <a:xfrm>
            <a:off x="590550" y="5191125"/>
            <a:ext cx="7477125" cy="361950"/>
          </a:xfrm>
          <a:prstGeom prst="rect">
            <a:avLst/>
          </a:prstGeom>
          <a:noFill/>
          <a:ln w="0">
            <a:noFill/>
            <a:prstDash val="solid"/>
          </a:ln>
        </p:spPr>
        <p:txBody>
          <a:bodyPr wrap="square" lIns="0" tIns="0" rIns="0" bIns="0" anchor="ctr">
            <a:noAutofit/>
          </a:bodyPr>
          <a:lstStyle/>
          <a:p>
            <a:pPr algn="l">
              <a:defRPr sz="1800" b="1">
                <a:solidFill>
                  <a:srgbClr val="182C39"/>
                </a:solidFill>
                <a:latin typeface="Arial"/>
                <a:ea typeface="Arial"/>
                <a:cs typeface="Arial"/>
              </a:defRPr>
            </a:pPr>
            <a:r>
              <a:rPr sz="1800" b="1">
                <a:solidFill>
                  <a:srgbClr val="182C39"/>
                </a:solidFill>
                <a:latin typeface="Arial"/>
                <a:ea typeface="Arial"/>
                <a:cs typeface="Arial"/>
              </a:rPr>
              <a:t>Đoàn Ngọc Hoàng Minh  •  AT180632</a:t>
            </a:r>
          </a:p>
        </p:txBody>
      </p:sp>
      <p:sp>
        <p:nvSpPr>
          <p:cNvPr id="9" name="teacher">
            <a:extLst>
              <a:ext uri="{FF2B5EF4-FFF2-40B4-BE49-F238E27FC236}">
                <a16:creationId xmlns:a16="http://schemas.microsoft.com/office/drawing/2014/main" id="{67B83E02-BAEB-4133-83EB-1771D49FABF0}"/>
              </a:ext>
            </a:extLst>
          </p:cNvPr>
          <p:cNvSpPr>
            <a:spLocks noGrp="1"/>
          </p:cNvSpPr>
          <p:nvPr/>
        </p:nvSpPr>
        <p:spPr>
          <a:xfrm>
            <a:off x="590550" y="5657850"/>
            <a:ext cx="8382000" cy="314325"/>
          </a:xfrm>
          <a:prstGeom prst="rect">
            <a:avLst/>
          </a:prstGeom>
          <a:noFill/>
          <a:ln w="0">
            <a:noFill/>
            <a:prstDash val="solid"/>
          </a:ln>
        </p:spPr>
        <p:txBody>
          <a:bodyPr wrap="square" lIns="0" tIns="0" rIns="0" bIns="0" anchor="ctr">
            <a:noAutofit/>
          </a:bodyPr>
          <a:lstStyle/>
          <a:p>
            <a:pPr algn="l">
              <a:defRPr sz="1500" b="0">
                <a:solidFill>
                  <a:srgbClr val="506473"/>
                </a:solidFill>
                <a:latin typeface="Arial"/>
                <a:ea typeface="Arial"/>
                <a:cs typeface="Arial"/>
              </a:defRPr>
            </a:pPr>
            <a:r>
              <a:rPr sz="1500" b="0">
                <a:solidFill>
                  <a:srgbClr val="506473"/>
                </a:solidFill>
                <a:latin typeface="Arial"/>
                <a:ea typeface="Arial"/>
                <a:cs typeface="Arial"/>
              </a:rPr>
              <a:t>GVHD: ThS. Nguyễn Thị Thu Thủy  •  Hà Nội, 2026</a:t>
            </a:r>
          </a:p>
        </p:txBody>
      </p:sp>
      <p:sp>
        <p:nvSpPr>
          <p:cNvPr id="10" name="map spine">
            <a:extLst>
              <a:ext uri="{FF2B5EF4-FFF2-40B4-BE49-F238E27FC236}">
                <a16:creationId xmlns:a16="http://schemas.microsoft.com/office/drawing/2014/main" id="{BFE1E70E-EA8B-4DB5-A80E-B724022FA17D}"/>
              </a:ext>
            </a:extLst>
          </p:cNvPr>
          <p:cNvSpPr>
            <a:spLocks noGrp="1"/>
          </p:cNvSpPr>
          <p:nvPr/>
        </p:nvSpPr>
        <p:spPr>
          <a:xfrm>
            <a:off x="8982075" y="2076450"/>
            <a:ext cx="28575" cy="2857500"/>
          </a:xfrm>
          <a:prstGeom prst="rect">
            <a:avLst/>
          </a:prstGeom>
          <a:solidFill>
            <a:srgbClr val="2B658B"/>
          </a:solidFill>
          <a:ln w="0">
            <a:noFill/>
            <a:prstDash val="solid"/>
          </a:ln>
        </p:spPr>
      </p:sp>
      <p:sp>
        <p:nvSpPr>
          <p:cNvPr id="11" name="cover arm 0">
            <a:extLst>
              <a:ext uri="{FF2B5EF4-FFF2-40B4-BE49-F238E27FC236}">
                <a16:creationId xmlns:a16="http://schemas.microsoft.com/office/drawing/2014/main" id="{FB977FD1-FFD7-4B88-819F-EEC07579D68D}"/>
              </a:ext>
            </a:extLst>
          </p:cNvPr>
          <p:cNvSpPr>
            <a:spLocks noGrp="1"/>
          </p:cNvSpPr>
          <p:nvPr/>
        </p:nvSpPr>
        <p:spPr>
          <a:xfrm>
            <a:off x="8982075" y="2305050"/>
            <a:ext cx="266700" cy="19050"/>
          </a:xfrm>
          <a:prstGeom prst="rect">
            <a:avLst/>
          </a:prstGeom>
          <a:solidFill>
            <a:srgbClr val="2B658B"/>
          </a:solidFill>
          <a:ln w="0">
            <a:noFill/>
            <a:prstDash val="solid"/>
          </a:ln>
        </p:spPr>
      </p:sp>
      <p:sp>
        <p:nvSpPr>
          <p:cNvPr id="12" name="cover q 0">
            <a:extLst>
              <a:ext uri="{FF2B5EF4-FFF2-40B4-BE49-F238E27FC236}">
                <a16:creationId xmlns:a16="http://schemas.microsoft.com/office/drawing/2014/main" id="{5344A187-6451-48E4-93BC-22F7D2F8A446}"/>
              </a:ext>
            </a:extLst>
          </p:cNvPr>
          <p:cNvSpPr>
            <a:spLocks noGrp="1"/>
          </p:cNvSpPr>
          <p:nvPr/>
        </p:nvSpPr>
        <p:spPr>
          <a:xfrm>
            <a:off x="9372600" y="2057400"/>
            <a:ext cx="2305050" cy="285750"/>
          </a:xfrm>
          <a:prstGeom prst="rect">
            <a:avLst/>
          </a:prstGeom>
          <a:noFill/>
          <a:ln w="0">
            <a:noFill/>
            <a:prstDash val="solid"/>
          </a:ln>
        </p:spPr>
        <p:txBody>
          <a:bodyPr wrap="square" lIns="0" tIns="0" rIns="0" bIns="0" anchor="ctr">
            <a:noAutofit/>
          </a:bodyPr>
          <a:lstStyle/>
          <a:p>
            <a:pPr algn="l">
              <a:defRPr sz="1575" b="1">
                <a:solidFill>
                  <a:srgbClr val="2B658B"/>
                </a:solidFill>
                <a:latin typeface="Arial"/>
                <a:ea typeface="Arial"/>
                <a:cs typeface="Arial"/>
              </a:defRPr>
            </a:pPr>
            <a:r>
              <a:rPr sz="1575" b="1">
                <a:solidFill>
                  <a:srgbClr val="2B658B"/>
                </a:solidFill>
                <a:latin typeface="Arial"/>
                <a:ea typeface="Arial"/>
                <a:cs typeface="Arial"/>
              </a:rPr>
              <a:t>GIỮ GÌ?</a:t>
            </a:r>
          </a:p>
        </p:txBody>
      </p:sp>
      <p:sp>
        <p:nvSpPr>
          <p:cNvPr id="13" name="cover a 0">
            <a:extLst>
              <a:ext uri="{FF2B5EF4-FFF2-40B4-BE49-F238E27FC236}">
                <a16:creationId xmlns:a16="http://schemas.microsoft.com/office/drawing/2014/main" id="{71942A02-4D76-450E-8925-1129FADAED38}"/>
              </a:ext>
            </a:extLst>
          </p:cNvPr>
          <p:cNvSpPr>
            <a:spLocks noGrp="1"/>
          </p:cNvSpPr>
          <p:nvPr/>
        </p:nvSpPr>
        <p:spPr>
          <a:xfrm>
            <a:off x="9372600" y="2390775"/>
            <a:ext cx="2305050" cy="26670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Tín hiệu an ninh</a:t>
            </a:r>
          </a:p>
        </p:txBody>
      </p:sp>
      <p:sp>
        <p:nvSpPr>
          <p:cNvPr id="14" name="cover arm 1">
            <a:extLst>
              <a:ext uri="{FF2B5EF4-FFF2-40B4-BE49-F238E27FC236}">
                <a16:creationId xmlns:a16="http://schemas.microsoft.com/office/drawing/2014/main" id="{3741A3C2-96C7-4973-BEF7-027707721BB2}"/>
              </a:ext>
            </a:extLst>
          </p:cNvPr>
          <p:cNvSpPr>
            <a:spLocks noGrp="1"/>
          </p:cNvSpPr>
          <p:nvPr/>
        </p:nvSpPr>
        <p:spPr>
          <a:xfrm>
            <a:off x="8982075" y="3305175"/>
            <a:ext cx="266700" cy="19050"/>
          </a:xfrm>
          <a:prstGeom prst="rect">
            <a:avLst/>
          </a:prstGeom>
          <a:solidFill>
            <a:srgbClr val="2B658B"/>
          </a:solidFill>
          <a:ln w="0">
            <a:noFill/>
            <a:prstDash val="solid"/>
          </a:ln>
        </p:spPr>
      </p:sp>
      <p:sp>
        <p:nvSpPr>
          <p:cNvPr id="15" name="cover q 1">
            <a:extLst>
              <a:ext uri="{FF2B5EF4-FFF2-40B4-BE49-F238E27FC236}">
                <a16:creationId xmlns:a16="http://schemas.microsoft.com/office/drawing/2014/main" id="{E1A31D04-CCEC-4347-8821-BFBFE09B8B4D}"/>
              </a:ext>
            </a:extLst>
          </p:cNvPr>
          <p:cNvSpPr>
            <a:spLocks noGrp="1"/>
          </p:cNvSpPr>
          <p:nvPr/>
        </p:nvSpPr>
        <p:spPr>
          <a:xfrm>
            <a:off x="9372600" y="3057525"/>
            <a:ext cx="2305050" cy="285750"/>
          </a:xfrm>
          <a:prstGeom prst="rect">
            <a:avLst/>
          </a:prstGeom>
          <a:noFill/>
          <a:ln w="0">
            <a:noFill/>
            <a:prstDash val="solid"/>
          </a:ln>
        </p:spPr>
        <p:txBody>
          <a:bodyPr wrap="square" lIns="0" tIns="0" rIns="0" bIns="0" anchor="ctr">
            <a:noAutofit/>
          </a:bodyPr>
          <a:lstStyle/>
          <a:p>
            <a:pPr algn="l">
              <a:defRPr sz="1575" b="1">
                <a:solidFill>
                  <a:srgbClr val="2B658B"/>
                </a:solidFill>
                <a:latin typeface="Arial"/>
                <a:ea typeface="Arial"/>
                <a:cs typeface="Arial"/>
              </a:defRPr>
            </a:pPr>
            <a:r>
              <a:rPr sz="1575" b="1">
                <a:solidFill>
                  <a:srgbClr val="2B658B"/>
                </a:solidFill>
                <a:latin typeface="Arial"/>
                <a:ea typeface="Arial"/>
                <a:cs typeface="Arial"/>
              </a:rPr>
              <a:t>ĐO THẾ NÀO?</a:t>
            </a:r>
          </a:p>
        </p:txBody>
      </p:sp>
      <p:sp>
        <p:nvSpPr>
          <p:cNvPr id="16" name="cover a 1">
            <a:extLst>
              <a:ext uri="{FF2B5EF4-FFF2-40B4-BE49-F238E27FC236}">
                <a16:creationId xmlns:a16="http://schemas.microsoft.com/office/drawing/2014/main" id="{AC7E9D8D-4720-44B1-93FE-0412B590CB01}"/>
              </a:ext>
            </a:extLst>
          </p:cNvPr>
          <p:cNvSpPr>
            <a:spLocks noGrp="1"/>
          </p:cNvSpPr>
          <p:nvPr/>
        </p:nvSpPr>
        <p:spPr>
          <a:xfrm>
            <a:off x="9372600" y="3390900"/>
            <a:ext cx="2305050" cy="26670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Đầu dò và đối chứng</a:t>
            </a:r>
          </a:p>
        </p:txBody>
      </p:sp>
      <p:sp>
        <p:nvSpPr>
          <p:cNvPr id="17" name="cover arm 2">
            <a:extLst>
              <a:ext uri="{FF2B5EF4-FFF2-40B4-BE49-F238E27FC236}">
                <a16:creationId xmlns:a16="http://schemas.microsoft.com/office/drawing/2014/main" id="{A99D0EBA-269B-4884-BB94-FA521FEC3C93}"/>
              </a:ext>
            </a:extLst>
          </p:cNvPr>
          <p:cNvSpPr>
            <a:spLocks noGrp="1"/>
          </p:cNvSpPr>
          <p:nvPr/>
        </p:nvSpPr>
        <p:spPr>
          <a:xfrm>
            <a:off x="8982075" y="4305300"/>
            <a:ext cx="266700" cy="19050"/>
          </a:xfrm>
          <a:prstGeom prst="rect">
            <a:avLst/>
          </a:prstGeom>
          <a:solidFill>
            <a:srgbClr val="2B658B"/>
          </a:solidFill>
          <a:ln w="0">
            <a:noFill/>
            <a:prstDash val="solid"/>
          </a:ln>
        </p:spPr>
      </p:sp>
      <p:sp>
        <p:nvSpPr>
          <p:cNvPr id="18" name="cover q 2">
            <a:extLst>
              <a:ext uri="{FF2B5EF4-FFF2-40B4-BE49-F238E27FC236}">
                <a16:creationId xmlns:a16="http://schemas.microsoft.com/office/drawing/2014/main" id="{F17AB484-B6EE-4097-852A-F6A36C50EA4F}"/>
              </a:ext>
            </a:extLst>
          </p:cNvPr>
          <p:cNvSpPr>
            <a:spLocks noGrp="1"/>
          </p:cNvSpPr>
          <p:nvPr/>
        </p:nvSpPr>
        <p:spPr>
          <a:xfrm>
            <a:off x="9372600" y="4057650"/>
            <a:ext cx="2305050" cy="285750"/>
          </a:xfrm>
          <a:prstGeom prst="rect">
            <a:avLst/>
          </a:prstGeom>
          <a:noFill/>
          <a:ln w="0">
            <a:noFill/>
            <a:prstDash val="solid"/>
          </a:ln>
        </p:spPr>
        <p:txBody>
          <a:bodyPr wrap="square" lIns="0" tIns="0" rIns="0" bIns="0" anchor="ctr">
            <a:noAutofit/>
          </a:bodyPr>
          <a:lstStyle/>
          <a:p>
            <a:pPr algn="l">
              <a:defRPr sz="1575" b="1">
                <a:solidFill>
                  <a:srgbClr val="A84F4B"/>
                </a:solidFill>
                <a:latin typeface="Arial"/>
                <a:ea typeface="Arial"/>
                <a:cs typeface="Arial"/>
              </a:defRPr>
            </a:pPr>
            <a:r>
              <a:rPr sz="1575" b="1">
                <a:solidFill>
                  <a:srgbClr val="A84F4B"/>
                </a:solidFill>
                <a:latin typeface="Arial"/>
                <a:ea typeface="Arial"/>
                <a:cs typeface="Arial"/>
              </a:rPr>
              <a:t>KẾT LUẬN ĐẾN ĐÂU?</a:t>
            </a:r>
          </a:p>
        </p:txBody>
      </p:sp>
      <p:sp>
        <p:nvSpPr>
          <p:cNvPr id="19" name="cover a 2">
            <a:extLst>
              <a:ext uri="{FF2B5EF4-FFF2-40B4-BE49-F238E27FC236}">
                <a16:creationId xmlns:a16="http://schemas.microsoft.com/office/drawing/2014/main" id="{78B30A8C-1892-45F9-9D79-705968371BED}"/>
              </a:ext>
            </a:extLst>
          </p:cNvPr>
          <p:cNvSpPr>
            <a:spLocks noGrp="1"/>
          </p:cNvSpPr>
          <p:nvPr/>
        </p:nvSpPr>
        <p:spPr>
          <a:xfrm>
            <a:off x="9372600" y="4391025"/>
            <a:ext cx="2305050" cy="26670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Giới hạn bằng chứng</a:t>
            </a:r>
          </a:p>
        </p:txBody>
      </p:sp>
    </p:spTree>
    <p:extLst>
      <p:ext uri="{BB962C8B-B14F-4D97-AF65-F5344CB8AC3E}">
        <p14:creationId xmlns:p14="http://schemas.microsoft.com/office/powerpoint/2010/main" val="22049280"/>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1" name="title">
            <a:extLst>
              <a:ext uri="{FF2B5EF4-FFF2-40B4-BE49-F238E27FC236}">
                <a16:creationId xmlns:a16="http://schemas.microsoft.com/office/drawing/2014/main" id="{3B6D7B4B-4919-4B92-BA3B-8FF2EE3BAABA}"/>
              </a:ext>
            </a:extLst>
          </p:cNvPr>
          <p:cNvSpPr>
            <a:spLocks noGrp="1"/>
          </p:cNvSpPr>
          <p:nvPr/>
        </p:nvSpPr>
        <p:spPr>
          <a:xfrm>
            <a:off x="514350" y="247650"/>
            <a:ext cx="10572750" cy="495300"/>
          </a:xfrm>
          <a:prstGeom prst="rect">
            <a:avLst/>
          </a:prstGeom>
          <a:noFill/>
          <a:ln w="0">
            <a:noFill/>
            <a:prstDash val="solid"/>
          </a:ln>
        </p:spPr>
        <p:txBody>
          <a:bodyPr wrap="square" lIns="0" tIns="0" rIns="0" bIns="0" anchor="ctr">
            <a:noAutofit/>
          </a:bodyPr>
          <a:lstStyle/>
          <a:p>
            <a:pPr algn="l">
              <a:defRPr sz="2925" b="1">
                <a:solidFill>
                  <a:srgbClr val="182C39"/>
                </a:solidFill>
                <a:latin typeface="Arial"/>
                <a:ea typeface="Arial"/>
                <a:cs typeface="Arial"/>
              </a:defRPr>
            </a:pPr>
            <a:r>
              <a:rPr sz="2925" b="1">
                <a:solidFill>
                  <a:srgbClr val="182C39"/>
                </a:solidFill>
                <a:latin typeface="Arial"/>
                <a:ea typeface="Arial"/>
                <a:cs typeface="Arial"/>
              </a:rPr>
              <a:t>Bài toán: log có ngữ cảnh</a:t>
            </a:r>
          </a:p>
        </p:txBody>
      </p:sp>
      <p:sp>
        <p:nvSpPr>
          <p:cNvPr id="2" name="subtitle">
            <a:extLst>
              <a:ext uri="{FF2B5EF4-FFF2-40B4-BE49-F238E27FC236}">
                <a16:creationId xmlns:a16="http://schemas.microsoft.com/office/drawing/2014/main" id="{7E370C1B-77ED-4CD9-8BB8-219BD0CE15FA}"/>
              </a:ext>
            </a:extLst>
          </p:cNvPr>
          <p:cNvSpPr>
            <a:spLocks noGrp="1"/>
          </p:cNvSpPr>
          <p:nvPr/>
        </p:nvSpPr>
        <p:spPr>
          <a:xfrm>
            <a:off x="523875" y="819150"/>
            <a:ext cx="11001375" cy="276225"/>
          </a:xfrm>
          <a:prstGeom prst="rect">
            <a:avLst/>
          </a:prstGeom>
          <a:noFill/>
          <a:ln w="0">
            <a:noFill/>
            <a:prstDash val="solid"/>
          </a:ln>
        </p:spPr>
        <p:txBody>
          <a:bodyPr wrap="square" lIns="0" tIns="0" rIns="0" bIns="0" anchor="ctr">
            <a:noAutofit/>
          </a:bodyPr>
          <a:lstStyle/>
          <a:p>
            <a:pPr algn="l">
              <a:defRPr sz="1350" b="0">
                <a:solidFill>
                  <a:srgbClr val="506473"/>
                </a:solidFill>
                <a:latin typeface="Arial"/>
                <a:ea typeface="Arial"/>
                <a:cs typeface="Arial"/>
              </a:defRPr>
            </a:pPr>
            <a:r>
              <a:rPr sz="1350" b="0">
                <a:solidFill>
                  <a:srgbClr val="506473"/>
                </a:solidFill>
                <a:latin typeface="Arial"/>
                <a:ea typeface="Arial"/>
                <a:cs typeface="Arial"/>
              </a:rPr>
              <a:t>Ba cách biểu diễn nhìn đúng những phần khác nhau; rủi ro nằm ở phần bị bỏ qua</a:t>
            </a:r>
          </a:p>
        </p:txBody>
      </p:sp>
      <p:sp>
        <p:nvSpPr>
          <p:cNvPr id="3" name="top line">
            <a:extLst>
              <a:ext uri="{FF2B5EF4-FFF2-40B4-BE49-F238E27FC236}">
                <a16:creationId xmlns:a16="http://schemas.microsoft.com/office/drawing/2014/main" id="{77648552-5126-47F3-A95A-8D4E10FD09E9}"/>
              </a:ext>
            </a:extLst>
          </p:cNvPr>
          <p:cNvSpPr>
            <a:spLocks noGrp="1"/>
          </p:cNvSpPr>
          <p:nvPr/>
        </p:nvSpPr>
        <p:spPr>
          <a:xfrm>
            <a:off x="514350" y="1181100"/>
            <a:ext cx="11163300" cy="19050"/>
          </a:xfrm>
          <a:prstGeom prst="rect">
            <a:avLst/>
          </a:prstGeom>
          <a:solidFill>
            <a:srgbClr val="2B658B"/>
          </a:solidFill>
          <a:ln w="0">
            <a:noFill/>
            <a:prstDash val="solid"/>
          </a:ln>
        </p:spPr>
      </p:sp>
      <p:sp>
        <p:nvSpPr>
          <p:cNvPr id="4" name="source">
            <a:extLst>
              <a:ext uri="{FF2B5EF4-FFF2-40B4-BE49-F238E27FC236}">
                <a16:creationId xmlns:a16="http://schemas.microsoft.com/office/drawing/2014/main" id="{22914AB4-73C0-4937-8B4A-5EB953C56D94}"/>
              </a:ext>
            </a:extLst>
          </p:cNvPr>
          <p:cNvSpPr>
            <a:spLocks noGrp="1"/>
          </p:cNvSpPr>
          <p:nvPr/>
        </p:nvSpPr>
        <p:spPr>
          <a:xfrm>
            <a:off x="514350" y="6429375"/>
            <a:ext cx="9810750" cy="219075"/>
          </a:xfrm>
          <a:prstGeom prst="rect">
            <a:avLst/>
          </a:prstGeom>
          <a:noFill/>
          <a:ln w="0">
            <a:noFill/>
            <a:prstDash val="solid"/>
          </a:ln>
        </p:spPr>
        <p:txBody>
          <a:bodyPr wrap="square" lIns="0" tIns="0" rIns="0" bIns="0" anchor="ctr">
            <a:noAutofit/>
          </a:bodyPr>
          <a:lstStyle/>
          <a:p>
            <a:pPr algn="l">
              <a:defRPr sz="975" b="0">
                <a:solidFill>
                  <a:srgbClr val="506473"/>
                </a:solidFill>
                <a:latin typeface="Arial"/>
                <a:ea typeface="Arial"/>
                <a:cs typeface="Arial"/>
              </a:defRPr>
            </a:pPr>
            <a:r>
              <a:rPr sz="975" b="0">
                <a:solidFill>
                  <a:srgbClr val="506473"/>
                </a:solidFill>
                <a:latin typeface="Arial"/>
                <a:ea typeface="Arial"/>
                <a:cs typeface="Arial"/>
              </a:rPr>
              <a:t>Nguồn Word: Chương 1, Mục 1.1–1.3; Hình 1.4</a:t>
            </a:r>
          </a:p>
        </p:txBody>
      </p:sp>
      <p:sp>
        <p:nvSpPr>
          <p:cNvPr id="5" name="number">
            <a:extLst>
              <a:ext uri="{FF2B5EF4-FFF2-40B4-BE49-F238E27FC236}">
                <a16:creationId xmlns:a16="http://schemas.microsoft.com/office/drawing/2014/main" id="{C911D5D7-9574-49A8-89D0-035F9603D9FB}"/>
              </a:ext>
            </a:extLst>
          </p:cNvPr>
          <p:cNvSpPr>
            <a:spLocks noGrp="1"/>
          </p:cNvSpPr>
          <p:nvPr/>
        </p:nvSpPr>
        <p:spPr>
          <a:xfrm>
            <a:off x="10572750" y="6429375"/>
            <a:ext cx="1104900" cy="219075"/>
          </a:xfrm>
          <a:prstGeom prst="rect">
            <a:avLst/>
          </a:prstGeom>
          <a:noFill/>
          <a:ln w="0">
            <a:noFill/>
            <a:prstDash val="solid"/>
          </a:ln>
        </p:spPr>
        <p:txBody>
          <a:bodyPr wrap="square" lIns="0" tIns="0" rIns="0" bIns="0" anchor="ctr">
            <a:noAutofit/>
          </a:bodyPr>
          <a:lstStyle/>
          <a:p>
            <a:pPr algn="r">
              <a:defRPr sz="1050" b="0">
                <a:solidFill>
                  <a:srgbClr val="506473"/>
                </a:solidFill>
                <a:latin typeface="Arial"/>
                <a:ea typeface="Arial"/>
                <a:cs typeface="Arial"/>
              </a:defRPr>
            </a:pPr>
            <a:r>
              <a:rPr sz="1050" b="0">
                <a:solidFill>
                  <a:srgbClr val="506473"/>
                </a:solidFill>
                <a:latin typeface="Arial"/>
                <a:ea typeface="Arial"/>
                <a:cs typeface="Arial"/>
              </a:rPr>
              <a:t>02 / 10</a:t>
            </a:r>
          </a:p>
        </p:txBody>
      </p:sp>
      <p:sp>
        <p:nvSpPr>
          <p:cNvPr id="6" name="central node">
            <a:extLst>
              <a:ext uri="{FF2B5EF4-FFF2-40B4-BE49-F238E27FC236}">
                <a16:creationId xmlns:a16="http://schemas.microsoft.com/office/drawing/2014/main" id="{B30AE500-C0E6-4D83-8880-6E1CFFD5AF39}"/>
              </a:ext>
            </a:extLst>
          </p:cNvPr>
          <p:cNvSpPr>
            <a:spLocks noGrp="1"/>
          </p:cNvSpPr>
          <p:nvPr/>
        </p:nvSpPr>
        <p:spPr>
          <a:xfrm>
            <a:off x="514350" y="1819275"/>
            <a:ext cx="2571750" cy="3943350"/>
          </a:xfrm>
          <a:prstGeom prst="roundRect">
            <a:avLst>
              <a:gd name="adj" fmla="val 2963"/>
            </a:avLst>
          </a:prstGeom>
          <a:solidFill>
            <a:srgbClr val="E7F0F5"/>
          </a:solidFill>
          <a:ln w="9525">
            <a:solidFill>
              <a:srgbClr val="2B658B"/>
            </a:solidFill>
            <a:prstDash val="solid"/>
          </a:ln>
        </p:spPr>
      </p:sp>
      <p:sp>
        <p:nvSpPr>
          <p:cNvPr id="7" name="central head">
            <a:extLst>
              <a:ext uri="{FF2B5EF4-FFF2-40B4-BE49-F238E27FC236}">
                <a16:creationId xmlns:a16="http://schemas.microsoft.com/office/drawing/2014/main" id="{F7587B7C-3273-4683-8972-73D5D1F6BECA}"/>
              </a:ext>
            </a:extLst>
          </p:cNvPr>
          <p:cNvSpPr>
            <a:spLocks noGrp="1"/>
          </p:cNvSpPr>
          <p:nvPr/>
        </p:nvSpPr>
        <p:spPr>
          <a:xfrm>
            <a:off x="685800" y="2047875"/>
            <a:ext cx="2238375" cy="790575"/>
          </a:xfrm>
          <a:prstGeom prst="rect">
            <a:avLst/>
          </a:prstGeom>
          <a:noFill/>
          <a:ln w="0">
            <a:noFill/>
            <a:prstDash val="solid"/>
          </a:ln>
        </p:spPr>
        <p:txBody>
          <a:bodyPr wrap="square" lIns="0" tIns="0" rIns="0" bIns="0" anchor="ctr">
            <a:noAutofit/>
          </a:bodyPr>
          <a:lstStyle/>
          <a:p>
            <a:pPr algn="l">
              <a:defRPr sz="2100" b="1">
                <a:solidFill>
                  <a:srgbClr val="2B658B"/>
                </a:solidFill>
                <a:latin typeface="Arial"/>
                <a:ea typeface="Arial"/>
                <a:cs typeface="Arial"/>
              </a:defRPr>
            </a:pPr>
            <a:r>
              <a:rPr sz="2100" b="1">
                <a:solidFill>
                  <a:srgbClr val="2B658B"/>
                </a:solidFill>
                <a:latin typeface="Arial"/>
                <a:ea typeface="Arial"/>
                <a:cs typeface="Arial"/>
              </a:rPr>
              <a:t>CÂU HỎI GỐC</a:t>
            </a:r>
          </a:p>
        </p:txBody>
      </p:sp>
      <p:sp>
        <p:nvSpPr>
          <p:cNvPr id="8" name="central rule">
            <a:extLst>
              <a:ext uri="{FF2B5EF4-FFF2-40B4-BE49-F238E27FC236}">
                <a16:creationId xmlns:a16="http://schemas.microsoft.com/office/drawing/2014/main" id="{F76E69B1-02C0-41A6-92FD-560314CE822C}"/>
              </a:ext>
            </a:extLst>
          </p:cNvPr>
          <p:cNvSpPr>
            <a:spLocks noGrp="1"/>
          </p:cNvSpPr>
          <p:nvPr/>
        </p:nvSpPr>
        <p:spPr>
          <a:xfrm>
            <a:off x="685800" y="2981325"/>
            <a:ext cx="2152650" cy="19050"/>
          </a:xfrm>
          <a:prstGeom prst="rect">
            <a:avLst/>
          </a:prstGeom>
          <a:solidFill>
            <a:srgbClr val="2B658B"/>
          </a:solidFill>
          <a:ln w="0">
            <a:noFill/>
            <a:prstDash val="solid"/>
          </a:ln>
        </p:spPr>
      </p:sp>
      <p:sp>
        <p:nvSpPr>
          <p:cNvPr id="9" name="central body">
            <a:extLst>
              <a:ext uri="{FF2B5EF4-FFF2-40B4-BE49-F238E27FC236}">
                <a16:creationId xmlns:a16="http://schemas.microsoft.com/office/drawing/2014/main" id="{D8620534-8111-47D9-9094-3B5E1C2268DC}"/>
              </a:ext>
            </a:extLst>
          </p:cNvPr>
          <p:cNvSpPr>
            <a:spLocks noGrp="1"/>
          </p:cNvSpPr>
          <p:nvPr/>
        </p:nvSpPr>
        <p:spPr>
          <a:xfrm>
            <a:off x="685800" y="3143250"/>
            <a:ext cx="2219325" cy="2333625"/>
          </a:xfrm>
          <a:prstGeom prst="rect">
            <a:avLst/>
          </a:prstGeom>
          <a:noFill/>
          <a:ln w="0">
            <a:noFill/>
            <a:prstDash val="solid"/>
          </a:ln>
        </p:spPr>
        <p:txBody>
          <a:bodyPr wrap="square" lIns="0" tIns="0" rIns="0" bIns="0" anchor="ctr">
            <a:noAutofit/>
          </a:bodyPr>
          <a:lstStyle/>
          <a:p>
            <a:pPr algn="l">
              <a:defRPr sz="1425" b="0">
                <a:solidFill>
                  <a:srgbClr val="182C39"/>
                </a:solidFill>
                <a:latin typeface="Arial"/>
                <a:ea typeface="Arial"/>
                <a:cs typeface="Arial"/>
              </a:defRPr>
            </a:pPr>
            <a:r>
              <a:rPr sz="1425" b="0">
                <a:solidFill>
                  <a:srgbClr val="182C39"/>
                </a:solidFill>
                <a:latin typeface="Arial"/>
                <a:ea typeface="Arial"/>
                <a:cs typeface="Arial"/>
              </a:rPr>
              <a:t>Một dòng log không đủ để suy ra hành vi. Cần đọc thứ tự, tham số và quan hệ giữa thực thể. Chất lượng biểu diễn chỉ có nghĩa khi phép đánh giá không bị rò rỉ.</a:t>
            </a:r>
          </a:p>
        </p:txBody>
      </p:sp>
      <p:sp>
        <p:nvSpPr>
          <p:cNvPr id="10" name="branch 0 accent">
            <a:extLst>
              <a:ext uri="{FF2B5EF4-FFF2-40B4-BE49-F238E27FC236}">
                <a16:creationId xmlns:a16="http://schemas.microsoft.com/office/drawing/2014/main" id="{076A8EE3-236D-4FA5-9E99-40C82E511F6D}"/>
              </a:ext>
            </a:extLst>
          </p:cNvPr>
          <p:cNvSpPr>
            <a:spLocks noGrp="1"/>
          </p:cNvSpPr>
          <p:nvPr/>
        </p:nvSpPr>
        <p:spPr>
          <a:xfrm>
            <a:off x="3476625" y="1447800"/>
            <a:ext cx="47625" cy="2095500"/>
          </a:xfrm>
          <a:prstGeom prst="rect">
            <a:avLst/>
          </a:prstGeom>
          <a:solidFill>
            <a:srgbClr val="2B658B"/>
          </a:solidFill>
          <a:ln w="0">
            <a:noFill/>
            <a:prstDash val="solid"/>
          </a:ln>
        </p:spPr>
      </p:sp>
      <p:sp>
        <p:nvSpPr>
          <p:cNvPr id="11" name="branch 0 headrule">
            <a:extLst>
              <a:ext uri="{FF2B5EF4-FFF2-40B4-BE49-F238E27FC236}">
                <a16:creationId xmlns:a16="http://schemas.microsoft.com/office/drawing/2014/main" id="{DFE68D60-04BB-4D3B-B3AE-EA169E838B3B}"/>
              </a:ext>
            </a:extLst>
          </p:cNvPr>
          <p:cNvSpPr>
            <a:spLocks noGrp="1"/>
          </p:cNvSpPr>
          <p:nvPr/>
        </p:nvSpPr>
        <p:spPr>
          <a:xfrm>
            <a:off x="3629025" y="1809750"/>
            <a:ext cx="3609975" cy="9525"/>
          </a:xfrm>
          <a:prstGeom prst="rect">
            <a:avLst/>
          </a:prstGeom>
          <a:solidFill>
            <a:srgbClr val="CAD5D9"/>
          </a:solidFill>
          <a:ln w="0">
            <a:noFill/>
            <a:prstDash val="solid"/>
          </a:ln>
        </p:spPr>
      </p:sp>
      <p:sp>
        <p:nvSpPr>
          <p:cNvPr id="12" name="branch 0 title">
            <a:extLst>
              <a:ext uri="{FF2B5EF4-FFF2-40B4-BE49-F238E27FC236}">
                <a16:creationId xmlns:a16="http://schemas.microsoft.com/office/drawing/2014/main" id="{BCB67350-108B-49AC-8312-3AF470503B70}"/>
              </a:ext>
            </a:extLst>
          </p:cNvPr>
          <p:cNvSpPr>
            <a:spLocks noGrp="1"/>
          </p:cNvSpPr>
          <p:nvPr/>
        </p:nvSpPr>
        <p:spPr>
          <a:xfrm>
            <a:off x="3638550" y="1466850"/>
            <a:ext cx="3590925" cy="295275"/>
          </a:xfrm>
          <a:prstGeom prst="rect">
            <a:avLst/>
          </a:prstGeom>
          <a:noFill/>
          <a:ln w="0">
            <a:noFill/>
            <a:prstDash val="solid"/>
          </a:ln>
        </p:spPr>
        <p:txBody>
          <a:bodyPr wrap="square" lIns="0" tIns="0" rIns="0" bIns="0" anchor="ctr">
            <a:noAutofit/>
          </a:bodyPr>
          <a:lstStyle/>
          <a:p>
            <a:pPr algn="l">
              <a:defRPr sz="1725" b="1">
                <a:solidFill>
                  <a:srgbClr val="2B658B"/>
                </a:solidFill>
                <a:latin typeface="Arial"/>
                <a:ea typeface="Arial"/>
                <a:cs typeface="Arial"/>
              </a:defRPr>
            </a:pPr>
            <a:r>
              <a:rPr sz="1725" b="1">
                <a:solidFill>
                  <a:srgbClr val="2B658B"/>
                </a:solidFill>
                <a:latin typeface="Arial"/>
                <a:ea typeface="Arial"/>
                <a:cs typeface="Arial"/>
              </a:rPr>
              <a:t>Thống kê / cú pháp</a:t>
            </a:r>
          </a:p>
        </p:txBody>
      </p:sp>
      <p:sp>
        <p:nvSpPr>
          <p:cNvPr id="13" name="branch 0 body">
            <a:extLst>
              <a:ext uri="{FF2B5EF4-FFF2-40B4-BE49-F238E27FC236}">
                <a16:creationId xmlns:a16="http://schemas.microsoft.com/office/drawing/2014/main" id="{B74FCB0D-67AC-4F7E-B34A-E8084263F0ED}"/>
              </a:ext>
            </a:extLst>
          </p:cNvPr>
          <p:cNvSpPr>
            <a:spLocks noGrp="1"/>
          </p:cNvSpPr>
          <p:nvPr/>
        </p:nvSpPr>
        <p:spPr>
          <a:xfrm>
            <a:off x="3638550" y="1905000"/>
            <a:ext cx="3571875"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Giữ tần suất và mẫu định dạng. Dễ triển khai; dễ mất tham số động và phụ thuộc giữa thực thể.</a:t>
            </a:r>
          </a:p>
        </p:txBody>
      </p:sp>
      <p:sp>
        <p:nvSpPr>
          <p:cNvPr id="14" name="branch 1 accent">
            <a:extLst>
              <a:ext uri="{FF2B5EF4-FFF2-40B4-BE49-F238E27FC236}">
                <a16:creationId xmlns:a16="http://schemas.microsoft.com/office/drawing/2014/main" id="{DB346BA0-EABD-4B32-9DB9-DD4738BD100C}"/>
              </a:ext>
            </a:extLst>
          </p:cNvPr>
          <p:cNvSpPr>
            <a:spLocks noGrp="1"/>
          </p:cNvSpPr>
          <p:nvPr/>
        </p:nvSpPr>
        <p:spPr>
          <a:xfrm>
            <a:off x="7715250" y="1447800"/>
            <a:ext cx="47625" cy="2095500"/>
          </a:xfrm>
          <a:prstGeom prst="rect">
            <a:avLst/>
          </a:prstGeom>
          <a:solidFill>
            <a:srgbClr val="2D746D"/>
          </a:solidFill>
          <a:ln w="0">
            <a:noFill/>
            <a:prstDash val="solid"/>
          </a:ln>
        </p:spPr>
      </p:sp>
      <p:sp>
        <p:nvSpPr>
          <p:cNvPr id="15" name="branch 1 headrule">
            <a:extLst>
              <a:ext uri="{FF2B5EF4-FFF2-40B4-BE49-F238E27FC236}">
                <a16:creationId xmlns:a16="http://schemas.microsoft.com/office/drawing/2014/main" id="{6A9E35F0-5AC8-402B-A62A-2B6CE2616AA7}"/>
              </a:ext>
            </a:extLst>
          </p:cNvPr>
          <p:cNvSpPr>
            <a:spLocks noGrp="1"/>
          </p:cNvSpPr>
          <p:nvPr/>
        </p:nvSpPr>
        <p:spPr>
          <a:xfrm>
            <a:off x="7867650" y="1809750"/>
            <a:ext cx="3714750" cy="9525"/>
          </a:xfrm>
          <a:prstGeom prst="rect">
            <a:avLst/>
          </a:prstGeom>
          <a:solidFill>
            <a:srgbClr val="CAD5D9"/>
          </a:solidFill>
          <a:ln w="0">
            <a:noFill/>
            <a:prstDash val="solid"/>
          </a:ln>
        </p:spPr>
      </p:sp>
      <p:sp>
        <p:nvSpPr>
          <p:cNvPr id="16" name="branch 1 title">
            <a:extLst>
              <a:ext uri="{FF2B5EF4-FFF2-40B4-BE49-F238E27FC236}">
                <a16:creationId xmlns:a16="http://schemas.microsoft.com/office/drawing/2014/main" id="{01440A6A-4A01-4FBB-8BD0-53D116EB8387}"/>
              </a:ext>
            </a:extLst>
          </p:cNvPr>
          <p:cNvSpPr>
            <a:spLocks noGrp="1"/>
          </p:cNvSpPr>
          <p:nvPr/>
        </p:nvSpPr>
        <p:spPr>
          <a:xfrm>
            <a:off x="7877175" y="1466850"/>
            <a:ext cx="3695700" cy="295275"/>
          </a:xfrm>
          <a:prstGeom prst="rect">
            <a:avLst/>
          </a:prstGeom>
          <a:noFill/>
          <a:ln w="0">
            <a:noFill/>
            <a:prstDash val="solid"/>
          </a:ln>
        </p:spPr>
        <p:txBody>
          <a:bodyPr wrap="square" lIns="0" tIns="0" rIns="0" bIns="0" anchor="ctr">
            <a:noAutofit/>
          </a:bodyPr>
          <a:lstStyle/>
          <a:p>
            <a:pPr algn="l">
              <a:defRPr sz="1725" b="1">
                <a:solidFill>
                  <a:srgbClr val="2D746D"/>
                </a:solidFill>
                <a:latin typeface="Arial"/>
                <a:ea typeface="Arial"/>
                <a:cs typeface="Arial"/>
              </a:defRPr>
            </a:pPr>
            <a:r>
              <a:rPr sz="1725" b="1">
                <a:solidFill>
                  <a:srgbClr val="2D746D"/>
                </a:solidFill>
                <a:latin typeface="Arial"/>
                <a:ea typeface="Arial"/>
                <a:cs typeface="Arial"/>
              </a:rPr>
              <a:t>Chuỗi sự kiện</a:t>
            </a:r>
          </a:p>
        </p:txBody>
      </p:sp>
      <p:sp>
        <p:nvSpPr>
          <p:cNvPr id="17" name="branch 1 body">
            <a:extLst>
              <a:ext uri="{FF2B5EF4-FFF2-40B4-BE49-F238E27FC236}">
                <a16:creationId xmlns:a16="http://schemas.microsoft.com/office/drawing/2014/main" id="{95FD13AB-9BAD-49D6-91F6-62ED23215627}"/>
              </a:ext>
            </a:extLst>
          </p:cNvPr>
          <p:cNvSpPr>
            <a:spLocks noGrp="1"/>
          </p:cNvSpPr>
          <p:nvPr/>
        </p:nvSpPr>
        <p:spPr>
          <a:xfrm>
            <a:off x="7877175" y="1905000"/>
            <a:ext cx="3676650"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Giữ thứ tự và ngữ cảnh cục bộ. Hạn chế khi cần quan hệ đa thực thể vượt khỏi chuỗi.</a:t>
            </a:r>
          </a:p>
        </p:txBody>
      </p:sp>
      <p:sp>
        <p:nvSpPr>
          <p:cNvPr id="18" name="branch 2 accent">
            <a:extLst>
              <a:ext uri="{FF2B5EF4-FFF2-40B4-BE49-F238E27FC236}">
                <a16:creationId xmlns:a16="http://schemas.microsoft.com/office/drawing/2014/main" id="{05738E81-6F3D-4525-8CA3-CC0E662206FD}"/>
              </a:ext>
            </a:extLst>
          </p:cNvPr>
          <p:cNvSpPr>
            <a:spLocks noGrp="1"/>
          </p:cNvSpPr>
          <p:nvPr/>
        </p:nvSpPr>
        <p:spPr>
          <a:xfrm>
            <a:off x="3476625" y="3733800"/>
            <a:ext cx="47625" cy="2095500"/>
          </a:xfrm>
          <a:prstGeom prst="rect">
            <a:avLst/>
          </a:prstGeom>
          <a:solidFill>
            <a:srgbClr val="A3692D"/>
          </a:solidFill>
          <a:ln w="0">
            <a:noFill/>
            <a:prstDash val="solid"/>
          </a:ln>
        </p:spPr>
      </p:sp>
      <p:sp>
        <p:nvSpPr>
          <p:cNvPr id="19" name="branch 2 headrule">
            <a:extLst>
              <a:ext uri="{FF2B5EF4-FFF2-40B4-BE49-F238E27FC236}">
                <a16:creationId xmlns:a16="http://schemas.microsoft.com/office/drawing/2014/main" id="{11A85C09-3240-413E-B5C6-02935F559424}"/>
              </a:ext>
            </a:extLst>
          </p:cNvPr>
          <p:cNvSpPr>
            <a:spLocks noGrp="1"/>
          </p:cNvSpPr>
          <p:nvPr/>
        </p:nvSpPr>
        <p:spPr>
          <a:xfrm>
            <a:off x="3629025" y="4095750"/>
            <a:ext cx="3609975" cy="9525"/>
          </a:xfrm>
          <a:prstGeom prst="rect">
            <a:avLst/>
          </a:prstGeom>
          <a:solidFill>
            <a:srgbClr val="CAD5D9"/>
          </a:solidFill>
          <a:ln w="0">
            <a:noFill/>
            <a:prstDash val="solid"/>
          </a:ln>
        </p:spPr>
      </p:sp>
      <p:sp>
        <p:nvSpPr>
          <p:cNvPr id="20" name="branch 2 title">
            <a:extLst>
              <a:ext uri="{FF2B5EF4-FFF2-40B4-BE49-F238E27FC236}">
                <a16:creationId xmlns:a16="http://schemas.microsoft.com/office/drawing/2014/main" id="{F2DEA13C-FB8B-41AD-9977-545E2B19946C}"/>
              </a:ext>
            </a:extLst>
          </p:cNvPr>
          <p:cNvSpPr>
            <a:spLocks noGrp="1"/>
          </p:cNvSpPr>
          <p:nvPr/>
        </p:nvSpPr>
        <p:spPr>
          <a:xfrm>
            <a:off x="3638550" y="3752850"/>
            <a:ext cx="3590925" cy="295275"/>
          </a:xfrm>
          <a:prstGeom prst="rect">
            <a:avLst/>
          </a:prstGeom>
          <a:noFill/>
          <a:ln w="0">
            <a:noFill/>
            <a:prstDash val="solid"/>
          </a:ln>
        </p:spPr>
        <p:txBody>
          <a:bodyPr wrap="square" lIns="0" tIns="0" rIns="0" bIns="0" anchor="ctr">
            <a:noAutofit/>
          </a:bodyPr>
          <a:lstStyle/>
          <a:p>
            <a:pPr algn="l">
              <a:defRPr sz="1725" b="1">
                <a:solidFill>
                  <a:srgbClr val="A3692D"/>
                </a:solidFill>
                <a:latin typeface="Arial"/>
                <a:ea typeface="Arial"/>
                <a:cs typeface="Arial"/>
              </a:defRPr>
            </a:pPr>
            <a:r>
              <a:rPr sz="1725" b="1">
                <a:solidFill>
                  <a:srgbClr val="A3692D"/>
                </a:solidFill>
                <a:latin typeface="Arial"/>
                <a:ea typeface="Arial"/>
                <a:cs typeface="Arial"/>
              </a:rPr>
              <a:t>Đồ thị nguồn gốc</a:t>
            </a:r>
          </a:p>
        </p:txBody>
      </p:sp>
      <p:sp>
        <p:nvSpPr>
          <p:cNvPr id="21" name="branch 2 body">
            <a:extLst>
              <a:ext uri="{FF2B5EF4-FFF2-40B4-BE49-F238E27FC236}">
                <a16:creationId xmlns:a16="http://schemas.microsoft.com/office/drawing/2014/main" id="{87ADB4DD-467A-448E-8460-9190F7EE5C3F}"/>
              </a:ext>
            </a:extLst>
          </p:cNvPr>
          <p:cNvSpPr>
            <a:spLocks noGrp="1"/>
          </p:cNvSpPr>
          <p:nvPr/>
        </p:nvSpPr>
        <p:spPr>
          <a:xfrm>
            <a:off x="3638550" y="4191000"/>
            <a:ext cx="3571875"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Giữ tương tác và phụ thuộc giữa thực thể. Đổi lại chi phí dựng/cập nhật đồ thị lớn hơn.</a:t>
            </a:r>
          </a:p>
        </p:txBody>
      </p:sp>
      <p:sp>
        <p:nvSpPr>
          <p:cNvPr id="22" name="branch 3 accent">
            <a:extLst>
              <a:ext uri="{FF2B5EF4-FFF2-40B4-BE49-F238E27FC236}">
                <a16:creationId xmlns:a16="http://schemas.microsoft.com/office/drawing/2014/main" id="{C2859C19-CEBD-4960-BC3D-4193F58EAB78}"/>
              </a:ext>
            </a:extLst>
          </p:cNvPr>
          <p:cNvSpPr>
            <a:spLocks noGrp="1"/>
          </p:cNvSpPr>
          <p:nvPr/>
        </p:nvSpPr>
        <p:spPr>
          <a:xfrm>
            <a:off x="7715250" y="3733800"/>
            <a:ext cx="47625" cy="2095500"/>
          </a:xfrm>
          <a:prstGeom prst="rect">
            <a:avLst/>
          </a:prstGeom>
          <a:solidFill>
            <a:srgbClr val="A84F4B"/>
          </a:solidFill>
          <a:ln w="0">
            <a:noFill/>
            <a:prstDash val="solid"/>
          </a:ln>
        </p:spPr>
      </p:sp>
      <p:sp>
        <p:nvSpPr>
          <p:cNvPr id="23" name="branch 3 headrule">
            <a:extLst>
              <a:ext uri="{FF2B5EF4-FFF2-40B4-BE49-F238E27FC236}">
                <a16:creationId xmlns:a16="http://schemas.microsoft.com/office/drawing/2014/main" id="{F6547B8B-C0D7-4E86-A9BF-8BF1942046DB}"/>
              </a:ext>
            </a:extLst>
          </p:cNvPr>
          <p:cNvSpPr>
            <a:spLocks noGrp="1"/>
          </p:cNvSpPr>
          <p:nvPr/>
        </p:nvSpPr>
        <p:spPr>
          <a:xfrm>
            <a:off x="7867650" y="4095750"/>
            <a:ext cx="3714750" cy="9525"/>
          </a:xfrm>
          <a:prstGeom prst="rect">
            <a:avLst/>
          </a:prstGeom>
          <a:solidFill>
            <a:srgbClr val="CAD5D9"/>
          </a:solidFill>
          <a:ln w="0">
            <a:noFill/>
            <a:prstDash val="solid"/>
          </a:ln>
        </p:spPr>
      </p:sp>
      <p:sp>
        <p:nvSpPr>
          <p:cNvPr id="24" name="branch 3 title">
            <a:extLst>
              <a:ext uri="{FF2B5EF4-FFF2-40B4-BE49-F238E27FC236}">
                <a16:creationId xmlns:a16="http://schemas.microsoft.com/office/drawing/2014/main" id="{1465BAFF-2921-48AB-9665-1B7F98D78602}"/>
              </a:ext>
            </a:extLst>
          </p:cNvPr>
          <p:cNvSpPr>
            <a:spLocks noGrp="1"/>
          </p:cNvSpPr>
          <p:nvPr/>
        </p:nvSpPr>
        <p:spPr>
          <a:xfrm>
            <a:off x="7877175" y="3752850"/>
            <a:ext cx="3695700" cy="295275"/>
          </a:xfrm>
          <a:prstGeom prst="rect">
            <a:avLst/>
          </a:prstGeom>
          <a:noFill/>
          <a:ln w="0">
            <a:noFill/>
            <a:prstDash val="solid"/>
          </a:ln>
        </p:spPr>
        <p:txBody>
          <a:bodyPr wrap="square" lIns="0" tIns="0" rIns="0" bIns="0" anchor="ctr">
            <a:noAutofit/>
          </a:bodyPr>
          <a:lstStyle/>
          <a:p>
            <a:pPr algn="l">
              <a:defRPr sz="1725" b="1">
                <a:solidFill>
                  <a:srgbClr val="A84F4B"/>
                </a:solidFill>
                <a:latin typeface="Arial"/>
                <a:ea typeface="Arial"/>
                <a:cs typeface="Arial"/>
              </a:defRPr>
            </a:pPr>
            <a:r>
              <a:rPr sz="1725" b="1">
                <a:solidFill>
                  <a:srgbClr val="A84F4B"/>
                </a:solidFill>
                <a:latin typeface="Arial"/>
                <a:ea typeface="Arial"/>
                <a:cs typeface="Arial"/>
              </a:rPr>
              <a:t>5 khoảng trống nghiên cứu</a:t>
            </a:r>
          </a:p>
        </p:txBody>
      </p:sp>
      <p:sp>
        <p:nvSpPr>
          <p:cNvPr id="25" name="branch 3 body">
            <a:extLst>
              <a:ext uri="{FF2B5EF4-FFF2-40B4-BE49-F238E27FC236}">
                <a16:creationId xmlns:a16="http://schemas.microsoft.com/office/drawing/2014/main" id="{F2831E8F-CAF5-4846-A3C1-8CFAB4958B7E}"/>
              </a:ext>
            </a:extLst>
          </p:cNvPr>
          <p:cNvSpPr>
            <a:spLocks noGrp="1"/>
          </p:cNvSpPr>
          <p:nvPr/>
        </p:nvSpPr>
        <p:spPr>
          <a:xfrm>
            <a:off x="7877175" y="4191000"/>
            <a:ext cx="3676650"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Tham số; gióng hàng đa góc nhìn; rò rỉ/đường tắt; nhãn thô; liên kết và riêng tư.</a:t>
            </a:r>
          </a:p>
        </p:txBody>
      </p:sp>
      <p:sp>
        <p:nvSpPr>
          <p:cNvPr id="26" name="upper bar">
            <a:extLst>
              <a:ext uri="{FF2B5EF4-FFF2-40B4-BE49-F238E27FC236}">
                <a16:creationId xmlns:a16="http://schemas.microsoft.com/office/drawing/2014/main" id="{B81C7E79-6024-462A-9540-61142C4A98B2}"/>
              </a:ext>
            </a:extLst>
          </p:cNvPr>
          <p:cNvSpPr>
            <a:spLocks noGrp="1"/>
          </p:cNvSpPr>
          <p:nvPr/>
        </p:nvSpPr>
        <p:spPr>
          <a:xfrm>
            <a:off x="3086100" y="2486025"/>
            <a:ext cx="285750" cy="19050"/>
          </a:xfrm>
          <a:prstGeom prst="rect">
            <a:avLst/>
          </a:prstGeom>
          <a:solidFill>
            <a:srgbClr val="2B658B"/>
          </a:solidFill>
          <a:ln w="0">
            <a:noFill/>
            <a:prstDash val="solid"/>
          </a:ln>
        </p:spPr>
      </p:sp>
      <p:sp>
        <p:nvSpPr>
          <p:cNvPr id="27" name="upper dot">
            <a:extLst>
              <a:ext uri="{FF2B5EF4-FFF2-40B4-BE49-F238E27FC236}">
                <a16:creationId xmlns:a16="http://schemas.microsoft.com/office/drawing/2014/main" id="{CEB1873A-E009-41B3-BA70-14750973D668}"/>
              </a:ext>
            </a:extLst>
          </p:cNvPr>
          <p:cNvSpPr>
            <a:spLocks noGrp="1"/>
          </p:cNvSpPr>
          <p:nvPr/>
        </p:nvSpPr>
        <p:spPr>
          <a:xfrm>
            <a:off x="3343275" y="2457450"/>
            <a:ext cx="76200" cy="76200"/>
          </a:xfrm>
          <a:prstGeom prst="rect">
            <a:avLst/>
          </a:prstGeom>
          <a:solidFill>
            <a:srgbClr val="2B658B"/>
          </a:solidFill>
          <a:ln w="0">
            <a:noFill/>
            <a:prstDash val="solid"/>
          </a:ln>
        </p:spPr>
      </p:sp>
      <p:sp>
        <p:nvSpPr>
          <p:cNvPr id="28" name="lower bar">
            <a:extLst>
              <a:ext uri="{FF2B5EF4-FFF2-40B4-BE49-F238E27FC236}">
                <a16:creationId xmlns:a16="http://schemas.microsoft.com/office/drawing/2014/main" id="{F2A084A9-FF8F-4963-9533-B50F8FFD7414}"/>
              </a:ext>
            </a:extLst>
          </p:cNvPr>
          <p:cNvSpPr>
            <a:spLocks noGrp="1"/>
          </p:cNvSpPr>
          <p:nvPr/>
        </p:nvSpPr>
        <p:spPr>
          <a:xfrm>
            <a:off x="3086100" y="4562475"/>
            <a:ext cx="285750" cy="19050"/>
          </a:xfrm>
          <a:prstGeom prst="rect">
            <a:avLst/>
          </a:prstGeom>
          <a:solidFill>
            <a:srgbClr val="2B658B"/>
          </a:solidFill>
          <a:ln w="0">
            <a:noFill/>
            <a:prstDash val="solid"/>
          </a:ln>
        </p:spPr>
      </p:sp>
      <p:sp>
        <p:nvSpPr>
          <p:cNvPr id="29" name="lower dot">
            <a:extLst>
              <a:ext uri="{FF2B5EF4-FFF2-40B4-BE49-F238E27FC236}">
                <a16:creationId xmlns:a16="http://schemas.microsoft.com/office/drawing/2014/main" id="{9D90A3CE-090E-4B2F-A29F-145A68BB725A}"/>
              </a:ext>
            </a:extLst>
          </p:cNvPr>
          <p:cNvSpPr>
            <a:spLocks noGrp="1"/>
          </p:cNvSpPr>
          <p:nvPr/>
        </p:nvSpPr>
        <p:spPr>
          <a:xfrm>
            <a:off x="3343275" y="4533900"/>
            <a:ext cx="76200" cy="76200"/>
          </a:xfrm>
          <a:prstGeom prst="rect">
            <a:avLst/>
          </a:prstGeom>
          <a:solidFill>
            <a:srgbClr val="2B658B"/>
          </a:solidFill>
          <a:ln w="0">
            <a:noFill/>
            <a:prstDash val="solid"/>
          </a:ln>
        </p:spPr>
      </p:sp>
      <p:sp>
        <p:nvSpPr>
          <p:cNvPr id="30" name="takeaway">
            <a:extLst>
              <a:ext uri="{FF2B5EF4-FFF2-40B4-BE49-F238E27FC236}">
                <a16:creationId xmlns:a16="http://schemas.microsoft.com/office/drawing/2014/main" id="{03E2AB00-41AD-4E17-B213-1A8FA32DBE1C}"/>
              </a:ext>
            </a:extLst>
          </p:cNvPr>
          <p:cNvSpPr>
            <a:spLocks noGrp="1"/>
          </p:cNvSpPr>
          <p:nvPr/>
        </p:nvSpPr>
        <p:spPr>
          <a:xfrm>
            <a:off x="514350" y="6057900"/>
            <a:ext cx="11163300" cy="285750"/>
          </a:xfrm>
          <a:prstGeom prst="rect">
            <a:avLst/>
          </a:prstGeom>
          <a:noFill/>
          <a:ln w="0">
            <a:noFill/>
            <a:prstDash val="solid"/>
          </a:ln>
        </p:spPr>
        <p:txBody>
          <a:bodyPr wrap="square" lIns="0" tIns="0" rIns="0" bIns="0" anchor="ctr">
            <a:noAutofit/>
          </a:bodyPr>
          <a:lstStyle/>
          <a:p>
            <a:pPr algn="l">
              <a:defRPr sz="1350" b="1">
                <a:solidFill>
                  <a:srgbClr val="A84F4B"/>
                </a:solidFill>
                <a:latin typeface="Arial"/>
                <a:ea typeface="Arial"/>
                <a:cs typeface="Arial"/>
              </a:defRPr>
            </a:pPr>
            <a:r>
              <a:rPr sz="1350" b="1">
                <a:solidFill>
                  <a:srgbClr val="A84F4B"/>
                </a:solidFill>
                <a:latin typeface="Arial"/>
                <a:ea typeface="Arial"/>
                <a:cs typeface="Arial"/>
              </a:rPr>
              <a:t>Luận điểm bảo vệ: thêm nhánh đồ thị là giả thuyết cần thử, không phải bằng chứng tăng hiệu năng.</a:t>
            </a:r>
          </a:p>
        </p:txBody>
      </p:sp>
    </p:spTree>
    <p:extLst>
      <p:ext uri="{BB962C8B-B14F-4D97-AF65-F5344CB8AC3E}">
        <p14:creationId xmlns:p14="http://schemas.microsoft.com/office/powerpoint/2010/main" val="168408094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1" name="title">
            <a:extLst>
              <a:ext uri="{FF2B5EF4-FFF2-40B4-BE49-F238E27FC236}">
                <a16:creationId xmlns:a16="http://schemas.microsoft.com/office/drawing/2014/main" id="{9ABF553B-5E3C-4C52-8F14-CD3053E232FB}"/>
              </a:ext>
            </a:extLst>
          </p:cNvPr>
          <p:cNvSpPr>
            <a:spLocks noGrp="1"/>
          </p:cNvSpPr>
          <p:nvPr/>
        </p:nvSpPr>
        <p:spPr>
          <a:xfrm>
            <a:off x="514350" y="247650"/>
            <a:ext cx="10572750" cy="495300"/>
          </a:xfrm>
          <a:prstGeom prst="rect">
            <a:avLst/>
          </a:prstGeom>
          <a:noFill/>
          <a:ln w="0">
            <a:noFill/>
            <a:prstDash val="solid"/>
          </a:ln>
        </p:spPr>
        <p:txBody>
          <a:bodyPr wrap="square" lIns="0" tIns="0" rIns="0" bIns="0" anchor="ctr">
            <a:noAutofit/>
          </a:bodyPr>
          <a:lstStyle/>
          <a:p>
            <a:pPr algn="l">
              <a:defRPr sz="2925" b="1">
                <a:solidFill>
                  <a:srgbClr val="182C39"/>
                </a:solidFill>
                <a:latin typeface="Arial"/>
                <a:ea typeface="Arial"/>
                <a:cs typeface="Arial"/>
              </a:defRPr>
            </a:pPr>
            <a:r>
              <a:rPr sz="2925" b="1">
                <a:solidFill>
                  <a:srgbClr val="182C39"/>
                </a:solidFill>
                <a:latin typeface="Arial"/>
                <a:ea typeface="Arial"/>
                <a:cs typeface="Arial"/>
              </a:rPr>
              <a:t>Hợp đồng Biểu diễn</a:t>
            </a:r>
          </a:p>
        </p:txBody>
      </p:sp>
      <p:sp>
        <p:nvSpPr>
          <p:cNvPr id="2" name="subtitle">
            <a:extLst>
              <a:ext uri="{FF2B5EF4-FFF2-40B4-BE49-F238E27FC236}">
                <a16:creationId xmlns:a16="http://schemas.microsoft.com/office/drawing/2014/main" id="{ADD09325-C8A8-473A-BEB3-A47443D08744}"/>
              </a:ext>
            </a:extLst>
          </p:cNvPr>
          <p:cNvSpPr>
            <a:spLocks noGrp="1"/>
          </p:cNvSpPr>
          <p:nvPr/>
        </p:nvSpPr>
        <p:spPr>
          <a:xfrm>
            <a:off x="523875" y="819150"/>
            <a:ext cx="11001375" cy="276225"/>
          </a:xfrm>
          <a:prstGeom prst="rect">
            <a:avLst/>
          </a:prstGeom>
          <a:noFill/>
          <a:ln w="0">
            <a:noFill/>
            <a:prstDash val="solid"/>
          </a:ln>
        </p:spPr>
        <p:txBody>
          <a:bodyPr wrap="square" lIns="0" tIns="0" rIns="0" bIns="0" anchor="ctr">
            <a:noAutofit/>
          </a:bodyPr>
          <a:lstStyle/>
          <a:p>
            <a:pPr algn="l">
              <a:defRPr sz="1350" b="0">
                <a:solidFill>
                  <a:srgbClr val="506473"/>
                </a:solidFill>
                <a:latin typeface="Arial"/>
                <a:ea typeface="Arial"/>
                <a:cs typeface="Arial"/>
              </a:defRPr>
            </a:pPr>
            <a:r>
              <a:rPr sz="1350" b="0">
                <a:solidFill>
                  <a:srgbClr val="506473"/>
                </a:solidFill>
                <a:latin typeface="Arial"/>
                <a:ea typeface="Arial"/>
                <a:cs typeface="Arial"/>
              </a:rPr>
              <a:t>PRESERVE / INVARIANT / EXCLUDE là ba câu hỏi kiểm chứng, không phải ba thành tích đã đạt</a:t>
            </a:r>
          </a:p>
        </p:txBody>
      </p:sp>
      <p:sp>
        <p:nvSpPr>
          <p:cNvPr id="3" name="top line">
            <a:extLst>
              <a:ext uri="{FF2B5EF4-FFF2-40B4-BE49-F238E27FC236}">
                <a16:creationId xmlns:a16="http://schemas.microsoft.com/office/drawing/2014/main" id="{8BD2D079-F919-47FC-8CB5-7516066A6D35}"/>
              </a:ext>
            </a:extLst>
          </p:cNvPr>
          <p:cNvSpPr>
            <a:spLocks noGrp="1"/>
          </p:cNvSpPr>
          <p:nvPr/>
        </p:nvSpPr>
        <p:spPr>
          <a:xfrm>
            <a:off x="514350" y="1181100"/>
            <a:ext cx="11163300" cy="19050"/>
          </a:xfrm>
          <a:prstGeom prst="rect">
            <a:avLst/>
          </a:prstGeom>
          <a:solidFill>
            <a:srgbClr val="2B658B"/>
          </a:solidFill>
          <a:ln w="0">
            <a:noFill/>
            <a:prstDash val="solid"/>
          </a:ln>
        </p:spPr>
      </p:sp>
      <p:sp>
        <p:nvSpPr>
          <p:cNvPr id="4" name="source">
            <a:extLst>
              <a:ext uri="{FF2B5EF4-FFF2-40B4-BE49-F238E27FC236}">
                <a16:creationId xmlns:a16="http://schemas.microsoft.com/office/drawing/2014/main" id="{9A681298-3E7C-4B02-AD8C-544E5FDDB8A0}"/>
              </a:ext>
            </a:extLst>
          </p:cNvPr>
          <p:cNvSpPr>
            <a:spLocks noGrp="1"/>
          </p:cNvSpPr>
          <p:nvPr/>
        </p:nvSpPr>
        <p:spPr>
          <a:xfrm>
            <a:off x="514350" y="6429375"/>
            <a:ext cx="9810750" cy="219075"/>
          </a:xfrm>
          <a:prstGeom prst="rect">
            <a:avLst/>
          </a:prstGeom>
          <a:noFill/>
          <a:ln w="0">
            <a:noFill/>
            <a:prstDash val="solid"/>
          </a:ln>
        </p:spPr>
        <p:txBody>
          <a:bodyPr wrap="square" lIns="0" tIns="0" rIns="0" bIns="0" anchor="ctr">
            <a:noAutofit/>
          </a:bodyPr>
          <a:lstStyle/>
          <a:p>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1.1.3, Bảng 1.2; Mục 2.1.1, 3.2.3</a:t>
            </a:r>
          </a:p>
        </p:txBody>
      </p:sp>
      <p:sp>
        <p:nvSpPr>
          <p:cNvPr id="5" name="number">
            <a:extLst>
              <a:ext uri="{FF2B5EF4-FFF2-40B4-BE49-F238E27FC236}">
                <a16:creationId xmlns:a16="http://schemas.microsoft.com/office/drawing/2014/main" id="{92FC7641-CE9D-4C66-8629-1D7AA8750828}"/>
              </a:ext>
            </a:extLst>
          </p:cNvPr>
          <p:cNvSpPr>
            <a:spLocks noGrp="1"/>
          </p:cNvSpPr>
          <p:nvPr/>
        </p:nvSpPr>
        <p:spPr>
          <a:xfrm>
            <a:off x="10572750" y="6429375"/>
            <a:ext cx="1104900" cy="219075"/>
          </a:xfrm>
          <a:prstGeom prst="rect">
            <a:avLst/>
          </a:prstGeom>
          <a:noFill/>
          <a:ln w="0">
            <a:noFill/>
            <a:prstDash val="solid"/>
          </a:ln>
        </p:spPr>
        <p:txBody>
          <a:bodyPr wrap="square" lIns="0" tIns="0" rIns="0" bIns="0" anchor="ctr">
            <a:noAutofit/>
          </a:bodyPr>
          <a:lstStyle/>
          <a:p>
            <a:pPr algn="r">
              <a:defRPr sz="1050" b="0">
                <a:solidFill>
                  <a:srgbClr val="506473"/>
                </a:solidFill>
                <a:latin typeface="Arial"/>
                <a:ea typeface="Arial"/>
                <a:cs typeface="Arial"/>
              </a:defRPr>
            </a:pPr>
            <a:r>
              <a:rPr sz="1050" b="0">
                <a:solidFill>
                  <a:srgbClr val="506473"/>
                </a:solidFill>
                <a:latin typeface="Arial"/>
                <a:ea typeface="Arial"/>
                <a:cs typeface="Arial"/>
              </a:rPr>
              <a:t>03 / 10</a:t>
            </a:r>
          </a:p>
        </p:txBody>
      </p:sp>
      <p:sp>
        <p:nvSpPr>
          <p:cNvPr id="6" name="central node">
            <a:extLst>
              <a:ext uri="{FF2B5EF4-FFF2-40B4-BE49-F238E27FC236}">
                <a16:creationId xmlns:a16="http://schemas.microsoft.com/office/drawing/2014/main" id="{C567DE46-B615-42AF-A66F-7C902FF8653F}"/>
              </a:ext>
            </a:extLst>
          </p:cNvPr>
          <p:cNvSpPr>
            <a:spLocks noGrp="1"/>
          </p:cNvSpPr>
          <p:nvPr/>
        </p:nvSpPr>
        <p:spPr>
          <a:xfrm>
            <a:off x="514350" y="1819275"/>
            <a:ext cx="2571750" cy="3943350"/>
          </a:xfrm>
          <a:prstGeom prst="roundRect">
            <a:avLst>
              <a:gd name="adj" fmla="val 2963"/>
            </a:avLst>
          </a:prstGeom>
          <a:solidFill>
            <a:srgbClr val="E7F0F5"/>
          </a:solidFill>
          <a:ln w="9525">
            <a:solidFill>
              <a:srgbClr val="2B658B"/>
            </a:solidFill>
            <a:prstDash val="solid"/>
          </a:ln>
        </p:spPr>
      </p:sp>
      <p:sp>
        <p:nvSpPr>
          <p:cNvPr id="7" name="central head">
            <a:extLst>
              <a:ext uri="{FF2B5EF4-FFF2-40B4-BE49-F238E27FC236}">
                <a16:creationId xmlns:a16="http://schemas.microsoft.com/office/drawing/2014/main" id="{8F0E8A68-5A9A-48C7-8D34-9381D3933071}"/>
              </a:ext>
            </a:extLst>
          </p:cNvPr>
          <p:cNvSpPr>
            <a:spLocks noGrp="1"/>
          </p:cNvSpPr>
          <p:nvPr/>
        </p:nvSpPr>
        <p:spPr>
          <a:xfrm>
            <a:off x="685800" y="2047875"/>
            <a:ext cx="2238375" cy="790575"/>
          </a:xfrm>
          <a:prstGeom prst="rect">
            <a:avLst/>
          </a:prstGeom>
          <a:noFill/>
          <a:ln w="0">
            <a:noFill/>
            <a:prstDash val="solid"/>
          </a:ln>
        </p:spPr>
        <p:txBody>
          <a:bodyPr wrap="square" lIns="0" tIns="0" rIns="0" bIns="0" anchor="ctr">
            <a:noAutofit/>
          </a:bodyPr>
          <a:lstStyle/>
          <a:p>
            <a:pPr algn="l">
              <a:defRPr sz="2100" b="1">
                <a:solidFill>
                  <a:srgbClr val="2B658B"/>
                </a:solidFill>
                <a:latin typeface="Arial"/>
                <a:ea typeface="Arial"/>
                <a:cs typeface="Arial"/>
              </a:defRPr>
            </a:pPr>
            <a:r>
              <a:rPr sz="2100" b="1">
                <a:solidFill>
                  <a:srgbClr val="2B658B"/>
                </a:solidFill>
                <a:latin typeface="Arial"/>
                <a:ea typeface="Arial"/>
                <a:cs typeface="Arial"/>
              </a:rPr>
              <a:t>VECTOR z</a:t>
            </a:r>
          </a:p>
        </p:txBody>
      </p:sp>
      <p:sp>
        <p:nvSpPr>
          <p:cNvPr id="8" name="central rule">
            <a:extLst>
              <a:ext uri="{FF2B5EF4-FFF2-40B4-BE49-F238E27FC236}">
                <a16:creationId xmlns:a16="http://schemas.microsoft.com/office/drawing/2014/main" id="{3C6E8C3E-1CF4-4329-9F18-CAA1939F9FCD}"/>
              </a:ext>
            </a:extLst>
          </p:cNvPr>
          <p:cNvSpPr>
            <a:spLocks noGrp="1"/>
          </p:cNvSpPr>
          <p:nvPr/>
        </p:nvSpPr>
        <p:spPr>
          <a:xfrm>
            <a:off x="685800" y="2981325"/>
            <a:ext cx="2152650" cy="19050"/>
          </a:xfrm>
          <a:prstGeom prst="rect">
            <a:avLst/>
          </a:prstGeom>
          <a:solidFill>
            <a:srgbClr val="2B658B"/>
          </a:solidFill>
          <a:ln w="0">
            <a:noFill/>
            <a:prstDash val="solid"/>
          </a:ln>
        </p:spPr>
      </p:sp>
      <p:sp>
        <p:nvSpPr>
          <p:cNvPr id="9" name="central body">
            <a:extLst>
              <a:ext uri="{FF2B5EF4-FFF2-40B4-BE49-F238E27FC236}">
                <a16:creationId xmlns:a16="http://schemas.microsoft.com/office/drawing/2014/main" id="{B927A29A-09EC-475C-B0A8-FD41CA9799FA}"/>
              </a:ext>
            </a:extLst>
          </p:cNvPr>
          <p:cNvSpPr>
            <a:spLocks noGrp="1"/>
          </p:cNvSpPr>
          <p:nvPr/>
        </p:nvSpPr>
        <p:spPr>
          <a:xfrm>
            <a:off x="685800" y="3143250"/>
            <a:ext cx="2219325" cy="2333625"/>
          </a:xfrm>
          <a:prstGeom prst="rect">
            <a:avLst/>
          </a:prstGeom>
          <a:noFill/>
          <a:ln w="0">
            <a:noFill/>
            <a:prstDash val="solid"/>
          </a:ln>
        </p:spPr>
        <p:txBody>
          <a:bodyPr wrap="square" lIns="0" tIns="0" rIns="0" bIns="0" anchor="ctr">
            <a:noAutofit/>
          </a:bodyPr>
          <a:lstStyle/>
          <a:p>
            <a:pPr algn="l">
              <a:defRPr sz="1425" b="0">
                <a:solidFill>
                  <a:srgbClr val="182C39"/>
                </a:solidFill>
                <a:latin typeface="Arial"/>
                <a:ea typeface="Arial"/>
                <a:cs typeface="Arial"/>
              </a:defRPr>
            </a:pPr>
            <a:r>
              <a:rPr sz="1425" b="0">
                <a:solidFill>
                  <a:srgbClr val="182C39"/>
                </a:solidFill>
                <a:latin typeface="Arial"/>
                <a:ea typeface="Arial"/>
                <a:cs typeface="Arial"/>
              </a:rPr>
              <a:t>Một vector tốt phải giữ đúng tín hiệu cần thiết, ổn định trước nhiễu vô hại và không mang đường tắt/rò rỉ. Ba yêu cầu có thể xung đột, nên phải đo riêng.</a:t>
            </a:r>
          </a:p>
        </p:txBody>
      </p:sp>
      <p:sp>
        <p:nvSpPr>
          <p:cNvPr id="10" name="branch 0 accent">
            <a:extLst>
              <a:ext uri="{FF2B5EF4-FFF2-40B4-BE49-F238E27FC236}">
                <a16:creationId xmlns:a16="http://schemas.microsoft.com/office/drawing/2014/main" id="{3A323087-05AB-44F1-A83B-AD6CA8418C36}"/>
              </a:ext>
            </a:extLst>
          </p:cNvPr>
          <p:cNvSpPr>
            <a:spLocks noGrp="1"/>
          </p:cNvSpPr>
          <p:nvPr/>
        </p:nvSpPr>
        <p:spPr>
          <a:xfrm>
            <a:off x="3476625" y="1447800"/>
            <a:ext cx="47625" cy="2095500"/>
          </a:xfrm>
          <a:prstGeom prst="rect">
            <a:avLst/>
          </a:prstGeom>
          <a:solidFill>
            <a:srgbClr val="2B658B"/>
          </a:solidFill>
          <a:ln w="0">
            <a:noFill/>
            <a:prstDash val="solid"/>
          </a:ln>
        </p:spPr>
      </p:sp>
      <p:sp>
        <p:nvSpPr>
          <p:cNvPr id="11" name="branch 0 headrule">
            <a:extLst>
              <a:ext uri="{FF2B5EF4-FFF2-40B4-BE49-F238E27FC236}">
                <a16:creationId xmlns:a16="http://schemas.microsoft.com/office/drawing/2014/main" id="{223E0024-3EF2-4430-BC89-D8C10B47127D}"/>
              </a:ext>
            </a:extLst>
          </p:cNvPr>
          <p:cNvSpPr>
            <a:spLocks noGrp="1"/>
          </p:cNvSpPr>
          <p:nvPr/>
        </p:nvSpPr>
        <p:spPr>
          <a:xfrm>
            <a:off x="3629025" y="1809750"/>
            <a:ext cx="3609975" cy="9525"/>
          </a:xfrm>
          <a:prstGeom prst="rect">
            <a:avLst/>
          </a:prstGeom>
          <a:solidFill>
            <a:srgbClr val="CAD5D9"/>
          </a:solidFill>
          <a:ln w="0">
            <a:noFill/>
            <a:prstDash val="solid"/>
          </a:ln>
        </p:spPr>
      </p:sp>
      <p:sp>
        <p:nvSpPr>
          <p:cNvPr id="12" name="branch 0 title">
            <a:extLst>
              <a:ext uri="{FF2B5EF4-FFF2-40B4-BE49-F238E27FC236}">
                <a16:creationId xmlns:a16="http://schemas.microsoft.com/office/drawing/2014/main" id="{9E9747A4-331F-4DBA-B4F7-7709C6C91197}"/>
              </a:ext>
            </a:extLst>
          </p:cNvPr>
          <p:cNvSpPr>
            <a:spLocks noGrp="1"/>
          </p:cNvSpPr>
          <p:nvPr/>
        </p:nvSpPr>
        <p:spPr>
          <a:xfrm>
            <a:off x="3638550" y="1466850"/>
            <a:ext cx="3590925" cy="295275"/>
          </a:xfrm>
          <a:prstGeom prst="rect">
            <a:avLst/>
          </a:prstGeom>
          <a:noFill/>
          <a:ln w="0">
            <a:noFill/>
            <a:prstDash val="solid"/>
          </a:ln>
        </p:spPr>
        <p:txBody>
          <a:bodyPr wrap="square" lIns="0" tIns="0" rIns="0" bIns="0" anchor="ctr">
            <a:noAutofit/>
          </a:bodyPr>
          <a:lstStyle/>
          <a:p>
            <a:pPr algn="l">
              <a:defRPr sz="1725" b="1">
                <a:solidFill>
                  <a:srgbClr val="2B658B"/>
                </a:solidFill>
                <a:latin typeface="Arial"/>
                <a:ea typeface="Arial"/>
                <a:cs typeface="Arial"/>
              </a:defRPr>
            </a:pPr>
            <a:r>
              <a:rPr sz="1725" b="1">
                <a:solidFill>
                  <a:srgbClr val="2B658B"/>
                </a:solidFill>
                <a:latin typeface="Arial"/>
                <a:ea typeface="Arial"/>
                <a:cs typeface="Arial"/>
              </a:rPr>
              <a:t>PRESERVE · bảo toàn</a:t>
            </a:r>
          </a:p>
        </p:txBody>
      </p:sp>
      <p:sp>
        <p:nvSpPr>
          <p:cNvPr id="13" name="branch 0 body">
            <a:extLst>
              <a:ext uri="{FF2B5EF4-FFF2-40B4-BE49-F238E27FC236}">
                <a16:creationId xmlns:a16="http://schemas.microsoft.com/office/drawing/2014/main" id="{244B71F6-21E0-4D9E-96CA-2994A0106FF2}"/>
              </a:ext>
            </a:extLst>
          </p:cNvPr>
          <p:cNvSpPr>
            <a:spLocks noGrp="1"/>
          </p:cNvSpPr>
          <p:nvPr/>
        </p:nvSpPr>
        <p:spPr>
          <a:xfrm>
            <a:off x="3638550" y="1905000"/>
            <a:ext cx="3571875"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Giữ tham số lệnh, thứ tự thời gian, quan hệ phụ thuộc. Hỏi: thuộc tính cần thiết còn đọc ra được không?</a:t>
            </a:r>
          </a:p>
        </p:txBody>
      </p:sp>
      <p:sp>
        <p:nvSpPr>
          <p:cNvPr id="14" name="branch 1 accent">
            <a:extLst>
              <a:ext uri="{FF2B5EF4-FFF2-40B4-BE49-F238E27FC236}">
                <a16:creationId xmlns:a16="http://schemas.microsoft.com/office/drawing/2014/main" id="{0D87DFA3-8372-409F-97CC-1824A1F8511B}"/>
              </a:ext>
            </a:extLst>
          </p:cNvPr>
          <p:cNvSpPr>
            <a:spLocks noGrp="1"/>
          </p:cNvSpPr>
          <p:nvPr/>
        </p:nvSpPr>
        <p:spPr>
          <a:xfrm>
            <a:off x="7715250" y="1447800"/>
            <a:ext cx="47625" cy="2095500"/>
          </a:xfrm>
          <a:prstGeom prst="rect">
            <a:avLst/>
          </a:prstGeom>
          <a:solidFill>
            <a:srgbClr val="2D746D"/>
          </a:solidFill>
          <a:ln w="0">
            <a:noFill/>
            <a:prstDash val="solid"/>
          </a:ln>
        </p:spPr>
      </p:sp>
      <p:sp>
        <p:nvSpPr>
          <p:cNvPr id="15" name="branch 1 headrule">
            <a:extLst>
              <a:ext uri="{FF2B5EF4-FFF2-40B4-BE49-F238E27FC236}">
                <a16:creationId xmlns:a16="http://schemas.microsoft.com/office/drawing/2014/main" id="{A5BC4E12-5F48-4EB9-AC75-EE8CA7231A24}"/>
              </a:ext>
            </a:extLst>
          </p:cNvPr>
          <p:cNvSpPr>
            <a:spLocks noGrp="1"/>
          </p:cNvSpPr>
          <p:nvPr/>
        </p:nvSpPr>
        <p:spPr>
          <a:xfrm>
            <a:off x="7867650" y="1809750"/>
            <a:ext cx="3714750" cy="9525"/>
          </a:xfrm>
          <a:prstGeom prst="rect">
            <a:avLst/>
          </a:prstGeom>
          <a:solidFill>
            <a:srgbClr val="CAD5D9"/>
          </a:solidFill>
          <a:ln w="0">
            <a:noFill/>
            <a:prstDash val="solid"/>
          </a:ln>
        </p:spPr>
      </p:sp>
      <p:sp>
        <p:nvSpPr>
          <p:cNvPr id="16" name="branch 1 title">
            <a:extLst>
              <a:ext uri="{FF2B5EF4-FFF2-40B4-BE49-F238E27FC236}">
                <a16:creationId xmlns:a16="http://schemas.microsoft.com/office/drawing/2014/main" id="{BF3E1481-1218-49A1-B512-61381D195F00}"/>
              </a:ext>
            </a:extLst>
          </p:cNvPr>
          <p:cNvSpPr>
            <a:spLocks noGrp="1"/>
          </p:cNvSpPr>
          <p:nvPr/>
        </p:nvSpPr>
        <p:spPr>
          <a:xfrm>
            <a:off x="7877175" y="1466850"/>
            <a:ext cx="3695700" cy="295275"/>
          </a:xfrm>
          <a:prstGeom prst="rect">
            <a:avLst/>
          </a:prstGeom>
          <a:noFill/>
          <a:ln w="0">
            <a:noFill/>
            <a:prstDash val="solid"/>
          </a:ln>
        </p:spPr>
        <p:txBody>
          <a:bodyPr wrap="square" lIns="0" tIns="0" rIns="0" bIns="0" anchor="ctr">
            <a:noAutofit/>
          </a:bodyPr>
          <a:lstStyle/>
          <a:p>
            <a:pPr algn="l">
              <a:defRPr sz="1725" b="1">
                <a:solidFill>
                  <a:srgbClr val="2D746D"/>
                </a:solidFill>
                <a:latin typeface="Arial"/>
                <a:ea typeface="Arial"/>
                <a:cs typeface="Arial"/>
              </a:defRPr>
            </a:pPr>
            <a:r>
              <a:rPr sz="1725" b="1">
                <a:solidFill>
                  <a:srgbClr val="2D746D"/>
                </a:solidFill>
                <a:latin typeface="Arial"/>
                <a:ea typeface="Arial"/>
                <a:cs typeface="Arial"/>
              </a:rPr>
              <a:t>INVARIANT · bất biến</a:t>
            </a:r>
          </a:p>
        </p:txBody>
      </p:sp>
      <p:sp>
        <p:nvSpPr>
          <p:cNvPr id="17" name="branch 1 body">
            <a:extLst>
              <a:ext uri="{FF2B5EF4-FFF2-40B4-BE49-F238E27FC236}">
                <a16:creationId xmlns:a16="http://schemas.microsoft.com/office/drawing/2014/main" id="{F55E1F43-8F40-43FE-830B-961096F4CC3E}"/>
              </a:ext>
            </a:extLst>
          </p:cNvPr>
          <p:cNvSpPr>
            <a:spLocks noGrp="1"/>
          </p:cNvSpPr>
          <p:nvPr/>
        </p:nvSpPr>
        <p:spPr>
          <a:xfrm>
            <a:off x="7877175" y="1905000"/>
            <a:ext cx="3676650"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Ổn định trước đổi định dạng thời gian, PID ngẫu nhiên, cú pháp vô hại. Hỏi: biến đổi đầu vào có làm lệch vector quá mức?</a:t>
            </a:r>
          </a:p>
        </p:txBody>
      </p:sp>
      <p:sp>
        <p:nvSpPr>
          <p:cNvPr id="18" name="branch 2 accent">
            <a:extLst>
              <a:ext uri="{FF2B5EF4-FFF2-40B4-BE49-F238E27FC236}">
                <a16:creationId xmlns:a16="http://schemas.microsoft.com/office/drawing/2014/main" id="{DDCD5EA6-B492-448F-8131-AC8E1C41FB71}"/>
              </a:ext>
            </a:extLst>
          </p:cNvPr>
          <p:cNvSpPr>
            <a:spLocks noGrp="1"/>
          </p:cNvSpPr>
          <p:nvPr/>
        </p:nvSpPr>
        <p:spPr>
          <a:xfrm>
            <a:off x="3476625" y="3733800"/>
            <a:ext cx="47625" cy="2095500"/>
          </a:xfrm>
          <a:prstGeom prst="rect">
            <a:avLst/>
          </a:prstGeom>
          <a:solidFill>
            <a:srgbClr val="A3692D"/>
          </a:solidFill>
          <a:ln w="0">
            <a:noFill/>
            <a:prstDash val="solid"/>
          </a:ln>
        </p:spPr>
      </p:sp>
      <p:sp>
        <p:nvSpPr>
          <p:cNvPr id="19" name="branch 2 headrule">
            <a:extLst>
              <a:ext uri="{FF2B5EF4-FFF2-40B4-BE49-F238E27FC236}">
                <a16:creationId xmlns:a16="http://schemas.microsoft.com/office/drawing/2014/main" id="{20165A84-BB33-43FE-8EDE-1BE38C50A295}"/>
              </a:ext>
            </a:extLst>
          </p:cNvPr>
          <p:cNvSpPr>
            <a:spLocks noGrp="1"/>
          </p:cNvSpPr>
          <p:nvPr/>
        </p:nvSpPr>
        <p:spPr>
          <a:xfrm>
            <a:off x="3629025" y="4095750"/>
            <a:ext cx="3609975" cy="9525"/>
          </a:xfrm>
          <a:prstGeom prst="rect">
            <a:avLst/>
          </a:prstGeom>
          <a:solidFill>
            <a:srgbClr val="CAD5D9"/>
          </a:solidFill>
          <a:ln w="0">
            <a:noFill/>
            <a:prstDash val="solid"/>
          </a:ln>
        </p:spPr>
      </p:sp>
      <p:sp>
        <p:nvSpPr>
          <p:cNvPr id="20" name="branch 2 title">
            <a:extLst>
              <a:ext uri="{FF2B5EF4-FFF2-40B4-BE49-F238E27FC236}">
                <a16:creationId xmlns:a16="http://schemas.microsoft.com/office/drawing/2014/main" id="{7220FE29-1AE9-4F14-BFD1-77792ABEC04E}"/>
              </a:ext>
            </a:extLst>
          </p:cNvPr>
          <p:cNvSpPr>
            <a:spLocks noGrp="1"/>
          </p:cNvSpPr>
          <p:nvPr/>
        </p:nvSpPr>
        <p:spPr>
          <a:xfrm>
            <a:off x="3638550" y="3752850"/>
            <a:ext cx="3590925" cy="295275"/>
          </a:xfrm>
          <a:prstGeom prst="rect">
            <a:avLst/>
          </a:prstGeom>
          <a:noFill/>
          <a:ln w="0">
            <a:noFill/>
            <a:prstDash val="solid"/>
          </a:ln>
        </p:spPr>
        <p:txBody>
          <a:bodyPr wrap="square" lIns="0" tIns="0" rIns="0" bIns="0" anchor="ctr">
            <a:noAutofit/>
          </a:bodyPr>
          <a:lstStyle/>
          <a:p>
            <a:pPr algn="l">
              <a:defRPr sz="1725" b="1">
                <a:solidFill>
                  <a:srgbClr val="A3692D"/>
                </a:solidFill>
                <a:latin typeface="Arial"/>
                <a:ea typeface="Arial"/>
                <a:cs typeface="Arial"/>
              </a:defRPr>
            </a:pPr>
            <a:r>
              <a:rPr sz="1725" b="1">
                <a:solidFill>
                  <a:srgbClr val="A3692D"/>
                </a:solidFill>
                <a:latin typeface="Arial"/>
                <a:ea typeface="Arial"/>
                <a:cs typeface="Arial"/>
              </a:rPr>
              <a:t>EXCLUDE · triệt tiêu</a:t>
            </a:r>
          </a:p>
        </p:txBody>
      </p:sp>
      <p:sp>
        <p:nvSpPr>
          <p:cNvPr id="21" name="branch 2 body">
            <a:extLst>
              <a:ext uri="{FF2B5EF4-FFF2-40B4-BE49-F238E27FC236}">
                <a16:creationId xmlns:a16="http://schemas.microsoft.com/office/drawing/2014/main" id="{96B6E7BA-9FFA-422C-A60C-969B01D13C78}"/>
              </a:ext>
            </a:extLst>
          </p:cNvPr>
          <p:cNvSpPr>
            <a:spLocks noGrp="1"/>
          </p:cNvSpPr>
          <p:nvPr/>
        </p:nvSpPr>
        <p:spPr>
          <a:xfrm>
            <a:off x="3638550" y="4191000"/>
            <a:ext cx="3571875"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Hạn chế dấu vết lab, rò rỉ phân vùng, định danh nhạy cảm. Hỏi: probe có học đường tắt hay tái nhận dạng?</a:t>
            </a:r>
          </a:p>
        </p:txBody>
      </p:sp>
      <p:sp>
        <p:nvSpPr>
          <p:cNvPr id="22" name="branch 3 accent">
            <a:extLst>
              <a:ext uri="{FF2B5EF4-FFF2-40B4-BE49-F238E27FC236}">
                <a16:creationId xmlns:a16="http://schemas.microsoft.com/office/drawing/2014/main" id="{21C32F39-5C19-4539-802C-10C482B02482}"/>
              </a:ext>
            </a:extLst>
          </p:cNvPr>
          <p:cNvSpPr>
            <a:spLocks noGrp="1"/>
          </p:cNvSpPr>
          <p:nvPr/>
        </p:nvSpPr>
        <p:spPr>
          <a:xfrm>
            <a:off x="7715250" y="3733800"/>
            <a:ext cx="47625" cy="2095500"/>
          </a:xfrm>
          <a:prstGeom prst="rect">
            <a:avLst/>
          </a:prstGeom>
          <a:solidFill>
            <a:srgbClr val="A84F4B"/>
          </a:solidFill>
          <a:ln w="0">
            <a:noFill/>
            <a:prstDash val="solid"/>
          </a:ln>
        </p:spPr>
      </p:sp>
      <p:sp>
        <p:nvSpPr>
          <p:cNvPr id="23" name="branch 3 headrule">
            <a:extLst>
              <a:ext uri="{FF2B5EF4-FFF2-40B4-BE49-F238E27FC236}">
                <a16:creationId xmlns:a16="http://schemas.microsoft.com/office/drawing/2014/main" id="{1DBFAD21-BE50-4326-80E5-53D484107722}"/>
              </a:ext>
            </a:extLst>
          </p:cNvPr>
          <p:cNvSpPr>
            <a:spLocks noGrp="1"/>
          </p:cNvSpPr>
          <p:nvPr/>
        </p:nvSpPr>
        <p:spPr>
          <a:xfrm>
            <a:off x="7867650" y="4095750"/>
            <a:ext cx="3714750" cy="9525"/>
          </a:xfrm>
          <a:prstGeom prst="rect">
            <a:avLst/>
          </a:prstGeom>
          <a:solidFill>
            <a:srgbClr val="CAD5D9"/>
          </a:solidFill>
          <a:ln w="0">
            <a:noFill/>
            <a:prstDash val="solid"/>
          </a:ln>
        </p:spPr>
      </p:sp>
      <p:sp>
        <p:nvSpPr>
          <p:cNvPr id="24" name="branch 3 title">
            <a:extLst>
              <a:ext uri="{FF2B5EF4-FFF2-40B4-BE49-F238E27FC236}">
                <a16:creationId xmlns:a16="http://schemas.microsoft.com/office/drawing/2014/main" id="{A0BCFD35-C12C-4E27-AC9D-A989260E6E82}"/>
              </a:ext>
            </a:extLst>
          </p:cNvPr>
          <p:cNvSpPr>
            <a:spLocks noGrp="1"/>
          </p:cNvSpPr>
          <p:nvPr/>
        </p:nvSpPr>
        <p:spPr>
          <a:xfrm>
            <a:off x="7877175" y="3752850"/>
            <a:ext cx="3695700" cy="295275"/>
          </a:xfrm>
          <a:prstGeom prst="rect">
            <a:avLst/>
          </a:prstGeom>
          <a:noFill/>
          <a:ln w="0">
            <a:noFill/>
            <a:prstDash val="solid"/>
          </a:ln>
        </p:spPr>
        <p:txBody>
          <a:bodyPr wrap="square" lIns="0" tIns="0" rIns="0" bIns="0" anchor="ctr">
            <a:noAutofit/>
          </a:bodyPr>
          <a:lstStyle/>
          <a:p>
            <a:pPr algn="l">
              <a:defRPr sz="1725" b="1">
                <a:solidFill>
                  <a:srgbClr val="A84F4B"/>
                </a:solidFill>
                <a:latin typeface="Arial"/>
                <a:ea typeface="Arial"/>
                <a:cs typeface="Arial"/>
              </a:defRPr>
            </a:pPr>
            <a:r>
              <a:rPr sz="1725" b="1">
                <a:solidFill>
                  <a:srgbClr val="A84F4B"/>
                </a:solidFill>
                <a:latin typeface="Arial"/>
                <a:ea typeface="Arial"/>
                <a:cs typeface="Arial"/>
              </a:rPr>
              <a:t>Tầng kiểm chứng</a:t>
            </a:r>
          </a:p>
        </p:txBody>
      </p:sp>
      <p:sp>
        <p:nvSpPr>
          <p:cNvPr id="25" name="branch 3 body">
            <a:extLst>
              <a:ext uri="{FF2B5EF4-FFF2-40B4-BE49-F238E27FC236}">
                <a16:creationId xmlns:a16="http://schemas.microsoft.com/office/drawing/2014/main" id="{C02EE7DE-5440-4003-AE98-17D073382043}"/>
              </a:ext>
            </a:extLst>
          </p:cNvPr>
          <p:cNvSpPr>
            <a:spLocks noGrp="1"/>
          </p:cNvSpPr>
          <p:nvPr/>
        </p:nvSpPr>
        <p:spPr>
          <a:xfrm>
            <a:off x="7877175" y="4191000"/>
            <a:ext cx="3676650"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lang="en-US" sz="1350" b="0" smtClean="0">
                <a:solidFill>
                  <a:srgbClr val="182C39"/>
                </a:solidFill>
                <a:latin typeface="Arial"/>
                <a:ea typeface="Arial"/>
                <a:cs typeface="Arial"/>
              </a:rPr>
              <a:t>Giữ nguyên bộ trích xuất; probe tuyến tính chỉ đo tín hiệu phân tách tuyến tính.</a:t>
            </a:r>
            <a:r>
              <a:rPr sz="1350" b="0" smtClean="0">
                <a:solidFill>
                  <a:srgbClr val="182C39"/>
                </a:solidFill>
                <a:latin typeface="Arial"/>
                <a:ea typeface="Arial"/>
                <a:cs typeface="Arial"/>
              </a:rPr>
              <a:t> </a:t>
            </a:r>
            <a:r>
              <a:rPr sz="1350" b="0">
                <a:solidFill>
                  <a:srgbClr val="182C39"/>
                </a:solidFill>
                <a:latin typeface="Arial"/>
                <a:ea typeface="Arial"/>
                <a:cs typeface="Arial"/>
              </a:rPr>
              <a:t>H1 cần mục tiêu cùng cấp token, không thể suy từ AP phiên.</a:t>
            </a:r>
          </a:p>
        </p:txBody>
      </p:sp>
      <p:sp>
        <p:nvSpPr>
          <p:cNvPr id="26" name="upper bar">
            <a:extLst>
              <a:ext uri="{FF2B5EF4-FFF2-40B4-BE49-F238E27FC236}">
                <a16:creationId xmlns:a16="http://schemas.microsoft.com/office/drawing/2014/main" id="{5D34E500-9CC1-486F-B2D8-395717DDB71E}"/>
              </a:ext>
            </a:extLst>
          </p:cNvPr>
          <p:cNvSpPr>
            <a:spLocks noGrp="1"/>
          </p:cNvSpPr>
          <p:nvPr/>
        </p:nvSpPr>
        <p:spPr>
          <a:xfrm>
            <a:off x="3086100" y="2486025"/>
            <a:ext cx="285750" cy="19050"/>
          </a:xfrm>
          <a:prstGeom prst="rect">
            <a:avLst/>
          </a:prstGeom>
          <a:solidFill>
            <a:srgbClr val="2B658B"/>
          </a:solidFill>
          <a:ln w="0">
            <a:noFill/>
            <a:prstDash val="solid"/>
          </a:ln>
        </p:spPr>
      </p:sp>
      <p:sp>
        <p:nvSpPr>
          <p:cNvPr id="27" name="upper dot">
            <a:extLst>
              <a:ext uri="{FF2B5EF4-FFF2-40B4-BE49-F238E27FC236}">
                <a16:creationId xmlns:a16="http://schemas.microsoft.com/office/drawing/2014/main" id="{F1DCBF63-A1A8-439F-9E26-FBF046E32554}"/>
              </a:ext>
            </a:extLst>
          </p:cNvPr>
          <p:cNvSpPr>
            <a:spLocks noGrp="1"/>
          </p:cNvSpPr>
          <p:nvPr/>
        </p:nvSpPr>
        <p:spPr>
          <a:xfrm>
            <a:off x="3343275" y="2457450"/>
            <a:ext cx="76200" cy="76200"/>
          </a:xfrm>
          <a:prstGeom prst="rect">
            <a:avLst/>
          </a:prstGeom>
          <a:solidFill>
            <a:srgbClr val="2B658B"/>
          </a:solidFill>
          <a:ln w="0">
            <a:noFill/>
            <a:prstDash val="solid"/>
          </a:ln>
        </p:spPr>
      </p:sp>
      <p:sp>
        <p:nvSpPr>
          <p:cNvPr id="28" name="lower bar">
            <a:extLst>
              <a:ext uri="{FF2B5EF4-FFF2-40B4-BE49-F238E27FC236}">
                <a16:creationId xmlns:a16="http://schemas.microsoft.com/office/drawing/2014/main" id="{85461AA7-D067-4911-9B66-1BBDBB31EFD4}"/>
              </a:ext>
            </a:extLst>
          </p:cNvPr>
          <p:cNvSpPr>
            <a:spLocks noGrp="1"/>
          </p:cNvSpPr>
          <p:nvPr/>
        </p:nvSpPr>
        <p:spPr>
          <a:xfrm>
            <a:off x="3086100" y="4562475"/>
            <a:ext cx="285750" cy="19050"/>
          </a:xfrm>
          <a:prstGeom prst="rect">
            <a:avLst/>
          </a:prstGeom>
          <a:solidFill>
            <a:srgbClr val="2B658B"/>
          </a:solidFill>
          <a:ln w="0">
            <a:noFill/>
            <a:prstDash val="solid"/>
          </a:ln>
        </p:spPr>
      </p:sp>
      <p:sp>
        <p:nvSpPr>
          <p:cNvPr id="29" name="lower dot">
            <a:extLst>
              <a:ext uri="{FF2B5EF4-FFF2-40B4-BE49-F238E27FC236}">
                <a16:creationId xmlns:a16="http://schemas.microsoft.com/office/drawing/2014/main" id="{5F583A73-7DFA-4E96-B968-A0D129B5E4C5}"/>
              </a:ext>
            </a:extLst>
          </p:cNvPr>
          <p:cNvSpPr>
            <a:spLocks noGrp="1"/>
          </p:cNvSpPr>
          <p:nvPr/>
        </p:nvSpPr>
        <p:spPr>
          <a:xfrm>
            <a:off x="3343275" y="4533900"/>
            <a:ext cx="76200" cy="76200"/>
          </a:xfrm>
          <a:prstGeom prst="rect">
            <a:avLst/>
          </a:prstGeom>
          <a:solidFill>
            <a:srgbClr val="2B658B"/>
          </a:solidFill>
          <a:ln w="0">
            <a:noFill/>
            <a:prstDash val="solid"/>
          </a:ln>
        </p:spPr>
      </p:sp>
      <p:sp>
        <p:nvSpPr>
          <p:cNvPr id="30" name="takeaway">
            <a:extLst>
              <a:ext uri="{FF2B5EF4-FFF2-40B4-BE49-F238E27FC236}">
                <a16:creationId xmlns:a16="http://schemas.microsoft.com/office/drawing/2014/main" id="{DBC0F116-D488-4FFF-A08A-228E89E503BB}"/>
              </a:ext>
            </a:extLst>
          </p:cNvPr>
          <p:cNvSpPr>
            <a:spLocks noGrp="1"/>
          </p:cNvSpPr>
          <p:nvPr/>
        </p:nvSpPr>
        <p:spPr>
          <a:xfrm>
            <a:off x="514350" y="6057900"/>
            <a:ext cx="11163300" cy="285750"/>
          </a:xfrm>
          <a:prstGeom prst="rect">
            <a:avLst/>
          </a:prstGeom>
          <a:noFill/>
          <a:ln w="0">
            <a:noFill/>
            <a:prstDash val="solid"/>
          </a:ln>
        </p:spPr>
        <p:txBody>
          <a:bodyPr wrap="square" lIns="0" tIns="0" rIns="0" bIns="0" anchor="ctr">
            <a:noAutofit/>
          </a:bodyPr>
          <a:lstStyle/>
          <a:p>
            <a:pPr algn="l">
              <a:defRPr sz="1350" b="1">
                <a:solidFill>
                  <a:srgbClr val="A84F4B"/>
                </a:solidFill>
                <a:latin typeface="Arial"/>
                <a:ea typeface="Arial"/>
                <a:cs typeface="Arial"/>
              </a:defRPr>
            </a:pPr>
            <a:r>
              <a:rPr sz="1350" b="1">
                <a:solidFill>
                  <a:srgbClr val="A84F4B"/>
                </a:solidFill>
                <a:latin typeface="Arial"/>
                <a:ea typeface="Arial"/>
                <a:cs typeface="Arial"/>
              </a:rPr>
              <a:t>Ranh giới: Hợp đồng là đặc tả phương pháp luận; từng điều kiện còn cần phép đo thích hợp.</a:t>
            </a:r>
          </a:p>
        </p:txBody>
      </p:sp>
    </p:spTree>
    <p:extLst>
      <p:ext uri="{BB962C8B-B14F-4D97-AF65-F5344CB8AC3E}">
        <p14:creationId xmlns:p14="http://schemas.microsoft.com/office/powerpoint/2010/main" val="191303735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BFAF6"/>
        </a:solidFill>
        <a:effectLst/>
      </p:bgPr>
    </p:bg>
    <p:spTree>
      <p:nvGrpSpPr>
        <p:cNvPr id="1" name=""/>
        <p:cNvGrpSpPr/>
        <p:nvPr/>
      </p:nvGrpSpPr>
      <p:grpSpPr>
        <a:xfrm>
          <a:off x="0" y="0"/>
          <a:ext cx="0" cy="0"/>
          <a:chOff x="0" y="0"/>
          <a:chExt cx="0" cy="0"/>
        </a:xfrm>
      </p:grpSpPr>
      <p:sp>
        <p:nvSpPr>
          <p:cNvPr id="31" name="title">
            <a:extLst>
              <a:ext uri="{FF2B5EF4-FFF2-40B4-BE49-F238E27FC236}">
                <a16:creationId xmlns:a16="http://schemas.microsoft.com/office/drawing/2014/main" id="{E8138407-8580-46A2-B727-E1093C016905}"/>
              </a:ext>
            </a:extLst>
          </p:cNvPr>
          <p:cNvSpPr>
            <a:spLocks noGrp="1"/>
          </p:cNvSpPr>
          <p:nvPr/>
        </p:nvSpPr>
        <p:spPr>
          <a:xfrm>
            <a:off x="514350" y="247650"/>
            <a:ext cx="10572750" cy="495300"/>
          </a:xfrm>
          <a:prstGeom prst="rect">
            <a:avLst/>
          </a:prstGeom>
          <a:noFill/>
          <a:ln w="0">
            <a:noFill/>
            <a:prstDash val="solid"/>
          </a:ln>
        </p:spPr>
        <p:txBody>
          <a:bodyPr wrap="square" lIns="0" tIns="0" rIns="0" bIns="0" anchor="ctr">
            <a:noAutofit/>
          </a:bodyPr>
          <a:lstStyle/>
          <a:p>
            <a:pPr algn="l">
              <a:defRPr sz="2925" b="1">
                <a:solidFill>
                  <a:srgbClr val="182C39"/>
                </a:solidFill>
                <a:latin typeface="Arial"/>
                <a:ea typeface="Arial"/>
                <a:cs typeface="Arial"/>
              </a:defRPr>
            </a:pPr>
            <a:r>
              <a:rPr sz="2925" b="1">
                <a:solidFill>
                  <a:srgbClr val="182C39"/>
                </a:solidFill>
                <a:latin typeface="Arial"/>
                <a:ea typeface="Arial"/>
                <a:cs typeface="Arial"/>
              </a:rPr>
              <a:t>Hai góc nhìn, một biểu diễn</a:t>
            </a:r>
          </a:p>
        </p:txBody>
      </p:sp>
      <p:sp>
        <p:nvSpPr>
          <p:cNvPr id="2" name="subtitle">
            <a:extLst>
              <a:ext uri="{FF2B5EF4-FFF2-40B4-BE49-F238E27FC236}">
                <a16:creationId xmlns:a16="http://schemas.microsoft.com/office/drawing/2014/main" id="{E8200692-CC46-46AE-A5CF-4B19909F8C41}"/>
              </a:ext>
            </a:extLst>
          </p:cNvPr>
          <p:cNvSpPr>
            <a:spLocks noGrp="1"/>
          </p:cNvSpPr>
          <p:nvPr/>
        </p:nvSpPr>
        <p:spPr>
          <a:xfrm>
            <a:off x="523875" y="819150"/>
            <a:ext cx="11001375" cy="276225"/>
          </a:xfrm>
          <a:prstGeom prst="rect">
            <a:avLst/>
          </a:prstGeom>
          <a:noFill/>
          <a:ln w="0">
            <a:noFill/>
            <a:prstDash val="solid"/>
          </a:ln>
        </p:spPr>
        <p:txBody>
          <a:bodyPr wrap="square" lIns="0" tIns="0" rIns="0" bIns="0" anchor="ctr">
            <a:noAutofit/>
          </a:bodyPr>
          <a:lstStyle/>
          <a:p>
            <a:pPr algn="l">
              <a:defRPr sz="1350" b="0">
                <a:solidFill>
                  <a:srgbClr val="506473"/>
                </a:solidFill>
                <a:latin typeface="Arial"/>
                <a:ea typeface="Arial"/>
                <a:cs typeface="Arial"/>
              </a:defRPr>
            </a:pPr>
            <a:r>
              <a:rPr sz="1350" b="0">
                <a:solidFill>
                  <a:srgbClr val="506473"/>
                </a:solidFill>
                <a:latin typeface="Arial"/>
                <a:ea typeface="Arial"/>
                <a:cs typeface="Arial"/>
              </a:rPr>
              <a:t>Kiến trúc nêu cách tạo vector; thực nghiệm phải kiểm tra liệu ghép hai nhánh có thật sự giúp</a:t>
            </a:r>
          </a:p>
        </p:txBody>
      </p:sp>
      <p:sp>
        <p:nvSpPr>
          <p:cNvPr id="3" name="top line">
            <a:extLst>
              <a:ext uri="{FF2B5EF4-FFF2-40B4-BE49-F238E27FC236}">
                <a16:creationId xmlns:a16="http://schemas.microsoft.com/office/drawing/2014/main" id="{D16EAC88-D991-48D6-B004-75FCE1ED7665}"/>
              </a:ext>
            </a:extLst>
          </p:cNvPr>
          <p:cNvSpPr>
            <a:spLocks noGrp="1"/>
          </p:cNvSpPr>
          <p:nvPr/>
        </p:nvSpPr>
        <p:spPr>
          <a:xfrm>
            <a:off x="514350" y="1181100"/>
            <a:ext cx="11163300" cy="19050"/>
          </a:xfrm>
          <a:prstGeom prst="rect">
            <a:avLst/>
          </a:prstGeom>
          <a:solidFill>
            <a:srgbClr val="2B658B"/>
          </a:solidFill>
          <a:ln w="0">
            <a:noFill/>
            <a:prstDash val="solid"/>
          </a:ln>
        </p:spPr>
      </p:sp>
      <p:sp>
        <p:nvSpPr>
          <p:cNvPr id="4" name="source">
            <a:extLst>
              <a:ext uri="{FF2B5EF4-FFF2-40B4-BE49-F238E27FC236}">
                <a16:creationId xmlns:a16="http://schemas.microsoft.com/office/drawing/2014/main" id="{3A54BC53-4415-4897-A7BD-F3861B375E6C}"/>
              </a:ext>
            </a:extLst>
          </p:cNvPr>
          <p:cNvSpPr>
            <a:spLocks noGrp="1"/>
          </p:cNvSpPr>
          <p:nvPr/>
        </p:nvSpPr>
        <p:spPr>
          <a:xfrm>
            <a:off x="514350" y="6429375"/>
            <a:ext cx="9810750" cy="219075"/>
          </a:xfrm>
          <a:prstGeom prst="rect">
            <a:avLst/>
          </a:prstGeom>
          <a:noFill/>
          <a:ln w="0">
            <a:noFill/>
            <a:prstDash val="solid"/>
          </a:ln>
        </p:spPr>
        <p:txBody>
          <a:bodyPr wrap="square" lIns="0" tIns="0" rIns="0" bIns="0" anchor="ctr">
            <a:noAutofit/>
          </a:bodyPr>
          <a:lstStyle/>
          <a:p>
            <a:pPr algn="l">
              <a:defRPr sz="975" b="0">
                <a:solidFill>
                  <a:srgbClr val="506473"/>
                </a:solidFill>
                <a:latin typeface="Arial"/>
                <a:ea typeface="Arial"/>
                <a:cs typeface="Arial"/>
              </a:defRPr>
            </a:pPr>
            <a:r>
              <a:rPr sz="975" b="0">
                <a:solidFill>
                  <a:srgbClr val="506473"/>
                </a:solidFill>
                <a:latin typeface="Arial"/>
                <a:ea typeface="Arial"/>
                <a:cs typeface="Arial"/>
              </a:rPr>
              <a:t>Nguồn Word: Mục 2.1–2.4; Hình 2.1; Mục 3.3.2</a:t>
            </a:r>
          </a:p>
        </p:txBody>
      </p:sp>
      <p:sp>
        <p:nvSpPr>
          <p:cNvPr id="5" name="number">
            <a:extLst>
              <a:ext uri="{FF2B5EF4-FFF2-40B4-BE49-F238E27FC236}">
                <a16:creationId xmlns:a16="http://schemas.microsoft.com/office/drawing/2014/main" id="{F39505B0-F4E6-4F63-82D2-FD208B3F2365}"/>
              </a:ext>
            </a:extLst>
          </p:cNvPr>
          <p:cNvSpPr>
            <a:spLocks noGrp="1"/>
          </p:cNvSpPr>
          <p:nvPr/>
        </p:nvSpPr>
        <p:spPr>
          <a:xfrm>
            <a:off x="10572750" y="6429375"/>
            <a:ext cx="1104900" cy="219075"/>
          </a:xfrm>
          <a:prstGeom prst="rect">
            <a:avLst/>
          </a:prstGeom>
          <a:noFill/>
          <a:ln w="0">
            <a:noFill/>
            <a:prstDash val="solid"/>
          </a:ln>
        </p:spPr>
        <p:txBody>
          <a:bodyPr wrap="square" lIns="0" tIns="0" rIns="0" bIns="0" anchor="ctr">
            <a:noAutofit/>
          </a:bodyPr>
          <a:lstStyle/>
          <a:p>
            <a:pPr algn="r">
              <a:defRPr sz="1050" b="0">
                <a:solidFill>
                  <a:srgbClr val="506473"/>
                </a:solidFill>
                <a:latin typeface="Arial"/>
                <a:ea typeface="Arial"/>
                <a:cs typeface="Arial"/>
              </a:defRPr>
            </a:pPr>
            <a:r>
              <a:rPr sz="1050" b="0">
                <a:solidFill>
                  <a:srgbClr val="506473"/>
                </a:solidFill>
                <a:latin typeface="Arial"/>
                <a:ea typeface="Arial"/>
                <a:cs typeface="Arial"/>
              </a:rPr>
              <a:t>04 / 10</a:t>
            </a:r>
          </a:p>
        </p:txBody>
      </p:sp>
      <p:sp>
        <p:nvSpPr>
          <p:cNvPr id="6" name="central node">
            <a:extLst>
              <a:ext uri="{FF2B5EF4-FFF2-40B4-BE49-F238E27FC236}">
                <a16:creationId xmlns:a16="http://schemas.microsoft.com/office/drawing/2014/main" id="{8C7EB587-E545-4ACD-AF91-A11DECBC97F6}"/>
              </a:ext>
            </a:extLst>
          </p:cNvPr>
          <p:cNvSpPr>
            <a:spLocks noGrp="1"/>
          </p:cNvSpPr>
          <p:nvPr/>
        </p:nvSpPr>
        <p:spPr>
          <a:xfrm>
            <a:off x="514350" y="1819275"/>
            <a:ext cx="2571750" cy="3943350"/>
          </a:xfrm>
          <a:prstGeom prst="roundRect">
            <a:avLst>
              <a:gd name="adj" fmla="val 2963"/>
            </a:avLst>
          </a:prstGeom>
          <a:solidFill>
            <a:srgbClr val="E7F0F5"/>
          </a:solidFill>
          <a:ln w="9525">
            <a:solidFill>
              <a:srgbClr val="2B658B"/>
            </a:solidFill>
            <a:prstDash val="solid"/>
          </a:ln>
        </p:spPr>
      </p:sp>
      <p:sp>
        <p:nvSpPr>
          <p:cNvPr id="7" name="central head">
            <a:extLst>
              <a:ext uri="{FF2B5EF4-FFF2-40B4-BE49-F238E27FC236}">
                <a16:creationId xmlns:a16="http://schemas.microsoft.com/office/drawing/2014/main" id="{999C8101-AB06-4EEE-9EA5-BBC9C6C85F4B}"/>
              </a:ext>
            </a:extLst>
          </p:cNvPr>
          <p:cNvSpPr>
            <a:spLocks noGrp="1"/>
          </p:cNvSpPr>
          <p:nvPr/>
        </p:nvSpPr>
        <p:spPr>
          <a:xfrm>
            <a:off x="685800" y="2047875"/>
            <a:ext cx="2238375" cy="790575"/>
          </a:xfrm>
          <a:prstGeom prst="rect">
            <a:avLst/>
          </a:prstGeom>
          <a:noFill/>
          <a:ln w="0">
            <a:noFill/>
            <a:prstDash val="solid"/>
          </a:ln>
        </p:spPr>
        <p:txBody>
          <a:bodyPr wrap="square" lIns="0" tIns="0" rIns="0" bIns="0" anchor="ctr">
            <a:noAutofit/>
          </a:bodyPr>
          <a:lstStyle/>
          <a:p>
            <a:pPr algn="l">
              <a:defRPr sz="2100" b="1">
                <a:solidFill>
                  <a:srgbClr val="2B658B"/>
                </a:solidFill>
                <a:latin typeface="Arial"/>
                <a:ea typeface="Arial"/>
                <a:cs typeface="Arial"/>
              </a:defRPr>
            </a:pPr>
            <a:r>
              <a:rPr sz="2100" b="1">
                <a:solidFill>
                  <a:srgbClr val="2B658B"/>
                </a:solidFill>
                <a:latin typeface="Arial"/>
                <a:ea typeface="Arial"/>
                <a:cs typeface="Arial"/>
              </a:rPr>
              <a:t>LOG CHUẨN HÓA</a:t>
            </a:r>
          </a:p>
        </p:txBody>
      </p:sp>
      <p:sp>
        <p:nvSpPr>
          <p:cNvPr id="8" name="central rule">
            <a:extLst>
              <a:ext uri="{FF2B5EF4-FFF2-40B4-BE49-F238E27FC236}">
                <a16:creationId xmlns:a16="http://schemas.microsoft.com/office/drawing/2014/main" id="{E613F3F4-702F-44BD-80C5-D7EE1BFDA831}"/>
              </a:ext>
            </a:extLst>
          </p:cNvPr>
          <p:cNvSpPr>
            <a:spLocks noGrp="1"/>
          </p:cNvSpPr>
          <p:nvPr/>
        </p:nvSpPr>
        <p:spPr>
          <a:xfrm>
            <a:off x="685800" y="2981325"/>
            <a:ext cx="2152650" cy="19050"/>
          </a:xfrm>
          <a:prstGeom prst="rect">
            <a:avLst/>
          </a:prstGeom>
          <a:solidFill>
            <a:srgbClr val="2B658B"/>
          </a:solidFill>
          <a:ln w="0">
            <a:noFill/>
            <a:prstDash val="solid"/>
          </a:ln>
        </p:spPr>
      </p:sp>
      <p:sp>
        <p:nvSpPr>
          <p:cNvPr id="9" name="central body">
            <a:extLst>
              <a:ext uri="{FF2B5EF4-FFF2-40B4-BE49-F238E27FC236}">
                <a16:creationId xmlns:a16="http://schemas.microsoft.com/office/drawing/2014/main" id="{91234FA7-8ACB-45EF-9E6D-61FFE924BB08}"/>
              </a:ext>
            </a:extLst>
          </p:cNvPr>
          <p:cNvSpPr>
            <a:spLocks noGrp="1"/>
          </p:cNvSpPr>
          <p:nvPr/>
        </p:nvSpPr>
        <p:spPr>
          <a:xfrm>
            <a:off x="685800" y="3143250"/>
            <a:ext cx="2219325" cy="2333625"/>
          </a:xfrm>
          <a:prstGeom prst="rect">
            <a:avLst/>
          </a:prstGeom>
          <a:noFill/>
          <a:ln w="0">
            <a:noFill/>
            <a:prstDash val="solid"/>
          </a:ln>
        </p:spPr>
        <p:txBody>
          <a:bodyPr wrap="square" lIns="0" tIns="0" rIns="0" bIns="0" anchor="ctr">
            <a:noAutofit/>
          </a:bodyPr>
          <a:lstStyle/>
          <a:p>
            <a:pPr algn="l">
              <a:defRPr sz="1425" b="0">
                <a:solidFill>
                  <a:srgbClr val="182C39"/>
                </a:solidFill>
                <a:latin typeface="Arial"/>
                <a:ea typeface="Arial"/>
                <a:cs typeface="Arial"/>
              </a:defRPr>
            </a:pPr>
            <a:r>
              <a:rPr sz="1425" b="0">
                <a:solidFill>
                  <a:srgbClr val="182C39"/>
                </a:solidFill>
                <a:latin typeface="Arial"/>
                <a:ea typeface="Arial"/>
                <a:cs typeface="Arial"/>
              </a:rPr>
              <a:t>Đầu vào có thời gian, tác nhân, đối tượng, hành động, tham số. Nhánh chuỗi và đồ thị học những quan hệ khác nhau rồi đưa vào không gian biểu diễn chung.</a:t>
            </a:r>
          </a:p>
        </p:txBody>
      </p:sp>
      <p:sp>
        <p:nvSpPr>
          <p:cNvPr id="10" name="branch 0 accent">
            <a:extLst>
              <a:ext uri="{FF2B5EF4-FFF2-40B4-BE49-F238E27FC236}">
                <a16:creationId xmlns:a16="http://schemas.microsoft.com/office/drawing/2014/main" id="{1971B961-9E52-42D9-A5C7-C9A4BBB6807A}"/>
              </a:ext>
            </a:extLst>
          </p:cNvPr>
          <p:cNvSpPr>
            <a:spLocks noGrp="1"/>
          </p:cNvSpPr>
          <p:nvPr/>
        </p:nvSpPr>
        <p:spPr>
          <a:xfrm>
            <a:off x="3476625" y="1447800"/>
            <a:ext cx="47625" cy="2095500"/>
          </a:xfrm>
          <a:prstGeom prst="rect">
            <a:avLst/>
          </a:prstGeom>
          <a:solidFill>
            <a:srgbClr val="2B658B"/>
          </a:solidFill>
          <a:ln w="0">
            <a:noFill/>
            <a:prstDash val="solid"/>
          </a:ln>
        </p:spPr>
      </p:sp>
      <p:sp>
        <p:nvSpPr>
          <p:cNvPr id="11" name="branch 0 headrule">
            <a:extLst>
              <a:ext uri="{FF2B5EF4-FFF2-40B4-BE49-F238E27FC236}">
                <a16:creationId xmlns:a16="http://schemas.microsoft.com/office/drawing/2014/main" id="{25060E81-DEFC-4FC3-912C-9CE8F1461337}"/>
              </a:ext>
            </a:extLst>
          </p:cNvPr>
          <p:cNvSpPr>
            <a:spLocks noGrp="1"/>
          </p:cNvSpPr>
          <p:nvPr/>
        </p:nvSpPr>
        <p:spPr>
          <a:xfrm>
            <a:off x="3629025" y="1809750"/>
            <a:ext cx="3609975" cy="9525"/>
          </a:xfrm>
          <a:prstGeom prst="rect">
            <a:avLst/>
          </a:prstGeom>
          <a:solidFill>
            <a:srgbClr val="CAD5D9"/>
          </a:solidFill>
          <a:ln w="0">
            <a:noFill/>
            <a:prstDash val="solid"/>
          </a:ln>
        </p:spPr>
      </p:sp>
      <p:sp>
        <p:nvSpPr>
          <p:cNvPr id="12" name="branch 0 title">
            <a:extLst>
              <a:ext uri="{FF2B5EF4-FFF2-40B4-BE49-F238E27FC236}">
                <a16:creationId xmlns:a16="http://schemas.microsoft.com/office/drawing/2014/main" id="{30B94234-7CF9-4CB8-8CD8-E8BD8F93157F}"/>
              </a:ext>
            </a:extLst>
          </p:cNvPr>
          <p:cNvSpPr>
            <a:spLocks noGrp="1"/>
          </p:cNvSpPr>
          <p:nvPr/>
        </p:nvSpPr>
        <p:spPr>
          <a:xfrm>
            <a:off x="3638550" y="1466850"/>
            <a:ext cx="3590925" cy="295275"/>
          </a:xfrm>
          <a:prstGeom prst="rect">
            <a:avLst/>
          </a:prstGeom>
          <a:noFill/>
          <a:ln w="0">
            <a:noFill/>
            <a:prstDash val="solid"/>
          </a:ln>
        </p:spPr>
        <p:txBody>
          <a:bodyPr wrap="square" lIns="0" tIns="0" rIns="0" bIns="0" anchor="ctr">
            <a:noAutofit/>
          </a:bodyPr>
          <a:lstStyle/>
          <a:p>
            <a:pPr algn="l">
              <a:defRPr sz="1725" b="1">
                <a:solidFill>
                  <a:srgbClr val="2B658B"/>
                </a:solidFill>
                <a:latin typeface="Arial"/>
                <a:ea typeface="Arial"/>
                <a:cs typeface="Arial"/>
              </a:defRPr>
            </a:pPr>
            <a:r>
              <a:rPr sz="1725" b="1">
                <a:solidFill>
                  <a:srgbClr val="2B658B"/>
                </a:solidFill>
                <a:latin typeface="Arial"/>
                <a:ea typeface="Arial"/>
                <a:cs typeface="Arial"/>
              </a:rPr>
              <a:t>Sequence View</a:t>
            </a:r>
          </a:p>
        </p:txBody>
      </p:sp>
      <p:sp>
        <p:nvSpPr>
          <p:cNvPr id="13" name="branch 0 body">
            <a:extLst>
              <a:ext uri="{FF2B5EF4-FFF2-40B4-BE49-F238E27FC236}">
                <a16:creationId xmlns:a16="http://schemas.microsoft.com/office/drawing/2014/main" id="{83D22562-A95D-4AC3-B72F-0940C55F1205}"/>
              </a:ext>
            </a:extLst>
          </p:cNvPr>
          <p:cNvSpPr>
            <a:spLocks noGrp="1"/>
          </p:cNvSpPr>
          <p:nvPr/>
        </p:nvSpPr>
        <p:spPr>
          <a:xfrm>
            <a:off x="3638550" y="1905000"/>
            <a:ext cx="3571875"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Transformer giữ thứ tự, ngữ cảnh và tham số động trong chuỗi sự kiện. Đầu ra gộp dùng cho đánh giá cấp phiên.</a:t>
            </a:r>
          </a:p>
        </p:txBody>
      </p:sp>
      <p:sp>
        <p:nvSpPr>
          <p:cNvPr id="14" name="branch 1 accent">
            <a:extLst>
              <a:ext uri="{FF2B5EF4-FFF2-40B4-BE49-F238E27FC236}">
                <a16:creationId xmlns:a16="http://schemas.microsoft.com/office/drawing/2014/main" id="{7AC05E71-3FE3-4510-8E7F-32BFCD5CD62D}"/>
              </a:ext>
            </a:extLst>
          </p:cNvPr>
          <p:cNvSpPr>
            <a:spLocks noGrp="1"/>
          </p:cNvSpPr>
          <p:nvPr/>
        </p:nvSpPr>
        <p:spPr>
          <a:xfrm>
            <a:off x="7715250" y="1447800"/>
            <a:ext cx="47625" cy="2095500"/>
          </a:xfrm>
          <a:prstGeom prst="rect">
            <a:avLst/>
          </a:prstGeom>
          <a:solidFill>
            <a:srgbClr val="2D746D"/>
          </a:solidFill>
          <a:ln w="0">
            <a:noFill/>
            <a:prstDash val="solid"/>
          </a:ln>
        </p:spPr>
      </p:sp>
      <p:sp>
        <p:nvSpPr>
          <p:cNvPr id="15" name="branch 1 headrule">
            <a:extLst>
              <a:ext uri="{FF2B5EF4-FFF2-40B4-BE49-F238E27FC236}">
                <a16:creationId xmlns:a16="http://schemas.microsoft.com/office/drawing/2014/main" id="{7E145235-388F-41FF-B421-A09EA0837C30}"/>
              </a:ext>
            </a:extLst>
          </p:cNvPr>
          <p:cNvSpPr>
            <a:spLocks noGrp="1"/>
          </p:cNvSpPr>
          <p:nvPr/>
        </p:nvSpPr>
        <p:spPr>
          <a:xfrm>
            <a:off x="7867650" y="1809750"/>
            <a:ext cx="3714750" cy="9525"/>
          </a:xfrm>
          <a:prstGeom prst="rect">
            <a:avLst/>
          </a:prstGeom>
          <a:solidFill>
            <a:srgbClr val="CAD5D9"/>
          </a:solidFill>
          <a:ln w="0">
            <a:noFill/>
            <a:prstDash val="solid"/>
          </a:ln>
        </p:spPr>
      </p:sp>
      <p:sp>
        <p:nvSpPr>
          <p:cNvPr id="16" name="branch 1 title">
            <a:extLst>
              <a:ext uri="{FF2B5EF4-FFF2-40B4-BE49-F238E27FC236}">
                <a16:creationId xmlns:a16="http://schemas.microsoft.com/office/drawing/2014/main" id="{64005698-1B24-4192-808C-26B8D243B890}"/>
              </a:ext>
            </a:extLst>
          </p:cNvPr>
          <p:cNvSpPr>
            <a:spLocks noGrp="1"/>
          </p:cNvSpPr>
          <p:nvPr/>
        </p:nvSpPr>
        <p:spPr>
          <a:xfrm>
            <a:off x="7877175" y="1466850"/>
            <a:ext cx="3695700" cy="295275"/>
          </a:xfrm>
          <a:prstGeom prst="rect">
            <a:avLst/>
          </a:prstGeom>
          <a:noFill/>
          <a:ln w="0">
            <a:noFill/>
            <a:prstDash val="solid"/>
          </a:ln>
        </p:spPr>
        <p:txBody>
          <a:bodyPr wrap="square" lIns="0" tIns="0" rIns="0" bIns="0" anchor="ctr">
            <a:noAutofit/>
          </a:bodyPr>
          <a:lstStyle/>
          <a:p>
            <a:pPr algn="l">
              <a:defRPr sz="1725" b="1">
                <a:solidFill>
                  <a:srgbClr val="2D746D"/>
                </a:solidFill>
                <a:latin typeface="Arial"/>
                <a:ea typeface="Arial"/>
                <a:cs typeface="Arial"/>
              </a:defRPr>
            </a:pPr>
            <a:r>
              <a:rPr sz="1725" b="1">
                <a:solidFill>
                  <a:srgbClr val="2D746D"/>
                </a:solidFill>
                <a:latin typeface="Arial"/>
                <a:ea typeface="Arial"/>
                <a:cs typeface="Arial"/>
              </a:rPr>
              <a:t>Graph View</a:t>
            </a:r>
          </a:p>
        </p:txBody>
      </p:sp>
      <p:sp>
        <p:nvSpPr>
          <p:cNvPr id="17" name="branch 1 body">
            <a:extLst>
              <a:ext uri="{FF2B5EF4-FFF2-40B4-BE49-F238E27FC236}">
                <a16:creationId xmlns:a16="http://schemas.microsoft.com/office/drawing/2014/main" id="{E2AEF016-D358-4009-A8F8-235A69BD0B8E}"/>
              </a:ext>
            </a:extLst>
          </p:cNvPr>
          <p:cNvSpPr>
            <a:spLocks noGrp="1"/>
          </p:cNvSpPr>
          <p:nvPr/>
        </p:nvSpPr>
        <p:spPr>
          <a:xfrm>
            <a:off x="7877175" y="1905000"/>
            <a:ext cx="3676650"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Temporal GNN cập nhật thông điệp và trạng thái theo tương tác thực thể. Thiết kế nhắm tới phụ thuộc theo thời gian.</a:t>
            </a:r>
          </a:p>
        </p:txBody>
      </p:sp>
      <p:sp>
        <p:nvSpPr>
          <p:cNvPr id="18" name="branch 2 accent">
            <a:extLst>
              <a:ext uri="{FF2B5EF4-FFF2-40B4-BE49-F238E27FC236}">
                <a16:creationId xmlns:a16="http://schemas.microsoft.com/office/drawing/2014/main" id="{447D9534-E5FE-4518-8326-0B148FE9D7CB}"/>
              </a:ext>
            </a:extLst>
          </p:cNvPr>
          <p:cNvSpPr>
            <a:spLocks noGrp="1"/>
          </p:cNvSpPr>
          <p:nvPr/>
        </p:nvSpPr>
        <p:spPr>
          <a:xfrm>
            <a:off x="3476625" y="3733800"/>
            <a:ext cx="47625" cy="2095500"/>
          </a:xfrm>
          <a:prstGeom prst="rect">
            <a:avLst/>
          </a:prstGeom>
          <a:solidFill>
            <a:srgbClr val="A3692D"/>
          </a:solidFill>
          <a:ln w="0">
            <a:noFill/>
            <a:prstDash val="solid"/>
          </a:ln>
        </p:spPr>
      </p:sp>
      <p:sp>
        <p:nvSpPr>
          <p:cNvPr id="19" name="branch 2 headrule">
            <a:extLst>
              <a:ext uri="{FF2B5EF4-FFF2-40B4-BE49-F238E27FC236}">
                <a16:creationId xmlns:a16="http://schemas.microsoft.com/office/drawing/2014/main" id="{484E0F15-D157-4560-B80C-242460DD376E}"/>
              </a:ext>
            </a:extLst>
          </p:cNvPr>
          <p:cNvSpPr>
            <a:spLocks noGrp="1"/>
          </p:cNvSpPr>
          <p:nvPr/>
        </p:nvSpPr>
        <p:spPr>
          <a:xfrm>
            <a:off x="3629025" y="4095750"/>
            <a:ext cx="3609975" cy="9525"/>
          </a:xfrm>
          <a:prstGeom prst="rect">
            <a:avLst/>
          </a:prstGeom>
          <a:solidFill>
            <a:srgbClr val="CAD5D9"/>
          </a:solidFill>
          <a:ln w="0">
            <a:noFill/>
            <a:prstDash val="solid"/>
          </a:ln>
        </p:spPr>
      </p:sp>
      <p:sp>
        <p:nvSpPr>
          <p:cNvPr id="20" name="branch 2 title">
            <a:extLst>
              <a:ext uri="{FF2B5EF4-FFF2-40B4-BE49-F238E27FC236}">
                <a16:creationId xmlns:a16="http://schemas.microsoft.com/office/drawing/2014/main" id="{BB52BE7E-29C5-4C6C-A12F-774D8F04A939}"/>
              </a:ext>
            </a:extLst>
          </p:cNvPr>
          <p:cNvSpPr>
            <a:spLocks noGrp="1"/>
          </p:cNvSpPr>
          <p:nvPr/>
        </p:nvSpPr>
        <p:spPr>
          <a:xfrm>
            <a:off x="3638550" y="3752850"/>
            <a:ext cx="3590925" cy="295275"/>
          </a:xfrm>
          <a:prstGeom prst="rect">
            <a:avLst/>
          </a:prstGeom>
          <a:noFill/>
          <a:ln w="0">
            <a:noFill/>
            <a:prstDash val="solid"/>
          </a:ln>
        </p:spPr>
        <p:txBody>
          <a:bodyPr wrap="square" lIns="0" tIns="0" rIns="0" bIns="0" anchor="ctr">
            <a:noAutofit/>
          </a:bodyPr>
          <a:lstStyle/>
          <a:p>
            <a:pPr algn="l">
              <a:defRPr sz="1725" b="1">
                <a:solidFill>
                  <a:srgbClr val="A3692D"/>
                </a:solidFill>
                <a:latin typeface="Arial"/>
                <a:ea typeface="Arial"/>
                <a:cs typeface="Arial"/>
              </a:defRPr>
            </a:pPr>
            <a:r>
              <a:rPr sz="1725" b="1">
                <a:solidFill>
                  <a:srgbClr val="A3692D"/>
                </a:solidFill>
                <a:latin typeface="Arial"/>
                <a:ea typeface="Arial"/>
                <a:cs typeface="Arial"/>
              </a:rPr>
              <a:t>Gióng hàng / dung hợp</a:t>
            </a:r>
          </a:p>
        </p:txBody>
      </p:sp>
      <p:sp>
        <p:nvSpPr>
          <p:cNvPr id="21" name="branch 2 body">
            <a:extLst>
              <a:ext uri="{FF2B5EF4-FFF2-40B4-BE49-F238E27FC236}">
                <a16:creationId xmlns:a16="http://schemas.microsoft.com/office/drawing/2014/main" id="{4F5F81C9-1D47-49A7-8AAD-00F8C91C16DE}"/>
              </a:ext>
            </a:extLst>
          </p:cNvPr>
          <p:cNvSpPr>
            <a:spLocks noGrp="1"/>
          </p:cNvSpPr>
          <p:nvPr/>
        </p:nvSpPr>
        <p:spPr>
          <a:xfrm>
            <a:off x="3638550" y="4191000"/>
            <a:ext cx="3571875"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VICReg điều hòa không gian chiếu; cổng kết hợp hai vector. Ghép nhánh có thể bổ sung hoặc gây chuyển giao tiêu cực.</a:t>
            </a:r>
          </a:p>
        </p:txBody>
      </p:sp>
      <p:sp>
        <p:nvSpPr>
          <p:cNvPr id="22" name="branch 3 accent">
            <a:extLst>
              <a:ext uri="{FF2B5EF4-FFF2-40B4-BE49-F238E27FC236}">
                <a16:creationId xmlns:a16="http://schemas.microsoft.com/office/drawing/2014/main" id="{01EF543A-7031-49CF-803D-5C50F435085C}"/>
              </a:ext>
            </a:extLst>
          </p:cNvPr>
          <p:cNvSpPr>
            <a:spLocks noGrp="1"/>
          </p:cNvSpPr>
          <p:nvPr/>
        </p:nvSpPr>
        <p:spPr>
          <a:xfrm>
            <a:off x="7715250" y="3733800"/>
            <a:ext cx="47625" cy="2095500"/>
          </a:xfrm>
          <a:prstGeom prst="rect">
            <a:avLst/>
          </a:prstGeom>
          <a:solidFill>
            <a:srgbClr val="A84F4B"/>
          </a:solidFill>
          <a:ln w="0">
            <a:noFill/>
            <a:prstDash val="solid"/>
          </a:ln>
        </p:spPr>
      </p:sp>
      <p:sp>
        <p:nvSpPr>
          <p:cNvPr id="23" name="branch 3 headrule">
            <a:extLst>
              <a:ext uri="{FF2B5EF4-FFF2-40B4-BE49-F238E27FC236}">
                <a16:creationId xmlns:a16="http://schemas.microsoft.com/office/drawing/2014/main" id="{FC869101-FC19-494B-A534-CE23CF0BBD1F}"/>
              </a:ext>
            </a:extLst>
          </p:cNvPr>
          <p:cNvSpPr>
            <a:spLocks noGrp="1"/>
          </p:cNvSpPr>
          <p:nvPr/>
        </p:nvSpPr>
        <p:spPr>
          <a:xfrm>
            <a:off x="7867650" y="4095750"/>
            <a:ext cx="3714750" cy="9525"/>
          </a:xfrm>
          <a:prstGeom prst="rect">
            <a:avLst/>
          </a:prstGeom>
          <a:solidFill>
            <a:srgbClr val="CAD5D9"/>
          </a:solidFill>
          <a:ln w="0">
            <a:noFill/>
            <a:prstDash val="solid"/>
          </a:ln>
        </p:spPr>
      </p:sp>
      <p:sp>
        <p:nvSpPr>
          <p:cNvPr id="24" name="branch 3 title">
            <a:extLst>
              <a:ext uri="{FF2B5EF4-FFF2-40B4-BE49-F238E27FC236}">
                <a16:creationId xmlns:a16="http://schemas.microsoft.com/office/drawing/2014/main" id="{440C4018-02A0-47E7-8D8B-39BF91DE2865}"/>
              </a:ext>
            </a:extLst>
          </p:cNvPr>
          <p:cNvSpPr>
            <a:spLocks noGrp="1"/>
          </p:cNvSpPr>
          <p:nvPr/>
        </p:nvSpPr>
        <p:spPr>
          <a:xfrm>
            <a:off x="7877175" y="3752850"/>
            <a:ext cx="3695700" cy="295275"/>
          </a:xfrm>
          <a:prstGeom prst="rect">
            <a:avLst/>
          </a:prstGeom>
          <a:noFill/>
          <a:ln w="0">
            <a:noFill/>
            <a:prstDash val="solid"/>
          </a:ln>
        </p:spPr>
        <p:txBody>
          <a:bodyPr wrap="square" lIns="0" tIns="0" rIns="0" bIns="0" anchor="ctr">
            <a:noAutofit/>
          </a:bodyPr>
          <a:lstStyle/>
          <a:p>
            <a:pPr algn="l">
              <a:defRPr sz="1725" b="1">
                <a:solidFill>
                  <a:srgbClr val="A84F4B"/>
                </a:solidFill>
                <a:latin typeface="Arial"/>
                <a:ea typeface="Arial"/>
                <a:cs typeface="Arial"/>
              </a:defRPr>
            </a:pPr>
            <a:r>
              <a:rPr sz="1725" b="1">
                <a:solidFill>
                  <a:srgbClr val="A84F4B"/>
                </a:solidFill>
                <a:latin typeface="Arial"/>
                <a:ea typeface="Arial"/>
                <a:cs typeface="Arial"/>
              </a:rPr>
              <a:t>Ba tầng đánh giá</a:t>
            </a:r>
          </a:p>
        </p:txBody>
      </p:sp>
      <p:sp>
        <p:nvSpPr>
          <p:cNvPr id="25" name="branch 3 body">
            <a:extLst>
              <a:ext uri="{FF2B5EF4-FFF2-40B4-BE49-F238E27FC236}">
                <a16:creationId xmlns:a16="http://schemas.microsoft.com/office/drawing/2014/main" id="{E332508E-01A4-4FA1-A146-3C57C068A509}"/>
              </a:ext>
            </a:extLst>
          </p:cNvPr>
          <p:cNvSpPr>
            <a:spLocks noGrp="1"/>
          </p:cNvSpPr>
          <p:nvPr/>
        </p:nvSpPr>
        <p:spPr>
          <a:xfrm>
            <a:off x="7877175" y="4191000"/>
            <a:ext cx="3676650" cy="1581150"/>
          </a:xfrm>
          <a:prstGeom prst="rect">
            <a:avLst/>
          </a:prstGeom>
          <a:noFill/>
          <a:ln w="0">
            <a:noFill/>
            <a:prstDash val="solid"/>
          </a:ln>
        </p:spPr>
        <p:txBody>
          <a:bodyPr wrap="square" lIns="0" tIns="0" rIns="0" bIns="0" anchor="ctr">
            <a:noAutofit/>
          </a:bodyPr>
          <a:lstStyle/>
          <a:p>
            <a:pPr algn="l">
              <a:defRPr sz="1350" b="0">
                <a:solidFill>
                  <a:srgbClr val="182C39"/>
                </a:solidFill>
                <a:latin typeface="Arial"/>
                <a:ea typeface="Arial"/>
                <a:cs typeface="Arial"/>
              </a:defRPr>
            </a:pPr>
            <a:r>
              <a:rPr sz="1350" b="0">
                <a:solidFill>
                  <a:srgbClr val="182C39"/>
                </a:solidFill>
                <a:latin typeface="Arial"/>
                <a:ea typeface="Arial"/>
                <a:cs typeface="Arial"/>
              </a:rPr>
              <a:t>A: tự giám sát; B: nhãn yếu tùy chọn, chưa huấn luyện; </a:t>
            </a:r>
            <a:r>
              <a:rPr lang="en-US" sz="1350" b="0" smtClean="0">
                <a:solidFill>
                  <a:srgbClr val="182C39"/>
                </a:solidFill>
                <a:latin typeface="Arial"/>
                <a:ea typeface="Arial"/>
                <a:cs typeface="Arial"/>
              </a:rPr>
              <a:t>C: giữ nguyên backbone, đo probe.</a:t>
            </a:r>
            <a:r>
              <a:rPr sz="1350" b="0" smtClean="0">
                <a:solidFill>
                  <a:srgbClr val="182C39"/>
                </a:solidFill>
                <a:latin typeface="Arial"/>
                <a:ea typeface="Arial"/>
                <a:cs typeface="Arial"/>
              </a:rPr>
              <a:t> </a:t>
            </a:r>
            <a:r>
              <a:rPr sz="1350" b="0">
                <a:solidFill>
                  <a:srgbClr val="182C39"/>
                </a:solidFill>
                <a:latin typeface="Arial"/>
                <a:ea typeface="Arial"/>
                <a:cs typeface="Arial"/>
              </a:rPr>
              <a:t>Dòng trực tuyến mới là thiết kế, chưa có đo trễ.</a:t>
            </a:r>
          </a:p>
        </p:txBody>
      </p:sp>
      <p:sp>
        <p:nvSpPr>
          <p:cNvPr id="26" name="upper bar">
            <a:extLst>
              <a:ext uri="{FF2B5EF4-FFF2-40B4-BE49-F238E27FC236}">
                <a16:creationId xmlns:a16="http://schemas.microsoft.com/office/drawing/2014/main" id="{43494886-1C41-4D80-8AD2-DE5EF59E94F5}"/>
              </a:ext>
            </a:extLst>
          </p:cNvPr>
          <p:cNvSpPr>
            <a:spLocks noGrp="1"/>
          </p:cNvSpPr>
          <p:nvPr/>
        </p:nvSpPr>
        <p:spPr>
          <a:xfrm>
            <a:off x="3086100" y="2486025"/>
            <a:ext cx="285750" cy="19050"/>
          </a:xfrm>
          <a:prstGeom prst="rect">
            <a:avLst/>
          </a:prstGeom>
          <a:solidFill>
            <a:srgbClr val="2B658B"/>
          </a:solidFill>
          <a:ln w="0">
            <a:noFill/>
            <a:prstDash val="solid"/>
          </a:ln>
        </p:spPr>
      </p:sp>
      <p:sp>
        <p:nvSpPr>
          <p:cNvPr id="27" name="upper dot">
            <a:extLst>
              <a:ext uri="{FF2B5EF4-FFF2-40B4-BE49-F238E27FC236}">
                <a16:creationId xmlns:a16="http://schemas.microsoft.com/office/drawing/2014/main" id="{FB88766F-9C2E-46FC-815B-F73C7EBEB447}"/>
              </a:ext>
            </a:extLst>
          </p:cNvPr>
          <p:cNvSpPr>
            <a:spLocks noGrp="1"/>
          </p:cNvSpPr>
          <p:nvPr/>
        </p:nvSpPr>
        <p:spPr>
          <a:xfrm>
            <a:off x="3343275" y="2457450"/>
            <a:ext cx="76200" cy="76200"/>
          </a:xfrm>
          <a:prstGeom prst="rect">
            <a:avLst/>
          </a:prstGeom>
          <a:solidFill>
            <a:srgbClr val="2B658B"/>
          </a:solidFill>
          <a:ln w="0">
            <a:noFill/>
            <a:prstDash val="solid"/>
          </a:ln>
        </p:spPr>
      </p:sp>
      <p:sp>
        <p:nvSpPr>
          <p:cNvPr id="28" name="lower bar">
            <a:extLst>
              <a:ext uri="{FF2B5EF4-FFF2-40B4-BE49-F238E27FC236}">
                <a16:creationId xmlns:a16="http://schemas.microsoft.com/office/drawing/2014/main" id="{DE435795-F882-472B-8F77-28B35E12BCF0}"/>
              </a:ext>
            </a:extLst>
          </p:cNvPr>
          <p:cNvSpPr>
            <a:spLocks noGrp="1"/>
          </p:cNvSpPr>
          <p:nvPr/>
        </p:nvSpPr>
        <p:spPr>
          <a:xfrm>
            <a:off x="3086100" y="4562475"/>
            <a:ext cx="285750" cy="19050"/>
          </a:xfrm>
          <a:prstGeom prst="rect">
            <a:avLst/>
          </a:prstGeom>
          <a:solidFill>
            <a:srgbClr val="2B658B"/>
          </a:solidFill>
          <a:ln w="0">
            <a:noFill/>
            <a:prstDash val="solid"/>
          </a:ln>
        </p:spPr>
      </p:sp>
      <p:sp>
        <p:nvSpPr>
          <p:cNvPr id="29" name="lower dot">
            <a:extLst>
              <a:ext uri="{FF2B5EF4-FFF2-40B4-BE49-F238E27FC236}">
                <a16:creationId xmlns:a16="http://schemas.microsoft.com/office/drawing/2014/main" id="{6196D761-1C95-4CAA-A26D-AD5F0239FEBB}"/>
              </a:ext>
            </a:extLst>
          </p:cNvPr>
          <p:cNvSpPr>
            <a:spLocks noGrp="1"/>
          </p:cNvSpPr>
          <p:nvPr/>
        </p:nvSpPr>
        <p:spPr>
          <a:xfrm>
            <a:off x="3343275" y="4533900"/>
            <a:ext cx="76200" cy="76200"/>
          </a:xfrm>
          <a:prstGeom prst="rect">
            <a:avLst/>
          </a:prstGeom>
          <a:solidFill>
            <a:srgbClr val="2B658B"/>
          </a:solidFill>
          <a:ln w="0">
            <a:noFill/>
            <a:prstDash val="solid"/>
          </a:ln>
        </p:spPr>
      </p:sp>
      <p:sp>
        <p:nvSpPr>
          <p:cNvPr id="30" name="takeaway">
            <a:extLst>
              <a:ext uri="{FF2B5EF4-FFF2-40B4-BE49-F238E27FC236}">
                <a16:creationId xmlns:a16="http://schemas.microsoft.com/office/drawing/2014/main" id="{7BEBB51A-4DB0-4FE9-B3F7-FE511AA10695}"/>
              </a:ext>
            </a:extLst>
          </p:cNvPr>
          <p:cNvSpPr>
            <a:spLocks noGrp="1"/>
          </p:cNvSpPr>
          <p:nvPr/>
        </p:nvSpPr>
        <p:spPr>
          <a:xfrm>
            <a:off x="514350" y="6057900"/>
            <a:ext cx="11163300" cy="285750"/>
          </a:xfrm>
          <a:prstGeom prst="rect">
            <a:avLst/>
          </a:prstGeom>
          <a:noFill/>
          <a:ln w="0">
            <a:noFill/>
            <a:prstDash val="solid"/>
          </a:ln>
        </p:spPr>
        <p:txBody>
          <a:bodyPr wrap="square" lIns="0" tIns="0" rIns="0" bIns="0" anchor="ctr">
            <a:noAutofit/>
          </a:bodyPr>
          <a:lstStyle/>
          <a:p>
            <a:pPr algn="l">
              <a:defRPr sz="1350" b="1">
                <a:solidFill>
                  <a:srgbClr val="A84F4B"/>
                </a:solidFill>
                <a:latin typeface="Arial"/>
                <a:ea typeface="Arial"/>
                <a:cs typeface="Arial"/>
              </a:defRPr>
            </a:pPr>
            <a:r>
              <a:rPr sz="1350" b="1">
                <a:solidFill>
                  <a:srgbClr val="A84F4B"/>
                </a:solidFill>
                <a:latin typeface="Arial"/>
                <a:ea typeface="Arial"/>
                <a:cs typeface="Arial"/>
              </a:rPr>
              <a:t>Điểm cần bảo vệ: khối nguyên thủy kế thừa; đóng góp là cách đặc tả, tích hợp và kiểm chứng.</a:t>
            </a:r>
          </a:p>
        </p:txBody>
      </p:sp>
    </p:spTree>
    <p:extLst>
      <p:ext uri="{BB962C8B-B14F-4D97-AF65-F5344CB8AC3E}">
        <p14:creationId xmlns:p14="http://schemas.microsoft.com/office/powerpoint/2010/main" val="32836655"/>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19456"/>
            <a:ext cx="11064240" cy="429768"/>
          </a:xfrm>
          <a:prstGeom prst="rect">
            <a:avLst/>
          </a:prstGeom>
          <a:noFill/>
        </p:spPr>
        <p:txBody>
          <a:bodyPr wrap="square" lIns="9144" rIns="9144" tIns="9144" bIns="9144" anchor="ctr">
            <a:spAutoFit/>
          </a:bodyPr>
          <a:lstStyle/>
          <a:p>
            <a:pPr algn="l">
              <a:spcBef>
                <a:spcPts val="0"/>
              </a:spcBef>
              <a:spcAft>
                <a:spcPts val="0"/>
              </a:spcAft>
              <a:defRPr sz="2600" b="1">
                <a:solidFill>
                  <a:srgbClr val="1F3042"/>
                </a:solidFill>
                <a:latin typeface="Arial"/>
              </a:defRPr>
            </a:pPr>
            <a:r>
              <a:t>Dữ liệu HDFS: đường đi và ranh giới</a:t>
            </a:r>
          </a:p>
        </p:txBody>
      </p:sp>
      <p:sp>
        <p:nvSpPr>
          <p:cNvPr id="3" name="TextBox 2"/>
          <p:cNvSpPr txBox="1"/>
          <p:nvPr/>
        </p:nvSpPr>
        <p:spPr>
          <a:xfrm>
            <a:off x="521207" y="731520"/>
            <a:ext cx="11064240" cy="256032"/>
          </a:xfrm>
          <a:prstGeom prst="rect">
            <a:avLst/>
          </a:prstGeom>
          <a:noFill/>
        </p:spPr>
        <p:txBody>
          <a:bodyPr wrap="square" lIns="9144" rIns="9144" tIns="9144" bIns="9144" anchor="ctr">
            <a:spAutoFit/>
          </a:bodyPr>
          <a:lstStyle/>
          <a:p>
            <a:pPr algn="l">
              <a:spcBef>
                <a:spcPts val="0"/>
              </a:spcBef>
              <a:spcAft>
                <a:spcPts val="0"/>
              </a:spcAft>
              <a:defRPr sz="1300" b="0">
                <a:solidFill>
                  <a:srgbClr val="5E6970"/>
                </a:solidFill>
                <a:latin typeface="Arial"/>
              </a:defRPr>
            </a:pPr>
            <a:r>
              <a:t>Một phép so mô hình chỉ có nghĩa khi Train, Validation và Test được tách trước</a:t>
            </a:r>
          </a:p>
        </p:txBody>
      </p:sp>
      <p:sp>
        <p:nvSpPr>
          <p:cNvPr id="4" name="Rectangle 3"/>
          <p:cNvSpPr/>
          <p:nvPr/>
        </p:nvSpPr>
        <p:spPr>
          <a:xfrm>
            <a:off x="512064" y="1097280"/>
            <a:ext cx="11155680" cy="16459"/>
          </a:xfrm>
          <a:prstGeom prst="rect">
            <a:avLst/>
          </a:prstGeom>
          <a:solidFill>
            <a:srgbClr val="1E7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6437376"/>
            <a:ext cx="10378440" cy="173736"/>
          </a:xfrm>
          <a:prstGeom prst="rect">
            <a:avLst/>
          </a:prstGeom>
          <a:noFill/>
        </p:spPr>
        <p:txBody>
          <a:bodyPr wrap="square" lIns="9144" rIns="9144" tIns="9144" bIns="9144" anchor="ctr">
            <a:spAutoFit/>
          </a:bodyPr>
          <a:lstStyle/>
          <a:p>
            <a:pPr algn="l">
              <a:spcBef>
                <a:spcPts val="0"/>
              </a:spcBef>
              <a:spcAft>
                <a:spcPts val="0"/>
              </a:spcAft>
              <a:defRPr sz="919" b="0">
                <a:solidFill>
                  <a:srgbClr val="5E6970"/>
                </a:solidFill>
                <a:latin typeface="Arial"/>
              </a:defRPr>
            </a:pPr>
            <a:r>
              <a:t>Word: Mục 3.1.2, Bảng 3.2  ·  datasets/manifests/SPL-HDFS-001.json</a:t>
            </a:r>
          </a:p>
        </p:txBody>
      </p:sp>
      <p:sp>
        <p:nvSpPr>
          <p:cNvPr id="6" name="TextBox 5"/>
          <p:cNvSpPr txBox="1"/>
          <p:nvPr/>
        </p:nvSpPr>
        <p:spPr>
          <a:xfrm>
            <a:off x="10881360" y="6437376"/>
            <a:ext cx="758952" cy="173736"/>
          </a:xfrm>
          <a:prstGeom prst="rect">
            <a:avLst/>
          </a:prstGeom>
          <a:noFill/>
        </p:spPr>
        <p:txBody>
          <a:bodyPr wrap="square" lIns="9144" rIns="9144" tIns="9144" bIns="9144" anchor="ctr">
            <a:spAutoFit/>
          </a:bodyPr>
          <a:lstStyle/>
          <a:p>
            <a:pPr algn="r">
              <a:spcBef>
                <a:spcPts val="0"/>
              </a:spcBef>
              <a:spcAft>
                <a:spcPts val="0"/>
              </a:spcAft>
              <a:defRPr sz="919" b="1">
                <a:solidFill>
                  <a:srgbClr val="5E6970"/>
                </a:solidFill>
                <a:latin typeface="Arial"/>
              </a:defRPr>
            </a:pPr>
            <a:r>
              <a:t>05 / 10</a:t>
            </a:r>
          </a:p>
        </p:txBody>
      </p:sp>
      <p:sp>
        <p:nvSpPr>
          <p:cNvPr id="7" name="Rounded Rectangle 6"/>
          <p:cNvSpPr/>
          <p:nvPr/>
        </p:nvSpPr>
        <p:spPr>
          <a:xfrm>
            <a:off x="512064" y="1344168"/>
            <a:ext cx="3246120" cy="1078992"/>
          </a:xfrm>
          <a:prstGeom prst="roundRect">
            <a:avLst>
              <a:gd name="adj" fmla="val 8000"/>
            </a:avLst>
          </a:prstGeom>
          <a:solidFill>
            <a:srgbClr val="EF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85800" y="1481328"/>
            <a:ext cx="2834640"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NGUYÊN LIỆU</a:t>
            </a:r>
          </a:p>
        </p:txBody>
      </p:sp>
      <p:sp>
        <p:nvSpPr>
          <p:cNvPr id="9" name="TextBox 8"/>
          <p:cNvSpPr txBox="1"/>
          <p:nvPr/>
        </p:nvSpPr>
        <p:spPr>
          <a:xfrm>
            <a:off x="685800" y="1764792"/>
            <a:ext cx="2852928" cy="484632"/>
          </a:xfrm>
          <a:prstGeom prst="rect">
            <a:avLst/>
          </a:prstGeom>
          <a:noFill/>
        </p:spPr>
        <p:txBody>
          <a:bodyPr wrap="square" lIns="9144" rIns="9144" tIns="9144" bIns="9144" anchor="ctr">
            <a:spAutoFit/>
          </a:bodyPr>
          <a:lstStyle/>
          <a:p>
            <a:pPr algn="l">
              <a:spcBef>
                <a:spcPts val="0"/>
              </a:spcBef>
              <a:spcAft>
                <a:spcPts val="0"/>
              </a:spcAft>
              <a:defRPr sz="1600" b="1">
                <a:solidFill>
                  <a:srgbClr val="1F3042"/>
                </a:solidFill>
                <a:latin typeface="Arial"/>
              </a:defRPr>
            </a:pPr>
            <a:r>
              <a:t>11.175.629 dòng log</a:t>
            </a:r>
          </a:p>
          <a:p>
            <a:pPr algn="l">
              <a:spcBef>
                <a:spcPts val="0"/>
              </a:spcBef>
              <a:spcAft>
                <a:spcPts val="0"/>
              </a:spcAft>
              <a:defRPr sz="1600" b="1">
                <a:solidFill>
                  <a:srgbClr val="1F3042"/>
                </a:solidFill>
                <a:latin typeface="Arial"/>
              </a:defRPr>
            </a:pPr>
            <a:r>
              <a:t>575.061 phiên khối</a:t>
            </a:r>
          </a:p>
        </p:txBody>
      </p:sp>
      <p:sp>
        <p:nvSpPr>
          <p:cNvPr id="10" name="Rounded Rectangle 9"/>
          <p:cNvSpPr/>
          <p:nvPr/>
        </p:nvSpPr>
        <p:spPr>
          <a:xfrm>
            <a:off x="4005072" y="1344168"/>
            <a:ext cx="3383280" cy="1078992"/>
          </a:xfrm>
          <a:prstGeom prst="roundRect">
            <a:avLst>
              <a:gd name="adj" fmla="val 8000"/>
            </a:avLst>
          </a:prstGeom>
          <a:solidFill>
            <a:srgbClr val="EF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4178808" y="1481328"/>
            <a:ext cx="2926080"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CHỌN THEO THỜI GIAN</a:t>
            </a:r>
          </a:p>
        </p:txBody>
      </p:sp>
      <p:sp>
        <p:nvSpPr>
          <p:cNvPr id="12" name="TextBox 11"/>
          <p:cNvSpPr txBox="1"/>
          <p:nvPr/>
        </p:nvSpPr>
        <p:spPr>
          <a:xfrm>
            <a:off x="4178808" y="1764792"/>
            <a:ext cx="2926080" cy="484632"/>
          </a:xfrm>
          <a:prstGeom prst="rect">
            <a:avLst/>
          </a:prstGeom>
          <a:noFill/>
        </p:spPr>
        <p:txBody>
          <a:bodyPr wrap="square" lIns="9144" rIns="9144" tIns="9144" bIns="9144" anchor="ctr">
            <a:spAutoFit/>
          </a:bodyPr>
          <a:lstStyle/>
          <a:p>
            <a:pPr algn="l">
              <a:spcBef>
                <a:spcPts val="0"/>
              </a:spcBef>
              <a:spcAft>
                <a:spcPts val="0"/>
              </a:spcAft>
              <a:defRPr sz="1600" b="1">
                <a:solidFill>
                  <a:srgbClr val="1F3042"/>
                </a:solidFill>
                <a:latin typeface="Arial"/>
              </a:defRPr>
            </a:pPr>
            <a:r>
              <a:t>35.000 Train  →  7.500 Val</a:t>
            </a:r>
          </a:p>
          <a:p>
            <a:pPr algn="l">
              <a:spcBef>
                <a:spcPts val="0"/>
              </a:spcBef>
              <a:spcAft>
                <a:spcPts val="0"/>
              </a:spcAft>
              <a:defRPr sz="1600" b="1">
                <a:solidFill>
                  <a:srgbClr val="1F3042"/>
                </a:solidFill>
                <a:latin typeface="Arial"/>
              </a:defRPr>
            </a:pPr>
            <a:r>
              <a:t>không trùng phiên</a:t>
            </a:r>
          </a:p>
        </p:txBody>
      </p:sp>
      <p:sp>
        <p:nvSpPr>
          <p:cNvPr id="13" name="Rounded Rectangle 12"/>
          <p:cNvSpPr/>
          <p:nvPr/>
        </p:nvSpPr>
        <p:spPr>
          <a:xfrm>
            <a:off x="7635240" y="1344168"/>
            <a:ext cx="4032504" cy="1078992"/>
          </a:xfrm>
          <a:prstGeom prst="roundRect">
            <a:avLst>
              <a:gd name="adj" fmla="val 8000"/>
            </a:avLst>
          </a:prstGeom>
          <a:solidFill>
            <a:srgbClr val="EF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7808975" y="1481328"/>
            <a:ext cx="3383280"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TEST ĐƯỢC GIỮ RIÊNG</a:t>
            </a:r>
          </a:p>
        </p:txBody>
      </p:sp>
      <p:sp>
        <p:nvSpPr>
          <p:cNvPr id="15" name="TextBox 14"/>
          <p:cNvSpPr txBox="1"/>
          <p:nvPr/>
        </p:nvSpPr>
        <p:spPr>
          <a:xfrm>
            <a:off x="7808975" y="1764792"/>
            <a:ext cx="3611880" cy="484632"/>
          </a:xfrm>
          <a:prstGeom prst="rect">
            <a:avLst/>
          </a:prstGeom>
          <a:noFill/>
        </p:spPr>
        <p:txBody>
          <a:bodyPr wrap="square" lIns="9144" rIns="9144" tIns="9144" bIns="9144" anchor="ctr">
            <a:spAutoFit/>
          </a:bodyPr>
          <a:lstStyle/>
          <a:p>
            <a:pPr algn="l">
              <a:spcBef>
                <a:spcPts val="0"/>
              </a:spcBef>
              <a:spcAft>
                <a:spcPts val="0"/>
              </a:spcAft>
              <a:defRPr sz="1530" b="1">
                <a:solidFill>
                  <a:srgbClr val="1F3042"/>
                </a:solidFill>
                <a:latin typeface="Arial"/>
              </a:defRPr>
            </a:pPr>
            <a:r>
              <a:t>SEALED trong manifest</a:t>
            </a:r>
          </a:p>
          <a:p>
            <a:pPr algn="l">
              <a:spcBef>
                <a:spcPts val="0"/>
              </a:spcBef>
              <a:spcAft>
                <a:spcPts val="0"/>
              </a:spcAft>
              <a:defRPr sz="1530" b="1">
                <a:solidFill>
                  <a:srgbClr val="1F3042"/>
                </a:solidFill>
                <a:latin typeface="Arial"/>
              </a:defRPr>
            </a:pPr>
            <a:r>
              <a:t>0 bản ghi Test được vật hóa</a:t>
            </a:r>
          </a:p>
        </p:txBody>
      </p:sp>
      <p:sp>
        <p:nvSpPr>
          <p:cNvPr id="16" name="Rounded Rectangle 15"/>
          <p:cNvSpPr/>
          <p:nvPr/>
        </p:nvSpPr>
        <p:spPr>
          <a:xfrm>
            <a:off x="512064" y="2679192"/>
            <a:ext cx="6876288" cy="3246120"/>
          </a:xfrm>
          <a:prstGeom prst="roundRect">
            <a:avLst>
              <a:gd name="adj" fmla="val 8000"/>
            </a:avLst>
          </a:prstGeom>
          <a:solidFill>
            <a:srgbClr val="FFFFFF"/>
          </a:solidFill>
          <a:ln>
            <a:solidFill>
              <a:srgbClr val="D6E1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694944" y="2852928"/>
            <a:ext cx="6309360"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THUẬT TOÁN CHIA VÀ KIỂM SOÁT</a:t>
            </a:r>
          </a:p>
        </p:txBody>
      </p:sp>
      <p:sp>
        <p:nvSpPr>
          <p:cNvPr id="18" name="TextBox 17"/>
          <p:cNvSpPr txBox="1"/>
          <p:nvPr/>
        </p:nvSpPr>
        <p:spPr>
          <a:xfrm>
            <a:off x="694944" y="3182112"/>
            <a:ext cx="6355080" cy="2359152"/>
          </a:xfrm>
          <a:prstGeom prst="rect">
            <a:avLst/>
          </a:prstGeom>
          <a:noFill/>
        </p:spPr>
        <p:txBody>
          <a:bodyPr wrap="square" lIns="9144" rIns="9144" tIns="9144" bIns="9144" anchor="ctr">
            <a:spAutoFit/>
          </a:bodyPr>
          <a:lstStyle/>
          <a:p>
            <a:pPr algn="l">
              <a:spcBef>
                <a:spcPts val="0"/>
              </a:spcBef>
              <a:spcAft>
                <a:spcPts val="0"/>
              </a:spcAft>
              <a:defRPr sz="1420" b="0">
                <a:solidFill>
                  <a:srgbClr val="1F3042"/>
                </a:solidFill>
                <a:latin typeface="Arial"/>
              </a:defRPr>
            </a:pPr>
            <a:r>
              <a:t>1  Gom log theo BlockId thành phiên; sắp theo thời điểm bắt đầu.</a:t>
            </a:r>
          </a:p>
          <a:p>
            <a:pPr algn="l">
              <a:spcBef>
                <a:spcPts val="0"/>
              </a:spcBef>
              <a:spcAft>
                <a:spcPts val="0"/>
              </a:spcAft>
              <a:defRPr sz="1420" b="0">
                <a:solidFill>
                  <a:srgbClr val="1F3042"/>
                </a:solidFill>
                <a:latin typeface="Arial"/>
              </a:defRPr>
            </a:pPr>
            <a:r>
              <a:t>2  Loại 45.406 phiên bắc Train/Val và 36.057 phiên bắc Val/Test.</a:t>
            </a:r>
          </a:p>
          <a:p>
            <a:pPr algn="l">
              <a:spcBef>
                <a:spcPts val="0"/>
              </a:spcBef>
              <a:spcAft>
                <a:spcPts val="0"/>
              </a:spcAft>
              <a:defRPr sz="1420" b="0">
                <a:solidFill>
                  <a:srgbClr val="1F3042"/>
                </a:solidFill>
                <a:latin typeface="Arial"/>
              </a:defRPr>
            </a:pPr>
            <a:r>
              <a:t>3  Chọn ngân sách phiên sớm nhất: 35.000 / 7.500.</a:t>
            </a:r>
          </a:p>
          <a:p>
            <a:pPr algn="l">
              <a:spcBef>
                <a:spcPts val="0"/>
              </a:spcBef>
              <a:spcAft>
                <a:spcPts val="0"/>
              </a:spcAft>
              <a:defRPr sz="1420" b="0">
                <a:solidFill>
                  <a:srgbClr val="1F3042"/>
                </a:solidFill>
                <a:latin typeface="Arial"/>
              </a:defRPr>
            </a:pPr>
            <a:r>
              <a:t>4  Khớp từ vựng trên Train; lưu split hash và selection hash.</a:t>
            </a:r>
          </a:p>
          <a:p>
            <a:pPr algn="l">
              <a:spcBef>
                <a:spcPts val="0"/>
              </a:spcBef>
              <a:spcAft>
                <a:spcPts val="0"/>
              </a:spcAft>
              <a:defRPr sz="1420" b="0">
                <a:solidFill>
                  <a:srgbClr val="1F3042"/>
                </a:solidFill>
                <a:latin typeface="Arial"/>
              </a:defRPr>
            </a:pPr>
            <a:r>
              <a:t>5  Cửa sổ W=256: Train 2.292; Val 467.</a:t>
            </a:r>
          </a:p>
          <a:p>
            <a:pPr algn="l">
              <a:spcBef>
                <a:spcPts val="0"/>
              </a:spcBef>
              <a:spcAft>
                <a:spcPts val="0"/>
              </a:spcAft>
              <a:defRPr sz="1420" b="0">
                <a:solidFill>
                  <a:srgbClr val="1F3042"/>
                </a:solidFill>
                <a:latin typeface="Arial"/>
              </a:defRPr>
            </a:pPr>
            <a:r>
              <a:t>6  V3 dùng 100% tập Val đã chọn; không báo cáo điểm Test.</a:t>
            </a:r>
          </a:p>
        </p:txBody>
      </p:sp>
      <p:sp>
        <p:nvSpPr>
          <p:cNvPr id="19" name="Rounded Rectangle 18"/>
          <p:cNvSpPr/>
          <p:nvPr/>
        </p:nvSpPr>
        <p:spPr>
          <a:xfrm>
            <a:off x="7635240" y="2679192"/>
            <a:ext cx="4032504" cy="3246120"/>
          </a:xfrm>
          <a:prstGeom prst="roundRect">
            <a:avLst>
              <a:gd name="adj" fmla="val 8000"/>
            </a:avLst>
          </a:prstGeom>
          <a:solidFill>
            <a:srgbClr val="FCFAF5"/>
          </a:solidFill>
          <a:ln>
            <a:solidFill>
              <a:srgbClr val="D6E1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7808975" y="2852928"/>
            <a:ext cx="3611880"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MỞ TRONG VS CODE</a:t>
            </a:r>
          </a:p>
        </p:txBody>
      </p:sp>
      <p:sp>
        <p:nvSpPr>
          <p:cNvPr id="21" name="TextBox 20"/>
          <p:cNvSpPr txBox="1"/>
          <p:nvPr/>
        </p:nvSpPr>
        <p:spPr>
          <a:xfrm>
            <a:off x="7808975" y="3218688"/>
            <a:ext cx="3639312" cy="2404872"/>
          </a:xfrm>
          <a:prstGeom prst="rect">
            <a:avLst/>
          </a:prstGeom>
          <a:noFill/>
        </p:spPr>
        <p:txBody>
          <a:bodyPr wrap="square" lIns="9144" rIns="9144" tIns="9144" bIns="9144" anchor="ctr">
            <a:spAutoFit/>
          </a:bodyPr>
          <a:lstStyle/>
          <a:p>
            <a:pPr algn="l">
              <a:spcBef>
                <a:spcPts val="0"/>
              </a:spcBef>
              <a:spcAft>
                <a:spcPts val="0"/>
              </a:spcAft>
              <a:defRPr sz="1250" b="0">
                <a:solidFill>
                  <a:srgbClr val="1F3042"/>
                </a:solidFill>
                <a:latin typeface="Consolas"/>
              </a:defRPr>
            </a:pPr>
            <a:r>
              <a:t>datasets/manifests/</a:t>
            </a:r>
          </a:p>
          <a:p>
            <a:pPr algn="l">
              <a:spcBef>
                <a:spcPts val="0"/>
              </a:spcBef>
              <a:spcAft>
                <a:spcPts val="0"/>
              </a:spcAft>
              <a:defRPr sz="1250" b="0">
                <a:solidFill>
                  <a:srgbClr val="1F3042"/>
                </a:solidFill>
                <a:latin typeface="Consolas"/>
              </a:defRPr>
            </a:pPr>
            <a:r>
              <a:t>SPL-HDFS-001.json</a:t>
            </a:r>
          </a:p>
          <a:p>
            <a:pPr algn="l">
              <a:spcBef>
                <a:spcPts val="0"/>
              </a:spcBef>
              <a:spcAft>
                <a:spcPts val="0"/>
              </a:spcAft>
              <a:defRPr sz="1250" b="0">
                <a:solidFill>
                  <a:srgbClr val="1F3042"/>
                </a:solidFill>
                <a:latin typeface="Consolas"/>
              </a:defRPr>
            </a:pPr>
          </a:p>
          <a:p>
            <a:pPr algn="l">
              <a:spcBef>
                <a:spcPts val="0"/>
              </a:spcBef>
              <a:spcAft>
                <a:spcPts val="0"/>
              </a:spcAft>
              <a:defRPr sz="1250" b="0">
                <a:solidFill>
                  <a:srgbClr val="1F3042"/>
                </a:solidFill>
                <a:latin typeface="Consolas"/>
              </a:defRPr>
            </a:pPr>
            <a:r>
              <a:t>SUBSET-MANIFEST-HDFS.json</a:t>
            </a:r>
          </a:p>
          <a:p>
            <a:pPr algn="l">
              <a:spcBef>
                <a:spcPts val="0"/>
              </a:spcBef>
              <a:spcAft>
                <a:spcPts val="0"/>
              </a:spcAft>
              <a:defRPr sz="1250" b="0">
                <a:solidFill>
                  <a:srgbClr val="1F3042"/>
                </a:solidFill>
                <a:latin typeface="Consolas"/>
              </a:defRPr>
            </a:pPr>
          </a:p>
          <a:p>
            <a:pPr algn="l">
              <a:spcBef>
                <a:spcPts val="0"/>
              </a:spcBef>
              <a:spcAft>
                <a:spcPts val="0"/>
              </a:spcAft>
              <a:defRPr sz="1250" b="0">
                <a:solidFill>
                  <a:srgbClr val="1F3042"/>
                </a:solidFill>
                <a:latin typeface="Consolas"/>
              </a:defRPr>
            </a:pPr>
            <a:r>
              <a:t>src/research_agent/experiments/</a:t>
            </a:r>
          </a:p>
          <a:p>
            <a:pPr algn="l">
              <a:spcBef>
                <a:spcPts val="0"/>
              </a:spcBef>
              <a:spcAft>
                <a:spcPts val="0"/>
              </a:spcAft>
              <a:defRPr sz="1250" b="0">
                <a:solidFill>
                  <a:srgbClr val="1F3042"/>
                </a:solidFill>
                <a:latin typeface="Consolas"/>
              </a:defRPr>
            </a:pPr>
            <a:r>
              <a:t>data/hdfs_split_authority.py</a:t>
            </a:r>
          </a:p>
        </p:txBody>
      </p:sp>
      <p:sp>
        <p:nvSpPr>
          <p:cNvPr id="22" name="TextBox 21"/>
          <p:cNvSpPr txBox="1"/>
          <p:nvPr/>
        </p:nvSpPr>
        <p:spPr>
          <a:xfrm>
            <a:off x="566928" y="6108192"/>
            <a:ext cx="11018520" cy="237744"/>
          </a:xfrm>
          <a:prstGeom prst="rect">
            <a:avLst/>
          </a:prstGeom>
          <a:noFill/>
        </p:spPr>
        <p:txBody>
          <a:bodyPr wrap="square" lIns="9144" rIns="9144" tIns="9144" bIns="9144" anchor="ctr">
            <a:spAutoFit/>
          </a:bodyPr>
          <a:lstStyle/>
          <a:p>
            <a:pPr algn="l">
              <a:spcBef>
                <a:spcPts val="0"/>
              </a:spcBef>
              <a:spcAft>
                <a:spcPts val="0"/>
              </a:spcAft>
              <a:defRPr sz="1200" b="1">
                <a:solidFill>
                  <a:srgbClr val="1E7475"/>
                </a:solidFill>
                <a:latin typeface="Arial"/>
              </a:defRPr>
            </a:pPr>
            <a:r>
              <a:t>Cách đọc: 11,18 triệu dòng là toàn ngữ liệu; 35.000/7.500 là số phiên dùng cho phép đánh giá V3.</a:t>
            </a:r>
          </a:p>
        </p:txBody>
      </p:sp>
    </p:spTree>
    <p:extLst>
      <p:ext uri="{BB962C8B-B14F-4D97-AF65-F5344CB8AC3E}">
        <p14:creationId xmlns:p14="http://schemas.microsoft.com/office/powerpoint/2010/main" val="3091045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19456"/>
            <a:ext cx="11064240" cy="429768"/>
          </a:xfrm>
          <a:prstGeom prst="rect">
            <a:avLst/>
          </a:prstGeom>
          <a:noFill/>
        </p:spPr>
        <p:txBody>
          <a:bodyPr wrap="square" lIns="9144" rIns="9144" tIns="9144" bIns="9144" anchor="ctr">
            <a:spAutoFit/>
          </a:bodyPr>
          <a:lstStyle/>
          <a:p>
            <a:pPr algn="l">
              <a:spcBef>
                <a:spcPts val="0"/>
              </a:spcBef>
              <a:spcAft>
                <a:spcPts val="0"/>
              </a:spcAft>
              <a:defRPr sz="2600" b="1">
                <a:solidFill>
                  <a:srgbClr val="1F3042"/>
                </a:solidFill>
                <a:latin typeface="Arial"/>
              </a:defRPr>
            </a:pPr>
            <a:r>
              <a:t>Stage A2: hàm mất mát và điều kiện chạy</a:t>
            </a:r>
          </a:p>
        </p:txBody>
      </p:sp>
      <p:sp>
        <p:nvSpPr>
          <p:cNvPr id="3" name="TextBox 2"/>
          <p:cNvSpPr txBox="1"/>
          <p:nvPr/>
        </p:nvSpPr>
        <p:spPr>
          <a:xfrm>
            <a:off x="521207" y="731520"/>
            <a:ext cx="11064240" cy="256032"/>
          </a:xfrm>
          <a:prstGeom prst="rect">
            <a:avLst/>
          </a:prstGeom>
          <a:noFill/>
        </p:spPr>
        <p:txBody>
          <a:bodyPr wrap="square" lIns="9144" rIns="9144" tIns="9144" bIns="9144" anchor="ctr">
            <a:spAutoFit/>
          </a:bodyPr>
          <a:lstStyle/>
          <a:p>
            <a:pPr algn="l">
              <a:spcBef>
                <a:spcPts val="0"/>
              </a:spcBef>
              <a:spcAft>
                <a:spcPts val="0"/>
              </a:spcAft>
              <a:defRPr sz="1300" b="0">
                <a:solidFill>
                  <a:srgbClr val="5E6970"/>
                </a:solidFill>
                <a:latin typeface="Arial"/>
              </a:defRPr>
            </a:pPr>
            <a:r>
              <a:t>Mục tiêu học tự giám sát được tính trong mã; loss không phải AP phát hiện</a:t>
            </a:r>
          </a:p>
        </p:txBody>
      </p:sp>
      <p:sp>
        <p:nvSpPr>
          <p:cNvPr id="4" name="Rectangle 3"/>
          <p:cNvSpPr/>
          <p:nvPr/>
        </p:nvSpPr>
        <p:spPr>
          <a:xfrm>
            <a:off x="512064" y="1097280"/>
            <a:ext cx="11155680" cy="16459"/>
          </a:xfrm>
          <a:prstGeom prst="rect">
            <a:avLst/>
          </a:prstGeom>
          <a:solidFill>
            <a:srgbClr val="1E7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6437376"/>
            <a:ext cx="10378440" cy="173736"/>
          </a:xfrm>
          <a:prstGeom prst="rect">
            <a:avLst/>
          </a:prstGeom>
          <a:noFill/>
        </p:spPr>
        <p:txBody>
          <a:bodyPr wrap="square" lIns="9144" rIns="9144" tIns="9144" bIns="9144" anchor="ctr">
            <a:spAutoFit/>
          </a:bodyPr>
          <a:lstStyle/>
          <a:p>
            <a:pPr algn="l">
              <a:spcBef>
                <a:spcPts val="0"/>
              </a:spcBef>
              <a:spcAft>
                <a:spcPts val="0"/>
              </a:spcAft>
              <a:defRPr sz="919" b="0">
                <a:solidFill>
                  <a:srgbClr val="5E6970"/>
                </a:solidFill>
                <a:latin typeface="Arial"/>
              </a:defRPr>
            </a:pPr>
            <a:r>
              <a:t>Word: Mục 3.1.3, Bảng 3.3–3.4  ·  src/research_agent/experiments/training/stage_a2_trainer.py</a:t>
            </a:r>
          </a:p>
        </p:txBody>
      </p:sp>
      <p:sp>
        <p:nvSpPr>
          <p:cNvPr id="6" name="TextBox 5"/>
          <p:cNvSpPr txBox="1"/>
          <p:nvPr/>
        </p:nvSpPr>
        <p:spPr>
          <a:xfrm>
            <a:off x="10881360" y="6437376"/>
            <a:ext cx="758952" cy="173736"/>
          </a:xfrm>
          <a:prstGeom prst="rect">
            <a:avLst/>
          </a:prstGeom>
          <a:noFill/>
        </p:spPr>
        <p:txBody>
          <a:bodyPr wrap="square" lIns="9144" rIns="9144" tIns="9144" bIns="9144" anchor="ctr">
            <a:spAutoFit/>
          </a:bodyPr>
          <a:lstStyle/>
          <a:p>
            <a:pPr algn="r">
              <a:spcBef>
                <a:spcPts val="0"/>
              </a:spcBef>
              <a:spcAft>
                <a:spcPts val="0"/>
              </a:spcAft>
              <a:defRPr sz="919" b="1">
                <a:solidFill>
                  <a:srgbClr val="5E6970"/>
                </a:solidFill>
                <a:latin typeface="Arial"/>
              </a:defRPr>
            </a:pPr>
            <a:r>
              <a:t>06 / 10</a:t>
            </a:r>
          </a:p>
        </p:txBody>
      </p:sp>
      <p:sp>
        <p:nvSpPr>
          <p:cNvPr id="7" name="Rounded Rectangle 6"/>
          <p:cNvSpPr/>
          <p:nvPr/>
        </p:nvSpPr>
        <p:spPr>
          <a:xfrm>
            <a:off x="512064" y="1325880"/>
            <a:ext cx="4599432" cy="1152144"/>
          </a:xfrm>
          <a:prstGeom prst="roundRect">
            <a:avLst>
              <a:gd name="adj" fmla="val 8000"/>
            </a:avLst>
          </a:prstGeom>
          <a:solidFill>
            <a:srgbClr val="EF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63040"/>
            <a:ext cx="4114800"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CÔNG THỨC TRIỂN KHAI</a:t>
            </a:r>
          </a:p>
        </p:txBody>
      </p:sp>
      <p:sp>
        <p:nvSpPr>
          <p:cNvPr id="9" name="TextBox 8"/>
          <p:cNvSpPr txBox="1"/>
          <p:nvPr/>
        </p:nvSpPr>
        <p:spPr>
          <a:xfrm>
            <a:off x="704088" y="1764792"/>
            <a:ext cx="4187952" cy="411480"/>
          </a:xfrm>
          <a:prstGeom prst="rect">
            <a:avLst/>
          </a:prstGeom>
          <a:noFill/>
        </p:spPr>
        <p:txBody>
          <a:bodyPr wrap="square" lIns="9144" rIns="9144" tIns="9144" bIns="9144" anchor="ctr">
            <a:spAutoFit/>
          </a:bodyPr>
          <a:lstStyle/>
          <a:p>
            <a:pPr algn="l">
              <a:spcBef>
                <a:spcPts val="0"/>
              </a:spcBef>
              <a:spcAft>
                <a:spcPts val="0"/>
              </a:spcAft>
              <a:defRPr sz="1800" b="1">
                <a:solidFill>
                  <a:srgbClr val="1F3042"/>
                </a:solidFill>
                <a:latin typeface="Arial"/>
              </a:defRPr>
            </a:pPr>
            <a:r>
              <a:t>L_graph = L_rel + L_node + 0,1 L_time</a:t>
            </a:r>
          </a:p>
        </p:txBody>
      </p:sp>
      <p:sp>
        <p:nvSpPr>
          <p:cNvPr id="10" name="TextBox 9"/>
          <p:cNvSpPr txBox="1"/>
          <p:nvPr/>
        </p:nvSpPr>
        <p:spPr>
          <a:xfrm>
            <a:off x="704088" y="2185416"/>
            <a:ext cx="4160520" cy="173736"/>
          </a:xfrm>
          <a:prstGeom prst="rect">
            <a:avLst/>
          </a:prstGeom>
          <a:noFill/>
        </p:spPr>
        <p:txBody>
          <a:bodyPr wrap="square" lIns="9144" rIns="9144" tIns="9144" bIns="9144" anchor="ctr">
            <a:spAutoFit/>
          </a:bodyPr>
          <a:lstStyle/>
          <a:p>
            <a:pPr algn="l">
              <a:spcBef>
                <a:spcPts val="0"/>
              </a:spcBef>
              <a:spcAft>
                <a:spcPts val="0"/>
              </a:spcAft>
              <a:defRPr sz="1080" b="0">
                <a:solidFill>
                  <a:srgbClr val="5E6970"/>
                </a:solidFill>
                <a:latin typeface="Arial"/>
              </a:defRPr>
            </a:pPr>
            <a:r>
              <a:t>Ba số hạng được chuẩn hóa theo số mục tiêu hợp lệ.</a:t>
            </a:r>
          </a:p>
        </p:txBody>
      </p:sp>
      <p:sp>
        <p:nvSpPr>
          <p:cNvPr id="11" name="Rounded Rectangle 10"/>
          <p:cNvSpPr/>
          <p:nvPr/>
        </p:nvSpPr>
        <p:spPr>
          <a:xfrm>
            <a:off x="512064" y="2660904"/>
            <a:ext cx="4599432" cy="2103120"/>
          </a:xfrm>
          <a:prstGeom prst="roundRect">
            <a:avLst>
              <a:gd name="adj" fmla="val 8000"/>
            </a:avLst>
          </a:prstGeom>
          <a:solidFill>
            <a:srgbClr val="FCFAF5"/>
          </a:solidFill>
          <a:ln>
            <a:solidFill>
              <a:srgbClr val="D6E1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1792" y="2706624"/>
            <a:ext cx="4379976" cy="2011679"/>
          </a:xfrm>
          <a:prstGeom prst="rect">
            <a:avLst/>
          </a:prstGeom>
          <a:noFill/>
        </p:spPr>
        <p:txBody>
          <a:bodyPr wrap="square" lIns="9144" rIns="9144" tIns="9144" bIns="9144" anchor="ctr">
            <a:spAutoFit/>
          </a:bodyPr>
          <a:lstStyle/>
          <a:p>
            <a:pPr algn="l">
              <a:spcBef>
                <a:spcPts val="0"/>
              </a:spcBef>
              <a:spcAft>
                <a:spcPts val="0"/>
              </a:spcAft>
              <a:defRPr sz="1120" b="0">
                <a:solidFill>
                  <a:srgbClr val="1F3042"/>
                </a:solidFill>
                <a:latin typeface="Consolas"/>
              </a:defRPr>
            </a:pPr>
            <a:r>
              <a:t>L_graph_group = 1.0 * L_rel_group</a:t>
            </a:r>
          </a:p>
          <a:p>
            <a:pPr algn="l">
              <a:spcBef>
                <a:spcPts val="0"/>
              </a:spcBef>
              <a:spcAft>
                <a:spcPts val="0"/>
              </a:spcAft>
              <a:defRPr sz="1120" b="0">
                <a:solidFill>
                  <a:srgbClr val="1F3042"/>
                </a:solidFill>
                <a:latin typeface="Consolas"/>
              </a:defRPr>
            </a:pPr>
            <a:r>
              <a:t>              + 1.0 * L_node_group</a:t>
            </a:r>
          </a:p>
          <a:p>
            <a:pPr algn="l">
              <a:spcBef>
                <a:spcPts val="0"/>
              </a:spcBef>
              <a:spcAft>
                <a:spcPts val="0"/>
              </a:spcAft>
              <a:defRPr sz="1120" b="0">
                <a:solidFill>
                  <a:srgbClr val="1F3042"/>
                </a:solidFill>
                <a:latin typeface="Consolas"/>
              </a:defRPr>
            </a:pPr>
            <a:r>
              <a:t>              + 0.1 * L_time_group</a:t>
            </a:r>
          </a:p>
          <a:p>
            <a:pPr algn="l">
              <a:spcBef>
                <a:spcPts val="0"/>
              </a:spcBef>
              <a:spcAft>
                <a:spcPts val="0"/>
              </a:spcAft>
              <a:defRPr sz="1120" b="0">
                <a:solidFill>
                  <a:srgbClr val="1F3042"/>
                </a:solidFill>
                <a:latin typeface="Consolas"/>
              </a:defRPr>
            </a:pPr>
            <a:r>
              <a:t>if is_training:</a:t>
            </a:r>
          </a:p>
          <a:p>
            <a:pPr algn="l">
              <a:spcBef>
                <a:spcPts val="0"/>
              </a:spcBef>
              <a:spcAft>
                <a:spcPts val="0"/>
              </a:spcAft>
              <a:defRPr sz="1120" b="0">
                <a:solidFill>
                  <a:srgbClr val="1F3042"/>
                </a:solidFill>
                <a:latin typeface="Consolas"/>
              </a:defRPr>
            </a:pPr>
            <a:r>
              <a:t>    L_graph_group.backward()</a:t>
            </a:r>
          </a:p>
          <a:p>
            <a:pPr algn="l">
              <a:spcBef>
                <a:spcPts val="0"/>
              </a:spcBef>
              <a:spcAft>
                <a:spcPts val="0"/>
              </a:spcAft>
              <a:defRPr sz="1120" b="0">
                <a:solidFill>
                  <a:srgbClr val="1F3042"/>
                </a:solidFill>
                <a:latin typeface="Consolas"/>
              </a:defRPr>
            </a:pPr>
            <a:r>
              <a:t>    ...  # kiểm tra; clip nếu bật</a:t>
            </a:r>
          </a:p>
          <a:p>
            <a:pPr algn="l">
              <a:spcBef>
                <a:spcPts val="0"/>
              </a:spcBef>
              <a:spcAft>
                <a:spcPts val="0"/>
              </a:spcAft>
              <a:defRPr sz="1120" b="0">
                <a:solidFill>
                  <a:srgbClr val="1F3042"/>
                </a:solidFill>
                <a:latin typeface="Consolas"/>
              </a:defRPr>
            </a:pPr>
            <a:r>
              <a:t>    self.optimizer.step()</a:t>
            </a:r>
          </a:p>
        </p:txBody>
      </p:sp>
      <p:sp>
        <p:nvSpPr>
          <p:cNvPr id="13" name="TextBox 12"/>
          <p:cNvSpPr txBox="1"/>
          <p:nvPr/>
        </p:nvSpPr>
        <p:spPr>
          <a:xfrm>
            <a:off x="630936" y="4855464"/>
            <a:ext cx="4462272" cy="502920"/>
          </a:xfrm>
          <a:prstGeom prst="rect">
            <a:avLst/>
          </a:prstGeom>
          <a:noFill/>
        </p:spPr>
        <p:txBody>
          <a:bodyPr wrap="square" lIns="9144" rIns="9144" tIns="9144" bIns="9144" anchor="ctr">
            <a:spAutoFit/>
          </a:bodyPr>
          <a:lstStyle/>
          <a:p>
            <a:pPr algn="l">
              <a:spcBef>
                <a:spcPts val="0"/>
              </a:spcBef>
              <a:spcAft>
                <a:spcPts val="0"/>
              </a:spcAft>
              <a:defRPr sz="1140" b="0">
                <a:solidFill>
                  <a:srgbClr val="5E6970"/>
                </a:solidFill>
                <a:latin typeface="Consolas"/>
              </a:defRPr>
            </a:pPr>
            <a:r>
              <a:t>Mã: stage_a2_trainer.py:261–286</a:t>
            </a:r>
          </a:p>
          <a:p>
            <a:pPr algn="l">
              <a:spcBef>
                <a:spcPts val="0"/>
              </a:spcBef>
              <a:spcAft>
                <a:spcPts val="0"/>
              </a:spcAft>
              <a:defRPr sz="1140" b="0">
                <a:solidFill>
                  <a:srgbClr val="5E6970"/>
                </a:solidFill>
                <a:latin typeface="Consolas"/>
              </a:defRPr>
            </a:pPr>
            <a:r>
              <a:t>Runner: scripts/run_nineplus_confirmatory.py</a:t>
            </a:r>
          </a:p>
        </p:txBody>
      </p:sp>
      <p:sp>
        <p:nvSpPr>
          <p:cNvPr id="14" name="TextBox 13"/>
          <p:cNvSpPr txBox="1"/>
          <p:nvPr/>
        </p:nvSpPr>
        <p:spPr>
          <a:xfrm>
            <a:off x="5394960" y="1371600"/>
            <a:ext cx="6035040"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NĂM LƯỢT CHẠY ĐƯỢC BÁO CÁO</a:t>
            </a:r>
          </a:p>
        </p:txBody>
      </p:sp>
      <p:graphicFrame>
        <p:nvGraphicFramePr>
          <p:cNvPr id="15" name="Table 14"/>
          <p:cNvGraphicFramePr>
            <a:graphicFrameLocks noGrp="1"/>
          </p:cNvGraphicFramePr>
          <p:nvPr/>
        </p:nvGraphicFramePr>
        <p:xfrm>
          <a:off x="5394960" y="1709928"/>
          <a:ext cx="6272784" cy="3383280"/>
        </p:xfrm>
        <a:graphic>
          <a:graphicData uri="http://schemas.openxmlformats.org/drawingml/2006/table">
            <a:tbl>
              <a:tblPr firstRow="1" bandRow="1">
                <a:tableStyleId>{5C22544A-7EE6-4342-B048-85BDC9FD1C3A}</a:tableStyleId>
              </a:tblPr>
              <a:tblGrid>
                <a:gridCol w="914400"/>
                <a:gridCol w="1444752"/>
                <a:gridCol w="3913632"/>
              </a:tblGrid>
              <a:tr h="563880">
                <a:tc>
                  <a:txBody>
                    <a:bodyPr/>
                    <a:lstStyle/>
                    <a:p>
                      <a:pPr algn="l">
                        <a:defRPr sz="1150" b="1">
                          <a:solidFill>
                            <a:srgbClr val="FFFFFF"/>
                          </a:solidFill>
                          <a:latin typeface="Arial"/>
                        </a:defRPr>
                      </a:pPr>
                      <a:r>
                        <a:t>Seed</a:t>
                      </a:r>
                    </a:p>
                  </a:txBody>
                  <a:tcPr marL="54864" marR="54864" marT="18288" marB="18288" anchor="ctr">
                    <a:solidFill>
                      <a:srgbClr val="1E7475"/>
                    </a:solidFill>
                  </a:tcPr>
                </a:tc>
                <a:tc>
                  <a:txBody>
                    <a:bodyPr/>
                    <a:lstStyle/>
                    <a:p>
                      <a:pPr algn="l">
                        <a:defRPr sz="1150" b="1">
                          <a:solidFill>
                            <a:srgbClr val="FFFFFF"/>
                          </a:solidFill>
                          <a:latin typeface="Arial"/>
                        </a:defRPr>
                      </a:pPr>
                      <a:r>
                        <a:t>Best Val loss</a:t>
                      </a:r>
                    </a:p>
                  </a:txBody>
                  <a:tcPr marL="54864" marR="54864" marT="18288" marB="18288" anchor="ctr">
                    <a:solidFill>
                      <a:srgbClr val="1E7475"/>
                    </a:solidFill>
                  </a:tcPr>
                </a:tc>
                <a:tc>
                  <a:txBody>
                    <a:bodyPr/>
                    <a:lstStyle/>
                    <a:p>
                      <a:pPr algn="l">
                        <a:defRPr sz="1150" b="1">
                          <a:solidFill>
                            <a:srgbClr val="FFFFFF"/>
                          </a:solidFill>
                          <a:latin typeface="Arial"/>
                        </a:defRPr>
                      </a:pPr>
                      <a:r>
                        <a:t>Sai khác thủ tục</a:t>
                      </a:r>
                    </a:p>
                  </a:txBody>
                  <a:tcPr marL="54864" marR="54864" marT="18288" marB="18288" anchor="ctr">
                    <a:solidFill>
                      <a:srgbClr val="1E7475"/>
                    </a:solidFill>
                  </a:tcPr>
                </a:tc>
              </a:tr>
              <a:tr h="563880">
                <a:tc>
                  <a:txBody>
                    <a:bodyPr/>
                    <a:lstStyle/>
                    <a:p>
                      <a:pPr algn="l">
                        <a:defRPr sz="1200" b="0">
                          <a:solidFill>
                            <a:srgbClr val="1F3042"/>
                          </a:solidFill>
                          <a:latin typeface="Arial"/>
                        </a:defRPr>
                      </a:pPr>
                      <a:r>
                        <a:t>999</a:t>
                      </a:r>
                    </a:p>
                  </a:txBody>
                  <a:tcPr marL="54864" marR="54864" marT="18288" marB="18288" anchor="ctr">
                    <a:solidFill>
                      <a:srgbClr val="EFF8F6"/>
                    </a:solidFill>
                  </a:tcPr>
                </a:tc>
                <a:tc>
                  <a:txBody>
                    <a:bodyPr/>
                    <a:lstStyle/>
                    <a:p>
                      <a:pPr algn="l">
                        <a:defRPr sz="1200" b="0">
                          <a:solidFill>
                            <a:srgbClr val="1F3042"/>
                          </a:solidFill>
                          <a:latin typeface="Arial"/>
                        </a:defRPr>
                      </a:pPr>
                      <a:r>
                        <a:t>0,609500</a:t>
                      </a:r>
                    </a:p>
                  </a:txBody>
                  <a:tcPr marL="54864" marR="54864" marT="18288" marB="18288" anchor="ctr">
                    <a:solidFill>
                      <a:srgbClr val="EFF8F6"/>
                    </a:solidFill>
                  </a:tcPr>
                </a:tc>
                <a:tc>
                  <a:txBody>
                    <a:bodyPr/>
                    <a:lstStyle/>
                    <a:p>
                      <a:pPr algn="l">
                        <a:defRPr sz="1160" b="0">
                          <a:solidFill>
                            <a:srgbClr val="1F3042"/>
                          </a:solidFill>
                          <a:latin typeface="Arial"/>
                        </a:defRPr>
                      </a:pPr>
                      <a:r>
                        <a:t>Warmup khác kế hoạch</a:t>
                      </a:r>
                    </a:p>
                  </a:txBody>
                  <a:tcPr marL="54864" marR="54864" marT="18288" marB="18288" anchor="ctr">
                    <a:solidFill>
                      <a:srgbClr val="EFF8F6"/>
                    </a:solidFill>
                  </a:tcPr>
                </a:tc>
              </a:tr>
              <a:tr h="563880">
                <a:tc>
                  <a:txBody>
                    <a:bodyPr/>
                    <a:lstStyle/>
                    <a:p>
                      <a:pPr algn="l">
                        <a:defRPr sz="1200" b="0">
                          <a:solidFill>
                            <a:srgbClr val="1F3042"/>
                          </a:solidFill>
                          <a:latin typeface="Arial"/>
                        </a:defRPr>
                      </a:pPr>
                      <a:r>
                        <a:t>42</a:t>
                      </a:r>
                    </a:p>
                  </a:txBody>
                  <a:tcPr marL="54864" marR="54864" marT="18288" marB="18288" anchor="ctr">
                    <a:solidFill>
                      <a:srgbClr val="FFFFFF"/>
                    </a:solidFill>
                  </a:tcPr>
                </a:tc>
                <a:tc>
                  <a:txBody>
                    <a:bodyPr/>
                    <a:lstStyle/>
                    <a:p>
                      <a:pPr algn="l">
                        <a:defRPr sz="1200" b="0">
                          <a:solidFill>
                            <a:srgbClr val="1F3042"/>
                          </a:solidFill>
                          <a:latin typeface="Arial"/>
                        </a:defRPr>
                      </a:pPr>
                      <a:r>
                        <a:t>6,081352</a:t>
                      </a:r>
                    </a:p>
                  </a:txBody>
                  <a:tcPr marL="54864" marR="54864" marT="18288" marB="18288" anchor="ctr">
                    <a:solidFill>
                      <a:srgbClr val="FFFFFF"/>
                    </a:solidFill>
                  </a:tcPr>
                </a:tc>
                <a:tc>
                  <a:txBody>
                    <a:bodyPr/>
                    <a:lstStyle/>
                    <a:p>
                      <a:pPr algn="l">
                        <a:defRPr sz="1160" b="0">
                          <a:solidFill>
                            <a:srgbClr val="1F3042"/>
                          </a:solidFill>
                          <a:latin typeface="Arial"/>
                        </a:defRPr>
                      </a:pPr>
                      <a:r>
                        <a:t>Lịch cũ; dừng ở epoch 4</a:t>
                      </a:r>
                    </a:p>
                  </a:txBody>
                  <a:tcPr marL="54864" marR="54864" marT="18288" marB="18288" anchor="ctr">
                    <a:solidFill>
                      <a:srgbClr val="FFFFFF"/>
                    </a:solidFill>
                  </a:tcPr>
                </a:tc>
              </a:tr>
              <a:tr h="563880">
                <a:tc>
                  <a:txBody>
                    <a:bodyPr/>
                    <a:lstStyle/>
                    <a:p>
                      <a:pPr algn="l">
                        <a:defRPr sz="1200" b="0">
                          <a:solidFill>
                            <a:srgbClr val="1F3042"/>
                          </a:solidFill>
                          <a:latin typeface="Arial"/>
                        </a:defRPr>
                      </a:pPr>
                      <a:r>
                        <a:t>7</a:t>
                      </a:r>
                    </a:p>
                  </a:txBody>
                  <a:tcPr marL="54864" marR="54864" marT="18288" marB="18288" anchor="ctr">
                    <a:solidFill>
                      <a:srgbClr val="EFF8F6"/>
                    </a:solidFill>
                  </a:tcPr>
                </a:tc>
                <a:tc>
                  <a:txBody>
                    <a:bodyPr/>
                    <a:lstStyle/>
                    <a:p>
                      <a:pPr algn="l">
                        <a:defRPr sz="1200" b="0">
                          <a:solidFill>
                            <a:srgbClr val="1F3042"/>
                          </a:solidFill>
                          <a:latin typeface="Arial"/>
                        </a:defRPr>
                      </a:pPr>
                      <a:r>
                        <a:t>0,550259</a:t>
                      </a:r>
                    </a:p>
                  </a:txBody>
                  <a:tcPr marL="54864" marR="54864" marT="18288" marB="18288" anchor="ctr">
                    <a:solidFill>
                      <a:srgbClr val="EFF8F6"/>
                    </a:solidFill>
                  </a:tcPr>
                </a:tc>
                <a:tc>
                  <a:txBody>
                    <a:bodyPr/>
                    <a:lstStyle/>
                    <a:p>
                      <a:pPr algn="l">
                        <a:defRPr sz="1160" b="0">
                          <a:solidFill>
                            <a:srgbClr val="1F3042"/>
                          </a:solidFill>
                          <a:latin typeface="Arial"/>
                        </a:defRPr>
                      </a:pPr>
                      <a:r>
                        <a:t>Authority commit sau khởi chạy</a:t>
                      </a:r>
                    </a:p>
                  </a:txBody>
                  <a:tcPr marL="54864" marR="54864" marT="18288" marB="18288" anchor="ctr">
                    <a:solidFill>
                      <a:srgbClr val="EFF8F6"/>
                    </a:solidFill>
                  </a:tcPr>
                </a:tc>
              </a:tr>
              <a:tr h="563880">
                <a:tc>
                  <a:txBody>
                    <a:bodyPr/>
                    <a:lstStyle/>
                    <a:p>
                      <a:pPr algn="l">
                        <a:defRPr sz="1200" b="0">
                          <a:solidFill>
                            <a:srgbClr val="1F3042"/>
                          </a:solidFill>
                          <a:latin typeface="Arial"/>
                        </a:defRPr>
                      </a:pPr>
                      <a:r>
                        <a:t>1337</a:t>
                      </a:r>
                    </a:p>
                  </a:txBody>
                  <a:tcPr marL="54864" marR="54864" marT="18288" marB="18288" anchor="ctr">
                    <a:solidFill>
                      <a:srgbClr val="FFFFFF"/>
                    </a:solidFill>
                  </a:tcPr>
                </a:tc>
                <a:tc>
                  <a:txBody>
                    <a:bodyPr/>
                    <a:lstStyle/>
                    <a:p>
                      <a:pPr algn="l">
                        <a:defRPr sz="1200" b="0">
                          <a:solidFill>
                            <a:srgbClr val="1F3042"/>
                          </a:solidFill>
                          <a:latin typeface="Arial"/>
                        </a:defRPr>
                      </a:pPr>
                      <a:r>
                        <a:t>0,917827</a:t>
                      </a:r>
                    </a:p>
                  </a:txBody>
                  <a:tcPr marL="54864" marR="54864" marT="18288" marB="18288" anchor="ctr">
                    <a:solidFill>
                      <a:srgbClr val="FFFFFF"/>
                    </a:solidFill>
                  </a:tcPr>
                </a:tc>
                <a:tc>
                  <a:txBody>
                    <a:bodyPr/>
                    <a:lstStyle/>
                    <a:p>
                      <a:pPr algn="l">
                        <a:defRPr sz="1160" b="0">
                          <a:solidFill>
                            <a:srgbClr val="1F3042"/>
                          </a:solidFill>
                          <a:latin typeface="Arial"/>
                        </a:defRPr>
                      </a:pPr>
                      <a:r>
                        <a:t>Thiếu hồ sơ thực thi</a:t>
                      </a:r>
                    </a:p>
                  </a:txBody>
                  <a:tcPr marL="54864" marR="54864" marT="18288" marB="18288" anchor="ctr">
                    <a:solidFill>
                      <a:srgbClr val="FFFFFF"/>
                    </a:solidFill>
                  </a:tcPr>
                </a:tc>
              </a:tr>
              <a:tr h="563880">
                <a:tc>
                  <a:txBody>
                    <a:bodyPr/>
                    <a:lstStyle/>
                    <a:p>
                      <a:pPr algn="l">
                        <a:defRPr sz="1200" b="0">
                          <a:solidFill>
                            <a:srgbClr val="1F3042"/>
                          </a:solidFill>
                          <a:latin typeface="Arial"/>
                        </a:defRPr>
                      </a:pPr>
                      <a:r>
                        <a:t>2024</a:t>
                      </a:r>
                    </a:p>
                  </a:txBody>
                  <a:tcPr marL="54864" marR="54864" marT="18288" marB="18288" anchor="ctr">
                    <a:solidFill>
                      <a:srgbClr val="EFF8F6"/>
                    </a:solidFill>
                  </a:tcPr>
                </a:tc>
                <a:tc>
                  <a:txBody>
                    <a:bodyPr/>
                    <a:lstStyle/>
                    <a:p>
                      <a:pPr algn="l">
                        <a:defRPr sz="1200" b="0">
                          <a:solidFill>
                            <a:srgbClr val="1F3042"/>
                          </a:solidFill>
                          <a:latin typeface="Arial"/>
                        </a:defRPr>
                      </a:pPr>
                      <a:r>
                        <a:t>0,553257</a:t>
                      </a:r>
                    </a:p>
                  </a:txBody>
                  <a:tcPr marL="54864" marR="54864" marT="18288" marB="18288" anchor="ctr">
                    <a:solidFill>
                      <a:srgbClr val="EFF8F6"/>
                    </a:solidFill>
                  </a:tcPr>
                </a:tc>
                <a:tc>
                  <a:txBody>
                    <a:bodyPr/>
                    <a:lstStyle/>
                    <a:p>
                      <a:pPr algn="l">
                        <a:defRPr sz="1160" b="0">
                          <a:solidFill>
                            <a:srgbClr val="1F3042"/>
                          </a:solidFill>
                          <a:latin typeface="Arial"/>
                        </a:defRPr>
                      </a:pPr>
                      <a:r>
                        <a:t>Lệch commit; đổi lịch học</a:t>
                      </a:r>
                    </a:p>
                  </a:txBody>
                  <a:tcPr marL="54864" marR="54864" marT="18288" marB="18288" anchor="ctr">
                    <a:solidFill>
                      <a:srgbClr val="EFF8F6"/>
                    </a:solidFill>
                  </a:tcPr>
                </a:tc>
              </a:tr>
            </a:tbl>
          </a:graphicData>
        </a:graphic>
      </p:graphicFrame>
      <p:sp>
        <p:nvSpPr>
          <p:cNvPr id="16" name="Rounded Rectangle 15"/>
          <p:cNvSpPr/>
          <p:nvPr/>
        </p:nvSpPr>
        <p:spPr>
          <a:xfrm>
            <a:off x="5394960" y="5276088"/>
            <a:ext cx="6272784" cy="685800"/>
          </a:xfrm>
          <a:prstGeom prst="roundRect">
            <a:avLst>
              <a:gd name="adj" fmla="val 8000"/>
            </a:avLst>
          </a:prstGeom>
          <a:solidFill>
            <a:srgbClr val="FCFAF5"/>
          </a:solidFill>
          <a:ln>
            <a:solidFill>
              <a:srgbClr val="D6E1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541264" y="5385816"/>
            <a:ext cx="5961888" cy="457200"/>
          </a:xfrm>
          <a:prstGeom prst="rect">
            <a:avLst/>
          </a:prstGeom>
          <a:noFill/>
        </p:spPr>
        <p:txBody>
          <a:bodyPr wrap="square" lIns="9144" rIns="9144" tIns="9144" bIns="9144" anchor="ctr">
            <a:spAutoFit/>
          </a:bodyPr>
          <a:lstStyle/>
          <a:p>
            <a:pPr algn="l">
              <a:spcBef>
                <a:spcPts val="0"/>
              </a:spcBef>
              <a:spcAft>
                <a:spcPts val="0"/>
              </a:spcAft>
              <a:defRPr sz="1250" b="1">
                <a:solidFill>
                  <a:srgbClr val="95463A"/>
                </a:solidFill>
                <a:latin typeface="Arial"/>
              </a:defRPr>
            </a:pPr>
            <a:r>
              <a:t>0/5 lượt đáp ứng đầy đủ giao thức chuẩn; không gộp thành 5 lần lặp đồng nhất.</a:t>
            </a:r>
          </a:p>
        </p:txBody>
      </p:sp>
      <p:sp>
        <p:nvSpPr>
          <p:cNvPr id="18" name="TextBox 17"/>
          <p:cNvSpPr txBox="1"/>
          <p:nvPr/>
        </p:nvSpPr>
        <p:spPr>
          <a:xfrm>
            <a:off x="566928" y="6108192"/>
            <a:ext cx="11018520" cy="237744"/>
          </a:xfrm>
          <a:prstGeom prst="rect">
            <a:avLst/>
          </a:prstGeom>
          <a:noFill/>
        </p:spPr>
        <p:txBody>
          <a:bodyPr wrap="square" lIns="9144" rIns="9144" tIns="9144" bIns="9144" anchor="ctr">
            <a:spAutoFit/>
          </a:bodyPr>
          <a:lstStyle/>
          <a:p>
            <a:pPr algn="l">
              <a:spcBef>
                <a:spcPts val="0"/>
              </a:spcBef>
              <a:spcAft>
                <a:spcPts val="0"/>
              </a:spcAft>
              <a:defRPr sz="1200" b="1">
                <a:solidFill>
                  <a:srgbClr val="1E7475"/>
                </a:solidFill>
                <a:latin typeface="Arial"/>
              </a:defRPr>
            </a:pPr>
            <a:r>
              <a:t>Trọng số 1 / 1 / 0,1 là hệ số tối ưu hóa, không phải tỷ lệ đóng góp vào AP.</a:t>
            </a:r>
          </a:p>
        </p:txBody>
      </p:sp>
    </p:spTree>
    <p:extLst>
      <p:ext uri="{BB962C8B-B14F-4D97-AF65-F5344CB8AC3E}">
        <p14:creationId xmlns:p14="http://schemas.microsoft.com/office/powerpoint/2010/main" val="1696171756"/>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19456"/>
            <a:ext cx="11064240" cy="429768"/>
          </a:xfrm>
          <a:prstGeom prst="rect">
            <a:avLst/>
          </a:prstGeom>
          <a:noFill/>
        </p:spPr>
        <p:txBody>
          <a:bodyPr wrap="square" lIns="9144" rIns="9144" tIns="9144" bIns="9144" anchor="ctr">
            <a:spAutoFit/>
          </a:bodyPr>
          <a:lstStyle/>
          <a:p>
            <a:pPr algn="l">
              <a:spcBef>
                <a:spcPts val="0"/>
              </a:spcBef>
              <a:spcAft>
                <a:spcPts val="0"/>
              </a:spcAft>
              <a:defRPr sz="2600" b="1">
                <a:solidFill>
                  <a:srgbClr val="1F3042"/>
                </a:solidFill>
                <a:latin typeface="Arial"/>
              </a:defRPr>
            </a:pPr>
            <a:r>
              <a:t>V3: thuật toán đánh giá và sáu hàng kết quả</a:t>
            </a:r>
          </a:p>
        </p:txBody>
      </p:sp>
      <p:sp>
        <p:nvSpPr>
          <p:cNvPr id="3" name="TextBox 2"/>
          <p:cNvSpPr txBox="1"/>
          <p:nvPr/>
        </p:nvSpPr>
        <p:spPr>
          <a:xfrm>
            <a:off x="521207" y="731520"/>
            <a:ext cx="11064240" cy="256032"/>
          </a:xfrm>
          <a:prstGeom prst="rect">
            <a:avLst/>
          </a:prstGeom>
          <a:noFill/>
        </p:spPr>
        <p:txBody>
          <a:bodyPr wrap="square" lIns="9144" rIns="9144" tIns="9144" bIns="9144" anchor="ctr">
            <a:spAutoFit/>
          </a:bodyPr>
          <a:lstStyle/>
          <a:p>
            <a:pPr algn="l">
              <a:spcBef>
                <a:spcPts val="0"/>
              </a:spcBef>
              <a:spcAft>
                <a:spcPts val="0"/>
              </a:spcAft>
              <a:defRPr sz="1300" b="0">
                <a:solidFill>
                  <a:srgbClr val="5E6970"/>
                </a:solidFill>
                <a:latin typeface="Arial"/>
              </a:defRPr>
            </a:pPr>
            <a:r>
              <a:t>Vector 128 chiều → đầu dò tuyến tính; chỉ đầu dò có bước cập nhật</a:t>
            </a:r>
          </a:p>
        </p:txBody>
      </p:sp>
      <p:sp>
        <p:nvSpPr>
          <p:cNvPr id="4" name="Rectangle 3"/>
          <p:cNvSpPr/>
          <p:nvPr/>
        </p:nvSpPr>
        <p:spPr>
          <a:xfrm>
            <a:off x="512064" y="1097280"/>
            <a:ext cx="11155680" cy="16459"/>
          </a:xfrm>
          <a:prstGeom prst="rect">
            <a:avLst/>
          </a:prstGeom>
          <a:solidFill>
            <a:srgbClr val="1E7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6437376"/>
            <a:ext cx="10378440" cy="173736"/>
          </a:xfrm>
          <a:prstGeom prst="rect">
            <a:avLst/>
          </a:prstGeom>
          <a:noFill/>
        </p:spPr>
        <p:txBody>
          <a:bodyPr wrap="square" lIns="9144" rIns="9144" tIns="9144" bIns="9144" anchor="ctr">
            <a:spAutoFit/>
          </a:bodyPr>
          <a:lstStyle/>
          <a:p>
            <a:pPr algn="l">
              <a:spcBef>
                <a:spcPts val="0"/>
              </a:spcBef>
              <a:spcAft>
                <a:spcPts val="0"/>
              </a:spcAft>
              <a:defRPr sz="919" b="0">
                <a:solidFill>
                  <a:srgbClr val="5E6970"/>
                </a:solidFill>
                <a:latin typeface="Arial"/>
              </a:defRPr>
            </a:pPr>
            <a:r>
              <a:t>Word: Mục 3.1.3, 3.2.2; Bảng 3.6  ·  scripts/evaluate_nineplus_v3.py</a:t>
            </a:r>
          </a:p>
        </p:txBody>
      </p:sp>
      <p:sp>
        <p:nvSpPr>
          <p:cNvPr id="6" name="TextBox 5"/>
          <p:cNvSpPr txBox="1"/>
          <p:nvPr/>
        </p:nvSpPr>
        <p:spPr>
          <a:xfrm>
            <a:off x="10881360" y="6437376"/>
            <a:ext cx="758952" cy="173736"/>
          </a:xfrm>
          <a:prstGeom prst="rect">
            <a:avLst/>
          </a:prstGeom>
          <a:noFill/>
        </p:spPr>
        <p:txBody>
          <a:bodyPr wrap="square" lIns="9144" rIns="9144" tIns="9144" bIns="9144" anchor="ctr">
            <a:spAutoFit/>
          </a:bodyPr>
          <a:lstStyle/>
          <a:p>
            <a:pPr algn="r">
              <a:spcBef>
                <a:spcPts val="0"/>
              </a:spcBef>
              <a:spcAft>
                <a:spcPts val="0"/>
              </a:spcAft>
              <a:defRPr sz="919" b="1">
                <a:solidFill>
                  <a:srgbClr val="5E6970"/>
                </a:solidFill>
                <a:latin typeface="Arial"/>
              </a:defRPr>
            </a:pPr>
            <a:r>
              <a:t>07 / 10</a:t>
            </a:r>
          </a:p>
        </p:txBody>
      </p:sp>
      <p:sp>
        <p:nvSpPr>
          <p:cNvPr id="7" name="Rounded Rectangle 6"/>
          <p:cNvSpPr/>
          <p:nvPr/>
        </p:nvSpPr>
        <p:spPr>
          <a:xfrm>
            <a:off x="512064" y="1325880"/>
            <a:ext cx="3675887" cy="4517136"/>
          </a:xfrm>
          <a:prstGeom prst="roundRect">
            <a:avLst>
              <a:gd name="adj" fmla="val 8000"/>
            </a:avLst>
          </a:prstGeom>
          <a:solidFill>
            <a:srgbClr val="FCFAF5"/>
          </a:solidFill>
          <a:ln>
            <a:solidFill>
              <a:srgbClr val="D6E1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694944" y="1463040"/>
            <a:ext cx="3300984"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ĐƯỜNG CHẠY THỰC TẾ</a:t>
            </a:r>
          </a:p>
        </p:txBody>
      </p:sp>
      <p:sp>
        <p:nvSpPr>
          <p:cNvPr id="9" name="TextBox 8"/>
          <p:cNvSpPr txBox="1"/>
          <p:nvPr/>
        </p:nvSpPr>
        <p:spPr>
          <a:xfrm>
            <a:off x="694944" y="1783080"/>
            <a:ext cx="3300984" cy="1124712"/>
          </a:xfrm>
          <a:prstGeom prst="rect">
            <a:avLst/>
          </a:prstGeom>
          <a:noFill/>
        </p:spPr>
        <p:txBody>
          <a:bodyPr wrap="square" lIns="9144" rIns="9144" tIns="9144" bIns="9144" anchor="ctr">
            <a:spAutoFit/>
          </a:bodyPr>
          <a:lstStyle/>
          <a:p>
            <a:pPr algn="l">
              <a:spcBef>
                <a:spcPts val="0"/>
              </a:spcBef>
              <a:spcAft>
                <a:spcPts val="0"/>
              </a:spcAft>
              <a:defRPr sz="1320" b="0">
                <a:solidFill>
                  <a:srgbClr val="1F3042"/>
                </a:solidFill>
                <a:latin typeface="Arial"/>
              </a:defRPr>
            </a:pPr>
            <a:r>
              <a:t>1  model.eval() + no_grad(): trích xuất z.</a:t>
            </a:r>
          </a:p>
          <a:p>
            <a:pPr algn="l">
              <a:spcBef>
                <a:spcPts val="0"/>
              </a:spcBef>
              <a:spcAft>
                <a:spcPts val="0"/>
              </a:spcAft>
              <a:defRPr sz="1320" b="0">
                <a:solidFill>
                  <a:srgbClr val="1F3042"/>
                </a:solidFill>
                <a:latin typeface="Arial"/>
              </a:defRPr>
            </a:pPr>
            <a:r>
              <a:t>2  z_Train: [35.000,128]; z_Val: [7.500,128].</a:t>
            </a:r>
          </a:p>
          <a:p>
            <a:pPr algn="l">
              <a:spcBef>
                <a:spcPts val="0"/>
              </a:spcBef>
              <a:spcAft>
                <a:spcPts val="0"/>
              </a:spcAft>
              <a:defRPr sz="1320" b="0">
                <a:solidFill>
                  <a:srgbClr val="1F3042"/>
                </a:solidFill>
                <a:latin typeface="Arial"/>
              </a:defRPr>
            </a:pPr>
            <a:r>
              <a:t>3  nn.Linear(128,1), seed 10007, 50 epoch.</a:t>
            </a:r>
          </a:p>
        </p:txBody>
      </p:sp>
      <p:sp>
        <p:nvSpPr>
          <p:cNvPr id="10" name="Rounded Rectangle 9"/>
          <p:cNvSpPr/>
          <p:nvPr/>
        </p:nvSpPr>
        <p:spPr>
          <a:xfrm>
            <a:off x="667512" y="3008376"/>
            <a:ext cx="3355848" cy="1298448"/>
          </a:xfrm>
          <a:prstGeom prst="roundRect">
            <a:avLst>
              <a:gd name="adj" fmla="val 8000"/>
            </a:avLst>
          </a:prstGeom>
          <a:solidFill>
            <a:srgbClr val="FCFAF5"/>
          </a:solidFill>
          <a:ln>
            <a:solidFill>
              <a:srgbClr val="D6E1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1" name="TextBox 10"/>
          <p:cNvSpPr txBox="1"/>
          <p:nvPr/>
        </p:nvSpPr>
        <p:spPr>
          <a:xfrm>
            <a:off x="777240" y="3054096"/>
            <a:ext cx="3136391" cy="1207007"/>
          </a:xfrm>
          <a:prstGeom prst="rect">
            <a:avLst/>
          </a:prstGeom>
          <a:noFill/>
        </p:spPr>
        <p:txBody>
          <a:bodyPr wrap="square" lIns="9144" rIns="9144" tIns="9144" bIns="9144" anchor="ctr">
            <a:spAutoFit/>
          </a:bodyPr>
          <a:lstStyle/>
          <a:p>
            <a:pPr algn="l">
              <a:spcBef>
                <a:spcPts val="0"/>
              </a:spcBef>
              <a:spcAft>
                <a:spcPts val="0"/>
              </a:spcAft>
              <a:defRPr sz="1120" b="0">
                <a:solidFill>
                  <a:srgbClr val="1F3042"/>
                </a:solidFill>
                <a:latin typeface="Consolas"/>
              </a:defRPr>
            </a:pPr>
            <a:r>
              <a:t>optimizer = torch.optim.AdamW(</a:t>
            </a:r>
          </a:p>
          <a:p>
            <a:pPr algn="l">
              <a:spcBef>
                <a:spcPts val="0"/>
              </a:spcBef>
              <a:spcAft>
                <a:spcPts val="0"/>
              </a:spcAft>
              <a:defRPr sz="1120" b="0">
                <a:solidFill>
                  <a:srgbClr val="1F3042"/>
                </a:solidFill>
                <a:latin typeface="Consolas"/>
              </a:defRPr>
            </a:pPr>
            <a:r>
              <a:t>    probe.parameters(), lr=1e-2,</a:t>
            </a:r>
          </a:p>
          <a:p>
            <a:pPr algn="l">
              <a:spcBef>
                <a:spcPts val="0"/>
              </a:spcBef>
              <a:spcAft>
                <a:spcPts val="0"/>
              </a:spcAft>
              <a:defRPr sz="1120" b="0">
                <a:solidFill>
                  <a:srgbClr val="1F3042"/>
                </a:solidFill>
                <a:latin typeface="Consolas"/>
              </a:defRPr>
            </a:pPr>
            <a:r>
              <a:t>    weight_decay=1e-4)</a:t>
            </a:r>
          </a:p>
          <a:p>
            <a:pPr algn="l">
              <a:spcBef>
                <a:spcPts val="0"/>
              </a:spcBef>
              <a:spcAft>
                <a:spcPts val="0"/>
              </a:spcAft>
              <a:defRPr sz="1120" b="0">
                <a:solidFill>
                  <a:srgbClr val="1F3042"/>
                </a:solidFill>
                <a:latin typeface="Consolas"/>
              </a:defRPr>
            </a:pPr>
            <a:r>
              <a:t>loss.backward()</a:t>
            </a:r>
          </a:p>
          <a:p>
            <a:pPr algn="l">
              <a:spcBef>
                <a:spcPts val="0"/>
              </a:spcBef>
              <a:spcAft>
                <a:spcPts val="0"/>
              </a:spcAft>
              <a:defRPr sz="1120" b="0">
                <a:solidFill>
                  <a:srgbClr val="1F3042"/>
                </a:solidFill>
                <a:latin typeface="Consolas"/>
              </a:defRPr>
            </a:pPr>
            <a:r>
              <a:t>optimizer.step()</a:t>
            </a:r>
          </a:p>
        </p:txBody>
      </p:sp>
      <p:sp>
        <p:nvSpPr>
          <p:cNvPr id="12" name="TextBox 11"/>
          <p:cNvSpPr txBox="1"/>
          <p:nvPr/>
        </p:nvSpPr>
        <p:spPr>
          <a:xfrm>
            <a:off x="694944" y="4462272"/>
            <a:ext cx="3310128" cy="914400"/>
          </a:xfrm>
          <a:prstGeom prst="rect">
            <a:avLst/>
          </a:prstGeom>
          <a:noFill/>
        </p:spPr>
        <p:txBody>
          <a:bodyPr wrap="square" lIns="9144" rIns="9144" tIns="9144" bIns="9144" anchor="ctr">
            <a:spAutoFit/>
          </a:bodyPr>
          <a:lstStyle/>
          <a:p>
            <a:pPr algn="l">
              <a:spcBef>
                <a:spcPts val="0"/>
              </a:spcBef>
              <a:spcAft>
                <a:spcPts val="0"/>
              </a:spcAft>
              <a:defRPr sz="1310" b="1">
                <a:solidFill>
                  <a:srgbClr val="1F3042"/>
                </a:solidFill>
                <a:latin typeface="Arial"/>
              </a:defRPr>
            </a:pPr>
            <a:r>
              <a:t>Điểm: sigmoid(wᵀz + b)</a:t>
            </a:r>
          </a:p>
          <a:p>
            <a:pPr algn="l">
              <a:spcBef>
                <a:spcPts val="0"/>
              </a:spcBef>
              <a:spcAft>
                <a:spcPts val="0"/>
              </a:spcAft>
              <a:defRPr sz="1310" b="1">
                <a:solidFill>
                  <a:srgbClr val="1F3042"/>
                </a:solidFill>
                <a:latin typeface="Arial"/>
              </a:defRPr>
            </a:pPr>
            <a:r>
              <a:t>AP và ROC-AUC đo trên Validation.</a:t>
            </a:r>
          </a:p>
          <a:p>
            <a:pPr algn="l">
              <a:spcBef>
                <a:spcPts val="0"/>
              </a:spcBef>
              <a:spcAft>
                <a:spcPts val="0"/>
              </a:spcAft>
              <a:defRPr sz="1310" b="1">
                <a:solidFill>
                  <a:srgbClr val="1F3042"/>
                </a:solidFill>
                <a:latin typeface="Arial"/>
              </a:defRPr>
            </a:pPr>
            <a:r>
              <a:t>Backbone optimizer steps = 0.</a:t>
            </a:r>
          </a:p>
        </p:txBody>
      </p:sp>
      <p:sp>
        <p:nvSpPr>
          <p:cNvPr id="13" name="TextBox 12"/>
          <p:cNvSpPr txBox="1"/>
          <p:nvPr/>
        </p:nvSpPr>
        <p:spPr>
          <a:xfrm>
            <a:off x="694944" y="5468112"/>
            <a:ext cx="3310128" cy="228600"/>
          </a:xfrm>
          <a:prstGeom prst="rect">
            <a:avLst/>
          </a:prstGeom>
          <a:noFill/>
        </p:spPr>
        <p:txBody>
          <a:bodyPr wrap="square" lIns="9144" rIns="9144" tIns="9144" bIns="9144" anchor="ctr">
            <a:spAutoFit/>
          </a:bodyPr>
          <a:lstStyle/>
          <a:p>
            <a:pPr algn="l">
              <a:spcBef>
                <a:spcPts val="0"/>
              </a:spcBef>
              <a:spcAft>
                <a:spcPts val="0"/>
              </a:spcAft>
              <a:defRPr sz="1060" b="0">
                <a:solidFill>
                  <a:srgbClr val="5E6970"/>
                </a:solidFill>
                <a:latin typeface="Consolas"/>
              </a:defRPr>
            </a:pPr>
            <a:r>
              <a:t>Mã: các dòng 187–327, 519</a:t>
            </a:r>
          </a:p>
        </p:txBody>
      </p:sp>
      <p:sp>
        <p:nvSpPr>
          <p:cNvPr id="14" name="TextBox 13"/>
          <p:cNvSpPr txBox="1"/>
          <p:nvPr/>
        </p:nvSpPr>
        <p:spPr>
          <a:xfrm>
            <a:off x="4434840" y="1380744"/>
            <a:ext cx="7232904"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BẢNG 3.6 · CÙNG GIAO THỨC TRAIN / VAL</a:t>
            </a:r>
          </a:p>
        </p:txBody>
      </p:sp>
      <p:graphicFrame>
        <p:nvGraphicFramePr>
          <p:cNvPr id="15" name="Table 14"/>
          <p:cNvGraphicFramePr>
            <a:graphicFrameLocks noGrp="1"/>
          </p:cNvGraphicFramePr>
          <p:nvPr/>
        </p:nvGraphicFramePr>
        <p:xfrm>
          <a:off x="4434840" y="1719072"/>
          <a:ext cx="7232904" cy="3803904"/>
        </p:xfrm>
        <a:graphic>
          <a:graphicData uri="http://schemas.openxmlformats.org/drawingml/2006/table">
            <a:tbl>
              <a:tblPr firstRow="1" bandRow="1">
                <a:tableStyleId>{5C22544A-7EE6-4342-B048-85BDC9FD1C3A}</a:tableStyleId>
              </a:tblPr>
              <a:tblGrid>
                <a:gridCol w="2194560"/>
                <a:gridCol w="713232"/>
                <a:gridCol w="1197864"/>
                <a:gridCol w="1444752"/>
                <a:gridCol w="1682496"/>
              </a:tblGrid>
              <a:tr h="543414">
                <a:tc>
                  <a:txBody>
                    <a:bodyPr/>
                    <a:lstStyle/>
                    <a:p>
                      <a:pPr algn="l">
                        <a:defRPr sz="1150" b="1">
                          <a:solidFill>
                            <a:srgbClr val="FFFFFF"/>
                          </a:solidFill>
                          <a:latin typeface="Arial"/>
                        </a:defRPr>
                      </a:pPr>
                      <a:r>
                        <a:t>Nhánh</a:t>
                      </a:r>
                    </a:p>
                  </a:txBody>
                  <a:tcPr marL="54864" marR="54864" marT="18288" marB="18288" anchor="ctr">
                    <a:solidFill>
                      <a:srgbClr val="1E7475"/>
                    </a:solidFill>
                  </a:tcPr>
                </a:tc>
                <a:tc>
                  <a:txBody>
                    <a:bodyPr/>
                    <a:lstStyle/>
                    <a:p>
                      <a:pPr algn="ctr">
                        <a:defRPr sz="1150" b="1">
                          <a:solidFill>
                            <a:srgbClr val="FFFFFF"/>
                          </a:solidFill>
                          <a:latin typeface="Arial"/>
                        </a:defRPr>
                      </a:pPr>
                      <a:r>
                        <a:t>Seed</a:t>
                      </a:r>
                    </a:p>
                  </a:txBody>
                  <a:tcPr marL="54864" marR="54864" marT="18288" marB="18288" anchor="ctr">
                    <a:solidFill>
                      <a:srgbClr val="1E7475"/>
                    </a:solidFill>
                  </a:tcPr>
                </a:tc>
                <a:tc>
                  <a:txBody>
                    <a:bodyPr/>
                    <a:lstStyle/>
                    <a:p>
                      <a:pPr algn="ctr">
                        <a:defRPr sz="1150" b="1">
                          <a:solidFill>
                            <a:srgbClr val="FFFFFF"/>
                          </a:solidFill>
                          <a:latin typeface="Arial"/>
                        </a:defRPr>
                      </a:pPr>
                      <a:r>
                        <a:t>AP</a:t>
                      </a:r>
                    </a:p>
                  </a:txBody>
                  <a:tcPr marL="54864" marR="54864" marT="18288" marB="18288" anchor="ctr">
                    <a:solidFill>
                      <a:srgbClr val="1E7475"/>
                    </a:solidFill>
                  </a:tcPr>
                </a:tc>
                <a:tc>
                  <a:txBody>
                    <a:bodyPr/>
                    <a:lstStyle/>
                    <a:p>
                      <a:pPr algn="ctr">
                        <a:defRPr sz="1150" b="1">
                          <a:solidFill>
                            <a:srgbClr val="FFFFFF"/>
                          </a:solidFill>
                          <a:latin typeface="Arial"/>
                        </a:defRPr>
                      </a:pPr>
                      <a:r>
                        <a:t>ROC-AUC</a:t>
                      </a:r>
                    </a:p>
                  </a:txBody>
                  <a:tcPr marL="54864" marR="54864" marT="18288" marB="18288" anchor="ctr">
                    <a:solidFill>
                      <a:srgbClr val="1E7475"/>
                    </a:solidFill>
                  </a:tcPr>
                </a:tc>
                <a:tc>
                  <a:txBody>
                    <a:bodyPr/>
                    <a:lstStyle/>
                    <a:p>
                      <a:pPr algn="ctr">
                        <a:defRPr sz="1150" b="1">
                          <a:solidFill>
                            <a:srgbClr val="FFFFFF"/>
                          </a:solidFill>
                          <a:latin typeface="Arial"/>
                        </a:defRPr>
                      </a:pPr>
                      <a:r>
                        <a:t>Var(z)</a:t>
                      </a:r>
                    </a:p>
                  </a:txBody>
                  <a:tcPr marL="54864" marR="54864" marT="18288" marB="18288" anchor="ctr">
                    <a:solidFill>
                      <a:srgbClr val="1E7475"/>
                    </a:solidFill>
                  </a:tcPr>
                </a:tc>
              </a:tr>
              <a:tr h="543414">
                <a:tc>
                  <a:txBody>
                    <a:bodyPr/>
                    <a:lstStyle/>
                    <a:p>
                      <a:pPr algn="l">
                        <a:defRPr sz="1250" b="0">
                          <a:solidFill>
                            <a:srgbClr val="1F3042"/>
                          </a:solidFill>
                          <a:latin typeface="Arial"/>
                        </a:defRPr>
                      </a:pPr>
                      <a:r>
                        <a:t>Sequence</a:t>
                      </a:r>
                    </a:p>
                  </a:txBody>
                  <a:tcPr marL="54864" marR="54864" marT="18288" marB="18288" anchor="ctr">
                    <a:solidFill>
                      <a:srgbClr val="EFF8F6"/>
                    </a:solidFill>
                  </a:tcPr>
                </a:tc>
                <a:tc>
                  <a:txBody>
                    <a:bodyPr/>
                    <a:lstStyle/>
                    <a:p>
                      <a:pPr algn="ctr">
                        <a:defRPr sz="1250" b="0">
                          <a:solidFill>
                            <a:srgbClr val="1F3042"/>
                          </a:solidFill>
                          <a:latin typeface="Arial"/>
                        </a:defRPr>
                      </a:pPr>
                      <a:r>
                        <a:t>42</a:t>
                      </a:r>
                    </a:p>
                  </a:txBody>
                  <a:tcPr marL="54864" marR="54864" marT="18288" marB="18288" anchor="ctr">
                    <a:solidFill>
                      <a:srgbClr val="EFF8F6"/>
                    </a:solidFill>
                  </a:tcPr>
                </a:tc>
                <a:tc>
                  <a:txBody>
                    <a:bodyPr/>
                    <a:lstStyle/>
                    <a:p>
                      <a:pPr algn="ctr">
                        <a:defRPr sz="1250" b="0">
                          <a:solidFill>
                            <a:srgbClr val="1F3042"/>
                          </a:solidFill>
                          <a:latin typeface="Arial"/>
                        </a:defRPr>
                      </a:pPr>
                      <a:r>
                        <a:t>1,0000</a:t>
                      </a:r>
                    </a:p>
                  </a:txBody>
                  <a:tcPr marL="54864" marR="54864" marT="18288" marB="18288" anchor="ctr">
                    <a:solidFill>
                      <a:srgbClr val="EFF8F6"/>
                    </a:solidFill>
                  </a:tcPr>
                </a:tc>
                <a:tc>
                  <a:txBody>
                    <a:bodyPr/>
                    <a:lstStyle/>
                    <a:p>
                      <a:pPr algn="ctr">
                        <a:defRPr sz="1250" b="0">
                          <a:solidFill>
                            <a:srgbClr val="1F3042"/>
                          </a:solidFill>
                          <a:latin typeface="Arial"/>
                        </a:defRPr>
                      </a:pPr>
                      <a:r>
                        <a:t>1,0000</a:t>
                      </a:r>
                    </a:p>
                  </a:txBody>
                  <a:tcPr marL="54864" marR="54864" marT="18288" marB="18288" anchor="ctr">
                    <a:solidFill>
                      <a:srgbClr val="EFF8F6"/>
                    </a:solidFill>
                  </a:tcPr>
                </a:tc>
                <a:tc>
                  <a:txBody>
                    <a:bodyPr/>
                    <a:lstStyle/>
                    <a:p>
                      <a:pPr algn="ctr">
                        <a:defRPr sz="1170" b="0">
                          <a:solidFill>
                            <a:srgbClr val="1F3042"/>
                          </a:solidFill>
                          <a:latin typeface="Arial"/>
                        </a:defRPr>
                      </a:pPr>
                      <a:r>
                        <a:t>0,004535</a:t>
                      </a:r>
                    </a:p>
                  </a:txBody>
                  <a:tcPr marL="54864" marR="54864" marT="18288" marB="18288" anchor="ctr">
                    <a:solidFill>
                      <a:srgbClr val="EFF8F6"/>
                    </a:solidFill>
                  </a:tcPr>
                </a:tc>
              </a:tr>
              <a:tr h="543414">
                <a:tc>
                  <a:txBody>
                    <a:bodyPr/>
                    <a:lstStyle/>
                    <a:p>
                      <a:pPr algn="l">
                        <a:defRPr sz="1250" b="0">
                          <a:solidFill>
                            <a:srgbClr val="1F3042"/>
                          </a:solidFill>
                          <a:latin typeface="Arial"/>
                        </a:defRPr>
                      </a:pPr>
                      <a:r>
                        <a:t>Sequence</a:t>
                      </a:r>
                    </a:p>
                  </a:txBody>
                  <a:tcPr marL="54864" marR="54864" marT="18288" marB="18288" anchor="ctr">
                    <a:solidFill>
                      <a:srgbClr val="FFFFFF"/>
                    </a:solidFill>
                  </a:tcPr>
                </a:tc>
                <a:tc>
                  <a:txBody>
                    <a:bodyPr/>
                    <a:lstStyle/>
                    <a:p>
                      <a:pPr algn="ctr">
                        <a:defRPr sz="1250" b="0">
                          <a:solidFill>
                            <a:srgbClr val="1F3042"/>
                          </a:solidFill>
                          <a:latin typeface="Arial"/>
                        </a:defRPr>
                      </a:pPr>
                      <a:r>
                        <a:t>7</a:t>
                      </a:r>
                    </a:p>
                  </a:txBody>
                  <a:tcPr marL="54864" marR="54864" marT="18288" marB="18288" anchor="ctr">
                    <a:solidFill>
                      <a:srgbClr val="FFFFFF"/>
                    </a:solidFill>
                  </a:tcPr>
                </a:tc>
                <a:tc>
                  <a:txBody>
                    <a:bodyPr/>
                    <a:lstStyle/>
                    <a:p>
                      <a:pPr algn="ctr">
                        <a:defRPr sz="1250" b="0">
                          <a:solidFill>
                            <a:srgbClr val="1F3042"/>
                          </a:solidFill>
                          <a:latin typeface="Arial"/>
                        </a:defRPr>
                      </a:pPr>
                      <a:r>
                        <a:t>1,0000</a:t>
                      </a:r>
                    </a:p>
                  </a:txBody>
                  <a:tcPr marL="54864" marR="54864" marT="18288" marB="18288" anchor="ctr">
                    <a:solidFill>
                      <a:srgbClr val="FFFFFF"/>
                    </a:solidFill>
                  </a:tcPr>
                </a:tc>
                <a:tc>
                  <a:txBody>
                    <a:bodyPr/>
                    <a:lstStyle/>
                    <a:p>
                      <a:pPr algn="ctr">
                        <a:defRPr sz="1250" b="0">
                          <a:solidFill>
                            <a:srgbClr val="1F3042"/>
                          </a:solidFill>
                          <a:latin typeface="Arial"/>
                        </a:defRPr>
                      </a:pPr>
                      <a:r>
                        <a:t>1,0000</a:t>
                      </a:r>
                    </a:p>
                  </a:txBody>
                  <a:tcPr marL="54864" marR="54864" marT="18288" marB="18288" anchor="ctr">
                    <a:solidFill>
                      <a:srgbClr val="FFFFFF"/>
                    </a:solidFill>
                  </a:tcPr>
                </a:tc>
                <a:tc>
                  <a:txBody>
                    <a:bodyPr/>
                    <a:lstStyle/>
                    <a:p>
                      <a:pPr algn="ctr">
                        <a:defRPr sz="1170" b="0">
                          <a:solidFill>
                            <a:srgbClr val="1F3042"/>
                          </a:solidFill>
                          <a:latin typeface="Arial"/>
                        </a:defRPr>
                      </a:pPr>
                      <a:r>
                        <a:t>0,005755</a:t>
                      </a:r>
                    </a:p>
                  </a:txBody>
                  <a:tcPr marL="54864" marR="54864" marT="18288" marB="18288" anchor="ctr">
                    <a:solidFill>
                      <a:srgbClr val="FFFFFF"/>
                    </a:solidFill>
                  </a:tcPr>
                </a:tc>
              </a:tr>
              <a:tr h="543414">
                <a:tc>
                  <a:txBody>
                    <a:bodyPr/>
                    <a:lstStyle/>
                    <a:p>
                      <a:pPr algn="l">
                        <a:defRPr sz="1250" b="0">
                          <a:solidFill>
                            <a:srgbClr val="1F3042"/>
                          </a:solidFill>
                          <a:latin typeface="Arial"/>
                        </a:defRPr>
                      </a:pPr>
                      <a:r>
                        <a:t>Sequence</a:t>
                      </a:r>
                    </a:p>
                  </a:txBody>
                  <a:tcPr marL="54864" marR="54864" marT="18288" marB="18288" anchor="ctr">
                    <a:solidFill>
                      <a:srgbClr val="EFF8F6"/>
                    </a:solidFill>
                  </a:tcPr>
                </a:tc>
                <a:tc>
                  <a:txBody>
                    <a:bodyPr/>
                    <a:lstStyle/>
                    <a:p>
                      <a:pPr algn="ctr">
                        <a:defRPr sz="1250" b="0">
                          <a:solidFill>
                            <a:srgbClr val="1F3042"/>
                          </a:solidFill>
                          <a:latin typeface="Arial"/>
                        </a:defRPr>
                      </a:pPr>
                      <a:r>
                        <a:t>999</a:t>
                      </a:r>
                    </a:p>
                  </a:txBody>
                  <a:tcPr marL="54864" marR="54864" marT="18288" marB="18288" anchor="ctr">
                    <a:solidFill>
                      <a:srgbClr val="EFF8F6"/>
                    </a:solidFill>
                  </a:tcPr>
                </a:tc>
                <a:tc>
                  <a:txBody>
                    <a:bodyPr/>
                    <a:lstStyle/>
                    <a:p>
                      <a:pPr algn="ctr">
                        <a:defRPr sz="1250" b="0">
                          <a:solidFill>
                            <a:srgbClr val="1F3042"/>
                          </a:solidFill>
                          <a:latin typeface="Arial"/>
                        </a:defRPr>
                      </a:pPr>
                      <a:r>
                        <a:t>1,0000</a:t>
                      </a:r>
                    </a:p>
                  </a:txBody>
                  <a:tcPr marL="54864" marR="54864" marT="18288" marB="18288" anchor="ctr">
                    <a:solidFill>
                      <a:srgbClr val="EFF8F6"/>
                    </a:solidFill>
                  </a:tcPr>
                </a:tc>
                <a:tc>
                  <a:txBody>
                    <a:bodyPr/>
                    <a:lstStyle/>
                    <a:p>
                      <a:pPr algn="ctr">
                        <a:defRPr sz="1250" b="0">
                          <a:solidFill>
                            <a:srgbClr val="1F3042"/>
                          </a:solidFill>
                          <a:latin typeface="Arial"/>
                        </a:defRPr>
                      </a:pPr>
                      <a:r>
                        <a:t>1,0000</a:t>
                      </a:r>
                    </a:p>
                  </a:txBody>
                  <a:tcPr marL="54864" marR="54864" marT="18288" marB="18288" anchor="ctr">
                    <a:solidFill>
                      <a:srgbClr val="EFF8F6"/>
                    </a:solidFill>
                  </a:tcPr>
                </a:tc>
                <a:tc>
                  <a:txBody>
                    <a:bodyPr/>
                    <a:lstStyle/>
                    <a:p>
                      <a:pPr algn="ctr">
                        <a:defRPr sz="1170" b="0">
                          <a:solidFill>
                            <a:srgbClr val="1F3042"/>
                          </a:solidFill>
                          <a:latin typeface="Arial"/>
                        </a:defRPr>
                      </a:pPr>
                      <a:r>
                        <a:t>0,006098</a:t>
                      </a:r>
                    </a:p>
                  </a:txBody>
                  <a:tcPr marL="54864" marR="54864" marT="18288" marB="18288" anchor="ctr">
                    <a:solidFill>
                      <a:srgbClr val="EFF8F6"/>
                    </a:solidFill>
                  </a:tcPr>
                </a:tc>
              </a:tr>
              <a:tr h="543414">
                <a:tc>
                  <a:txBody>
                    <a:bodyPr/>
                    <a:lstStyle/>
                    <a:p>
                      <a:pPr algn="l">
                        <a:defRPr sz="1250" b="0">
                          <a:solidFill>
                            <a:srgbClr val="1F3042"/>
                          </a:solidFill>
                          <a:latin typeface="Arial"/>
                        </a:defRPr>
                      </a:pPr>
                      <a:r>
                        <a:t>Multi-View</a:t>
                      </a:r>
                    </a:p>
                  </a:txBody>
                  <a:tcPr marL="54864" marR="54864" marT="18288" marB="18288" anchor="ctr">
                    <a:solidFill>
                      <a:srgbClr val="FFFFFF"/>
                    </a:solidFill>
                  </a:tcPr>
                </a:tc>
                <a:tc>
                  <a:txBody>
                    <a:bodyPr/>
                    <a:lstStyle/>
                    <a:p>
                      <a:pPr algn="ctr">
                        <a:defRPr sz="1250" b="0">
                          <a:solidFill>
                            <a:srgbClr val="1F3042"/>
                          </a:solidFill>
                          <a:latin typeface="Arial"/>
                        </a:defRPr>
                      </a:pPr>
                      <a:r>
                        <a:t>42</a:t>
                      </a:r>
                    </a:p>
                  </a:txBody>
                  <a:tcPr marL="54864" marR="54864" marT="18288" marB="18288" anchor="ctr">
                    <a:solidFill>
                      <a:srgbClr val="FFFFFF"/>
                    </a:solidFill>
                  </a:tcPr>
                </a:tc>
                <a:tc>
                  <a:txBody>
                    <a:bodyPr/>
                    <a:lstStyle/>
                    <a:p>
                      <a:pPr algn="ctr">
                        <a:defRPr sz="1250" b="0">
                          <a:solidFill>
                            <a:srgbClr val="1F3042"/>
                          </a:solidFill>
                          <a:latin typeface="Arial"/>
                        </a:defRPr>
                      </a:pPr>
                      <a:r>
                        <a:t>0,7604</a:t>
                      </a:r>
                    </a:p>
                  </a:txBody>
                  <a:tcPr marL="54864" marR="54864" marT="18288" marB="18288" anchor="ctr">
                    <a:solidFill>
                      <a:srgbClr val="FFFFFF"/>
                    </a:solidFill>
                  </a:tcPr>
                </a:tc>
                <a:tc>
                  <a:txBody>
                    <a:bodyPr/>
                    <a:lstStyle/>
                    <a:p>
                      <a:pPr algn="ctr">
                        <a:defRPr sz="1250" b="0">
                          <a:solidFill>
                            <a:srgbClr val="1F3042"/>
                          </a:solidFill>
                          <a:latin typeface="Arial"/>
                        </a:defRPr>
                      </a:pPr>
                      <a:r>
                        <a:t>0,9946</a:t>
                      </a:r>
                    </a:p>
                  </a:txBody>
                  <a:tcPr marL="54864" marR="54864" marT="18288" marB="18288" anchor="ctr">
                    <a:solidFill>
                      <a:srgbClr val="FFFFFF"/>
                    </a:solidFill>
                  </a:tcPr>
                </a:tc>
                <a:tc>
                  <a:txBody>
                    <a:bodyPr/>
                    <a:lstStyle/>
                    <a:p>
                      <a:pPr algn="ctr">
                        <a:defRPr sz="1170" b="0">
                          <a:solidFill>
                            <a:srgbClr val="1F3042"/>
                          </a:solidFill>
                          <a:latin typeface="Arial"/>
                        </a:defRPr>
                      </a:pPr>
                      <a:r>
                        <a:t>0,005513</a:t>
                      </a:r>
                    </a:p>
                  </a:txBody>
                  <a:tcPr marL="54864" marR="54864" marT="18288" marB="18288" anchor="ctr">
                    <a:solidFill>
                      <a:srgbClr val="FFFFFF"/>
                    </a:solidFill>
                  </a:tcPr>
                </a:tc>
              </a:tr>
              <a:tr h="543414">
                <a:tc>
                  <a:txBody>
                    <a:bodyPr/>
                    <a:lstStyle/>
                    <a:p>
                      <a:pPr algn="l">
                        <a:defRPr sz="1250" b="0">
                          <a:solidFill>
                            <a:srgbClr val="1F3042"/>
                          </a:solidFill>
                          <a:latin typeface="Arial"/>
                        </a:defRPr>
                      </a:pPr>
                      <a:r>
                        <a:t>Multi-View</a:t>
                      </a:r>
                    </a:p>
                  </a:txBody>
                  <a:tcPr marL="54864" marR="54864" marT="18288" marB="18288" anchor="ctr">
                    <a:solidFill>
                      <a:srgbClr val="EFF8F6"/>
                    </a:solidFill>
                  </a:tcPr>
                </a:tc>
                <a:tc>
                  <a:txBody>
                    <a:bodyPr/>
                    <a:lstStyle/>
                    <a:p>
                      <a:pPr algn="ctr">
                        <a:defRPr sz="1250" b="0">
                          <a:solidFill>
                            <a:srgbClr val="1F3042"/>
                          </a:solidFill>
                          <a:latin typeface="Arial"/>
                        </a:defRPr>
                      </a:pPr>
                      <a:r>
                        <a:t>7</a:t>
                      </a:r>
                    </a:p>
                  </a:txBody>
                  <a:tcPr marL="54864" marR="54864" marT="18288" marB="18288" anchor="ctr">
                    <a:solidFill>
                      <a:srgbClr val="EFF8F6"/>
                    </a:solidFill>
                  </a:tcPr>
                </a:tc>
                <a:tc>
                  <a:txBody>
                    <a:bodyPr/>
                    <a:lstStyle/>
                    <a:p>
                      <a:pPr algn="ctr">
                        <a:defRPr sz="1250" b="0">
                          <a:solidFill>
                            <a:srgbClr val="1F3042"/>
                          </a:solidFill>
                          <a:latin typeface="Arial"/>
                        </a:defRPr>
                      </a:pPr>
                      <a:r>
                        <a:t>0,6309</a:t>
                      </a:r>
                    </a:p>
                  </a:txBody>
                  <a:tcPr marL="54864" marR="54864" marT="18288" marB="18288" anchor="ctr">
                    <a:solidFill>
                      <a:srgbClr val="EFF8F6"/>
                    </a:solidFill>
                  </a:tcPr>
                </a:tc>
                <a:tc>
                  <a:txBody>
                    <a:bodyPr/>
                    <a:lstStyle/>
                    <a:p>
                      <a:pPr algn="ctr">
                        <a:defRPr sz="1250" b="0">
                          <a:solidFill>
                            <a:srgbClr val="1F3042"/>
                          </a:solidFill>
                          <a:latin typeface="Arial"/>
                        </a:defRPr>
                      </a:pPr>
                      <a:r>
                        <a:t>0,8081</a:t>
                      </a:r>
                    </a:p>
                  </a:txBody>
                  <a:tcPr marL="54864" marR="54864" marT="18288" marB="18288" anchor="ctr">
                    <a:solidFill>
                      <a:srgbClr val="EFF8F6"/>
                    </a:solidFill>
                  </a:tcPr>
                </a:tc>
                <a:tc>
                  <a:txBody>
                    <a:bodyPr/>
                    <a:lstStyle/>
                    <a:p>
                      <a:pPr algn="ctr">
                        <a:defRPr sz="1170" b="0">
                          <a:solidFill>
                            <a:srgbClr val="1F3042"/>
                          </a:solidFill>
                          <a:latin typeface="Arial"/>
                        </a:defRPr>
                      </a:pPr>
                      <a:r>
                        <a:t>0,004682</a:t>
                      </a:r>
                    </a:p>
                  </a:txBody>
                  <a:tcPr marL="54864" marR="54864" marT="18288" marB="18288" anchor="ctr">
                    <a:solidFill>
                      <a:srgbClr val="EFF8F6"/>
                    </a:solidFill>
                  </a:tcPr>
                </a:tc>
              </a:tr>
              <a:tr h="543420">
                <a:tc>
                  <a:txBody>
                    <a:bodyPr/>
                    <a:lstStyle/>
                    <a:p>
                      <a:pPr algn="l">
                        <a:defRPr sz="1250" b="0">
                          <a:solidFill>
                            <a:srgbClr val="1F3042"/>
                          </a:solidFill>
                          <a:latin typeface="Arial"/>
                        </a:defRPr>
                      </a:pPr>
                      <a:r>
                        <a:t>Multi-View</a:t>
                      </a:r>
                    </a:p>
                  </a:txBody>
                  <a:tcPr marL="54864" marR="54864" marT="18288" marB="18288" anchor="ctr">
                    <a:solidFill>
                      <a:srgbClr val="FFFFFF"/>
                    </a:solidFill>
                  </a:tcPr>
                </a:tc>
                <a:tc>
                  <a:txBody>
                    <a:bodyPr/>
                    <a:lstStyle/>
                    <a:p>
                      <a:pPr algn="ctr">
                        <a:defRPr sz="1250" b="0">
                          <a:solidFill>
                            <a:srgbClr val="1F3042"/>
                          </a:solidFill>
                          <a:latin typeface="Arial"/>
                        </a:defRPr>
                      </a:pPr>
                      <a:r>
                        <a:t>999</a:t>
                      </a:r>
                    </a:p>
                  </a:txBody>
                  <a:tcPr marL="54864" marR="54864" marT="18288" marB="18288" anchor="ctr">
                    <a:solidFill>
                      <a:srgbClr val="FFFFFF"/>
                    </a:solidFill>
                  </a:tcPr>
                </a:tc>
                <a:tc>
                  <a:txBody>
                    <a:bodyPr/>
                    <a:lstStyle/>
                    <a:p>
                      <a:pPr algn="ctr">
                        <a:defRPr sz="1250" b="0">
                          <a:solidFill>
                            <a:srgbClr val="1F3042"/>
                          </a:solidFill>
                          <a:latin typeface="Arial"/>
                        </a:defRPr>
                      </a:pPr>
                      <a:r>
                        <a:t>0,5911</a:t>
                      </a:r>
                    </a:p>
                  </a:txBody>
                  <a:tcPr marL="54864" marR="54864" marT="18288" marB="18288" anchor="ctr">
                    <a:solidFill>
                      <a:srgbClr val="FFFFFF"/>
                    </a:solidFill>
                  </a:tcPr>
                </a:tc>
                <a:tc>
                  <a:txBody>
                    <a:bodyPr/>
                    <a:lstStyle/>
                    <a:p>
                      <a:pPr algn="ctr">
                        <a:defRPr sz="1250" b="0">
                          <a:solidFill>
                            <a:srgbClr val="1F3042"/>
                          </a:solidFill>
                          <a:latin typeface="Arial"/>
                        </a:defRPr>
                      </a:pPr>
                      <a:r>
                        <a:t>0,7693</a:t>
                      </a:r>
                    </a:p>
                  </a:txBody>
                  <a:tcPr marL="54864" marR="54864" marT="18288" marB="18288" anchor="ctr">
                    <a:solidFill>
                      <a:srgbClr val="FFFFFF"/>
                    </a:solidFill>
                  </a:tcPr>
                </a:tc>
                <a:tc>
                  <a:txBody>
                    <a:bodyPr/>
                    <a:lstStyle/>
                    <a:p>
                      <a:pPr algn="ctr">
                        <a:defRPr sz="1170" b="0">
                          <a:solidFill>
                            <a:srgbClr val="1F3042"/>
                          </a:solidFill>
                          <a:latin typeface="Arial"/>
                        </a:defRPr>
                      </a:pPr>
                      <a:r>
                        <a:t>0,008013</a:t>
                      </a:r>
                    </a:p>
                  </a:txBody>
                  <a:tcPr marL="54864" marR="54864" marT="18288" marB="18288" anchor="ctr">
                    <a:solidFill>
                      <a:srgbClr val="FFFFFF"/>
                    </a:solidFill>
                  </a:tcPr>
                </a:tc>
              </a:tr>
            </a:tbl>
          </a:graphicData>
        </a:graphic>
      </p:graphicFrame>
      <p:sp>
        <p:nvSpPr>
          <p:cNvPr id="16" name="TextBox 15"/>
          <p:cNvSpPr txBox="1"/>
          <p:nvPr/>
        </p:nvSpPr>
        <p:spPr>
          <a:xfrm>
            <a:off x="4471416" y="5650992"/>
            <a:ext cx="7086600" cy="228600"/>
          </a:xfrm>
          <a:prstGeom prst="rect">
            <a:avLst/>
          </a:prstGeom>
          <a:noFill/>
        </p:spPr>
        <p:txBody>
          <a:bodyPr wrap="square" lIns="9144" rIns="9144" tIns="9144" bIns="9144" anchor="ctr">
            <a:spAutoFit/>
          </a:bodyPr>
          <a:lstStyle/>
          <a:p>
            <a:pPr algn="l">
              <a:spcBef>
                <a:spcPts val="0"/>
              </a:spcBef>
              <a:spcAft>
                <a:spcPts val="0"/>
              </a:spcAft>
              <a:defRPr sz="1230" b="1">
                <a:solidFill>
                  <a:srgbClr val="1E7475"/>
                </a:solidFill>
                <a:latin typeface="Arial"/>
              </a:defRPr>
            </a:pPr>
            <a:r>
              <a:t>AP trung bình: Sequence 1,0000; Multi-View 0,6608 ± 0,0885 (SD mẫu).</a:t>
            </a:r>
          </a:p>
        </p:txBody>
      </p:sp>
      <p:sp>
        <p:nvSpPr>
          <p:cNvPr id="17" name="TextBox 16"/>
          <p:cNvSpPr txBox="1"/>
          <p:nvPr/>
        </p:nvSpPr>
        <p:spPr>
          <a:xfrm>
            <a:off x="566928" y="6108192"/>
            <a:ext cx="11018520" cy="237744"/>
          </a:xfrm>
          <a:prstGeom prst="rect">
            <a:avLst/>
          </a:prstGeom>
          <a:noFill/>
        </p:spPr>
        <p:txBody>
          <a:bodyPr wrap="square" lIns="9144" rIns="9144" tIns="9144" bIns="9144" anchor="ctr">
            <a:spAutoFit/>
          </a:bodyPr>
          <a:lstStyle/>
          <a:p>
            <a:pPr algn="l">
              <a:spcBef>
                <a:spcPts val="0"/>
              </a:spcBef>
              <a:spcAft>
                <a:spcPts val="0"/>
              </a:spcAft>
              <a:defRPr sz="1200" b="1">
                <a:solidFill>
                  <a:srgbClr val="1E7475"/>
                </a:solidFill>
                <a:latin typeface="Arial"/>
              </a:defRPr>
            </a:pPr>
            <a:r>
              <a:t>Đã chạy lại trích xuất + đầu dò từ 6 checkpoint; chưa huấn luyện lại Stage A2, chưa đo Test.</a:t>
            </a:r>
          </a:p>
        </p:txBody>
      </p:sp>
    </p:spTree>
    <p:extLst>
      <p:ext uri="{BB962C8B-B14F-4D97-AF65-F5344CB8AC3E}">
        <p14:creationId xmlns:p14="http://schemas.microsoft.com/office/powerpoint/2010/main" val="43986684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19456"/>
            <a:ext cx="11064240" cy="429768"/>
          </a:xfrm>
          <a:prstGeom prst="rect">
            <a:avLst/>
          </a:prstGeom>
          <a:noFill/>
        </p:spPr>
        <p:txBody>
          <a:bodyPr wrap="square" lIns="9144" rIns="9144" tIns="9144" bIns="9144" anchor="ctr">
            <a:spAutoFit/>
          </a:bodyPr>
          <a:lstStyle/>
          <a:p>
            <a:pPr algn="l">
              <a:spcBef>
                <a:spcPts val="0"/>
              </a:spcBef>
              <a:spcAft>
                <a:spcPts val="0"/>
              </a:spcAft>
              <a:defRPr sz="2600" b="1">
                <a:solidFill>
                  <a:srgbClr val="1F3042"/>
                </a:solidFill>
                <a:latin typeface="Arial"/>
              </a:defRPr>
            </a:pPr>
            <a:r>
              <a:t>H2: tính chênh lệch trước khi kết luận</a:t>
            </a:r>
          </a:p>
        </p:txBody>
      </p:sp>
      <p:sp>
        <p:nvSpPr>
          <p:cNvPr id="3" name="TextBox 2"/>
          <p:cNvSpPr txBox="1"/>
          <p:nvPr/>
        </p:nvSpPr>
        <p:spPr>
          <a:xfrm>
            <a:off x="521207" y="731520"/>
            <a:ext cx="11064240" cy="256032"/>
          </a:xfrm>
          <a:prstGeom prst="rect">
            <a:avLst/>
          </a:prstGeom>
          <a:noFill/>
        </p:spPr>
        <p:txBody>
          <a:bodyPr wrap="square" lIns="9144" rIns="9144" tIns="9144" bIns="9144" anchor="ctr">
            <a:spAutoFit/>
          </a:bodyPr>
          <a:lstStyle/>
          <a:p>
            <a:pPr algn="l">
              <a:spcBef>
                <a:spcPts val="0"/>
              </a:spcBef>
              <a:spcAft>
                <a:spcPts val="0"/>
              </a:spcAft>
              <a:defRPr sz="1300" b="0">
                <a:solidFill>
                  <a:srgbClr val="5E6970"/>
                </a:solidFill>
                <a:latin typeface="Arial"/>
              </a:defRPr>
            </a:pPr>
            <a:r>
              <a:t>Đối chứng hoàn tất: Multi-View so với Sequence-Only trên HDFS Validation</a:t>
            </a:r>
          </a:p>
        </p:txBody>
      </p:sp>
      <p:sp>
        <p:nvSpPr>
          <p:cNvPr id="4" name="Rectangle 3"/>
          <p:cNvSpPr/>
          <p:nvPr/>
        </p:nvSpPr>
        <p:spPr>
          <a:xfrm>
            <a:off x="512064" y="1097280"/>
            <a:ext cx="11155680" cy="16459"/>
          </a:xfrm>
          <a:prstGeom prst="rect">
            <a:avLst/>
          </a:prstGeom>
          <a:solidFill>
            <a:srgbClr val="1E7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6437376"/>
            <a:ext cx="10378440" cy="173736"/>
          </a:xfrm>
          <a:prstGeom prst="rect">
            <a:avLst/>
          </a:prstGeom>
          <a:noFill/>
        </p:spPr>
        <p:txBody>
          <a:bodyPr wrap="square" lIns="9144" rIns="9144" tIns="9144" bIns="9144" anchor="ctr">
            <a:spAutoFit/>
          </a:bodyPr>
          <a:lstStyle/>
          <a:p>
            <a:pPr algn="l">
              <a:spcBef>
                <a:spcPts val="0"/>
              </a:spcBef>
              <a:spcAft>
                <a:spcPts val="0"/>
              </a:spcAft>
              <a:defRPr sz="919" b="0">
                <a:solidFill>
                  <a:srgbClr val="5E6970"/>
                </a:solidFill>
                <a:latin typeface="Arial"/>
              </a:defRPr>
            </a:pPr>
            <a:r>
              <a:t>Word: Mục 3.2.3, Bảng 3.7 và 3.10  ·  evaluation_v3/H2_SEQUENCE_NOPARAM_SENSITIVITY.json</a:t>
            </a:r>
          </a:p>
        </p:txBody>
      </p:sp>
      <p:sp>
        <p:nvSpPr>
          <p:cNvPr id="6" name="TextBox 5"/>
          <p:cNvSpPr txBox="1"/>
          <p:nvPr/>
        </p:nvSpPr>
        <p:spPr>
          <a:xfrm>
            <a:off x="10881360" y="6437376"/>
            <a:ext cx="758952" cy="173736"/>
          </a:xfrm>
          <a:prstGeom prst="rect">
            <a:avLst/>
          </a:prstGeom>
          <a:noFill/>
        </p:spPr>
        <p:txBody>
          <a:bodyPr wrap="square" lIns="9144" rIns="9144" tIns="9144" bIns="9144" anchor="ctr">
            <a:spAutoFit/>
          </a:bodyPr>
          <a:lstStyle/>
          <a:p>
            <a:pPr algn="r">
              <a:spcBef>
                <a:spcPts val="0"/>
              </a:spcBef>
              <a:spcAft>
                <a:spcPts val="0"/>
              </a:spcAft>
              <a:defRPr sz="919" b="1">
                <a:solidFill>
                  <a:srgbClr val="5E6970"/>
                </a:solidFill>
                <a:latin typeface="Arial"/>
              </a:defRPr>
            </a:pPr>
            <a:r>
              <a:t>08 / 10</a:t>
            </a:r>
          </a:p>
        </p:txBody>
      </p:sp>
      <p:sp>
        <p:nvSpPr>
          <p:cNvPr id="7" name="Rounded Rectangle 6"/>
          <p:cNvSpPr/>
          <p:nvPr/>
        </p:nvSpPr>
        <p:spPr>
          <a:xfrm>
            <a:off x="512064" y="1316736"/>
            <a:ext cx="11155680" cy="841248"/>
          </a:xfrm>
          <a:prstGeom prst="roundRect">
            <a:avLst>
              <a:gd name="adj" fmla="val 8000"/>
            </a:avLst>
          </a:prstGeom>
          <a:solidFill>
            <a:srgbClr val="EF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13232" y="1435608"/>
            <a:ext cx="10789920" cy="301752"/>
          </a:xfrm>
          <a:prstGeom prst="rect">
            <a:avLst/>
          </a:prstGeom>
          <a:noFill/>
        </p:spPr>
        <p:txBody>
          <a:bodyPr wrap="square" lIns="9144" rIns="9144" tIns="9144" bIns="9144" anchor="ctr">
            <a:spAutoFit/>
          </a:bodyPr>
          <a:lstStyle/>
          <a:p>
            <a:pPr algn="l">
              <a:spcBef>
                <a:spcPts val="0"/>
              </a:spcBef>
              <a:spcAft>
                <a:spcPts val="0"/>
              </a:spcAft>
              <a:defRPr sz="1800" b="1">
                <a:solidFill>
                  <a:srgbClr val="1F3042"/>
                </a:solidFill>
                <a:latin typeface="Arial"/>
              </a:defRPr>
            </a:pPr>
            <a:r>
              <a:t>ΔAP = AP(Multi-View) − AP(Sequence); biên không thua kém δ = −0,02</a:t>
            </a:r>
          </a:p>
        </p:txBody>
      </p:sp>
      <p:sp>
        <p:nvSpPr>
          <p:cNvPr id="9" name="TextBox 8"/>
          <p:cNvSpPr txBox="1"/>
          <p:nvPr/>
        </p:nvSpPr>
        <p:spPr>
          <a:xfrm>
            <a:off x="722376" y="1847088"/>
            <a:ext cx="10652760" cy="173736"/>
          </a:xfrm>
          <a:prstGeom prst="rect">
            <a:avLst/>
          </a:prstGeom>
          <a:noFill/>
        </p:spPr>
        <p:txBody>
          <a:bodyPr wrap="square" lIns="9144" rIns="9144" tIns="9144" bIns="9144" anchor="ctr">
            <a:spAutoFit/>
          </a:bodyPr>
          <a:lstStyle/>
          <a:p>
            <a:pPr algn="l">
              <a:spcBef>
                <a:spcPts val="0"/>
              </a:spcBef>
              <a:spcAft>
                <a:spcPts val="0"/>
              </a:spcAft>
              <a:defRPr sz="1150" b="0">
                <a:solidFill>
                  <a:srgbClr val="5E6970"/>
                </a:solidFill>
                <a:latin typeface="Arial"/>
              </a:defRPr>
            </a:pPr>
            <a:r>
              <a:t>Nếu ΔAP &lt; δ, cặp đó không đạt biên. Dấu ± dưới đây là độ lệch chuẩn mẫu, không phải khoảng tin cậy.</a:t>
            </a:r>
          </a:p>
        </p:txBody>
      </p:sp>
      <p:sp>
        <p:nvSpPr>
          <p:cNvPr id="10" name="TextBox 9"/>
          <p:cNvSpPr txBox="1"/>
          <p:nvPr/>
        </p:nvSpPr>
        <p:spPr>
          <a:xfrm>
            <a:off x="557784" y="2377440"/>
            <a:ext cx="7040880"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BA CẶP SEED · CÔNG THỨC ÁP DỤNG TRỰC TIẾP</a:t>
            </a:r>
          </a:p>
        </p:txBody>
      </p:sp>
      <p:graphicFrame>
        <p:nvGraphicFramePr>
          <p:cNvPr id="11" name="Table 10"/>
          <p:cNvGraphicFramePr>
            <a:graphicFrameLocks noGrp="1"/>
          </p:cNvGraphicFramePr>
          <p:nvPr/>
        </p:nvGraphicFramePr>
        <p:xfrm>
          <a:off x="557784" y="2724912"/>
          <a:ext cx="7452360" cy="2569464"/>
        </p:xfrm>
        <a:graphic>
          <a:graphicData uri="http://schemas.openxmlformats.org/drawingml/2006/table">
            <a:tbl>
              <a:tblPr firstRow="1" bandRow="1">
                <a:tableStyleId>{5C22544A-7EE6-4342-B048-85BDC9FD1C3A}</a:tableStyleId>
              </a:tblPr>
              <a:tblGrid>
                <a:gridCol w="658368"/>
                <a:gridCol w="1207008"/>
                <a:gridCol w="1152144"/>
                <a:gridCol w="1399032"/>
                <a:gridCol w="3035808"/>
              </a:tblGrid>
              <a:tr h="642366">
                <a:tc>
                  <a:txBody>
                    <a:bodyPr/>
                    <a:lstStyle/>
                    <a:p>
                      <a:pPr algn="ctr">
                        <a:defRPr sz="1150" b="1">
                          <a:solidFill>
                            <a:srgbClr val="FFFFFF"/>
                          </a:solidFill>
                          <a:latin typeface="Arial"/>
                        </a:defRPr>
                      </a:pPr>
                      <a:r>
                        <a:t>Seed</a:t>
                      </a:r>
                    </a:p>
                  </a:txBody>
                  <a:tcPr marL="54864" marR="54864" marT="18288" marB="18288" anchor="ctr">
                    <a:solidFill>
                      <a:srgbClr val="1E7475"/>
                    </a:solidFill>
                  </a:tcPr>
                </a:tc>
                <a:tc>
                  <a:txBody>
                    <a:bodyPr/>
                    <a:lstStyle/>
                    <a:p>
                      <a:pPr algn="ctr">
                        <a:defRPr sz="1150" b="1">
                          <a:solidFill>
                            <a:srgbClr val="FFFFFF"/>
                          </a:solidFill>
                          <a:latin typeface="Arial"/>
                        </a:defRPr>
                      </a:pPr>
                      <a:r>
                        <a:t>Seq. AP</a:t>
                      </a:r>
                    </a:p>
                  </a:txBody>
                  <a:tcPr marL="54864" marR="54864" marT="18288" marB="18288" anchor="ctr">
                    <a:solidFill>
                      <a:srgbClr val="1E7475"/>
                    </a:solidFill>
                  </a:tcPr>
                </a:tc>
                <a:tc>
                  <a:txBody>
                    <a:bodyPr/>
                    <a:lstStyle/>
                    <a:p>
                      <a:pPr algn="ctr">
                        <a:defRPr sz="1150" b="1">
                          <a:solidFill>
                            <a:srgbClr val="FFFFFF"/>
                          </a:solidFill>
                          <a:latin typeface="Arial"/>
                        </a:defRPr>
                      </a:pPr>
                      <a:r>
                        <a:t>MV AP</a:t>
                      </a:r>
                    </a:p>
                  </a:txBody>
                  <a:tcPr marL="54864" marR="54864" marT="18288" marB="18288" anchor="ctr">
                    <a:solidFill>
                      <a:srgbClr val="1E7475"/>
                    </a:solidFill>
                  </a:tcPr>
                </a:tc>
                <a:tc>
                  <a:txBody>
                    <a:bodyPr/>
                    <a:lstStyle/>
                    <a:p>
                      <a:pPr algn="ctr">
                        <a:defRPr sz="1150" b="1">
                          <a:solidFill>
                            <a:srgbClr val="FFFFFF"/>
                          </a:solidFill>
                          <a:latin typeface="Arial"/>
                        </a:defRPr>
                      </a:pPr>
                      <a:r>
                        <a:t>ΔAP</a:t>
                      </a:r>
                    </a:p>
                  </a:txBody>
                  <a:tcPr marL="54864" marR="54864" marT="18288" marB="18288" anchor="ctr">
                    <a:solidFill>
                      <a:srgbClr val="1E7475"/>
                    </a:solidFill>
                  </a:tcPr>
                </a:tc>
                <a:tc>
                  <a:txBody>
                    <a:bodyPr/>
                    <a:lstStyle/>
                    <a:p>
                      <a:pPr algn="ctr">
                        <a:defRPr sz="1150" b="1">
                          <a:solidFill>
                            <a:srgbClr val="FFFFFF"/>
                          </a:solidFill>
                          <a:latin typeface="Arial"/>
                        </a:defRPr>
                      </a:pPr>
                      <a:r>
                        <a:t>Seq. bỏ tham số</a:t>
                      </a:r>
                    </a:p>
                  </a:txBody>
                  <a:tcPr marL="54864" marR="54864" marT="18288" marB="18288" anchor="ctr">
                    <a:solidFill>
                      <a:srgbClr val="1E7475"/>
                    </a:solidFill>
                  </a:tcPr>
                </a:tc>
              </a:tr>
              <a:tr h="642366">
                <a:tc>
                  <a:txBody>
                    <a:bodyPr/>
                    <a:lstStyle/>
                    <a:p>
                      <a:pPr algn="ctr">
                        <a:defRPr sz="1250" b="0">
                          <a:solidFill>
                            <a:srgbClr val="1F3042"/>
                          </a:solidFill>
                          <a:latin typeface="Arial"/>
                        </a:defRPr>
                      </a:pPr>
                      <a:r>
                        <a:t>42</a:t>
                      </a:r>
                    </a:p>
                  </a:txBody>
                  <a:tcPr marL="54864" marR="54864" marT="18288" marB="18288" anchor="ctr">
                    <a:solidFill>
                      <a:srgbClr val="EFF8F6"/>
                    </a:solidFill>
                  </a:tcPr>
                </a:tc>
                <a:tc>
                  <a:txBody>
                    <a:bodyPr/>
                    <a:lstStyle/>
                    <a:p>
                      <a:pPr algn="ctr">
                        <a:defRPr sz="1250" b="0">
                          <a:solidFill>
                            <a:srgbClr val="1F3042"/>
                          </a:solidFill>
                          <a:latin typeface="Arial"/>
                        </a:defRPr>
                      </a:pPr>
                      <a:r>
                        <a:t>1,0000</a:t>
                      </a:r>
                    </a:p>
                  </a:txBody>
                  <a:tcPr marL="54864" marR="54864" marT="18288" marB="18288" anchor="ctr">
                    <a:solidFill>
                      <a:srgbClr val="EFF8F6"/>
                    </a:solidFill>
                  </a:tcPr>
                </a:tc>
                <a:tc>
                  <a:txBody>
                    <a:bodyPr/>
                    <a:lstStyle/>
                    <a:p>
                      <a:pPr algn="ctr">
                        <a:defRPr sz="1250" b="0">
                          <a:solidFill>
                            <a:srgbClr val="1F3042"/>
                          </a:solidFill>
                          <a:latin typeface="Arial"/>
                        </a:defRPr>
                      </a:pPr>
                      <a:r>
                        <a:t>0,7604</a:t>
                      </a:r>
                    </a:p>
                  </a:txBody>
                  <a:tcPr marL="54864" marR="54864" marT="18288" marB="18288" anchor="ctr">
                    <a:solidFill>
                      <a:srgbClr val="EFF8F6"/>
                    </a:solidFill>
                  </a:tcPr>
                </a:tc>
                <a:tc>
                  <a:txBody>
                    <a:bodyPr/>
                    <a:lstStyle/>
                    <a:p>
                      <a:pPr algn="ctr">
                        <a:defRPr sz="1250" b="0">
                          <a:solidFill>
                            <a:srgbClr val="1F3042"/>
                          </a:solidFill>
                          <a:latin typeface="Arial"/>
                        </a:defRPr>
                      </a:pPr>
                      <a:r>
                        <a:t>−0,2396</a:t>
                      </a:r>
                    </a:p>
                  </a:txBody>
                  <a:tcPr marL="54864" marR="54864" marT="18288" marB="18288" anchor="ctr">
                    <a:solidFill>
                      <a:srgbClr val="EFF8F6"/>
                    </a:solidFill>
                  </a:tcPr>
                </a:tc>
                <a:tc>
                  <a:txBody>
                    <a:bodyPr/>
                    <a:lstStyle/>
                    <a:p>
                      <a:pPr algn="ctr">
                        <a:defRPr sz="1250" b="0">
                          <a:solidFill>
                            <a:srgbClr val="1F3042"/>
                          </a:solidFill>
                          <a:latin typeface="Arial"/>
                        </a:defRPr>
                      </a:pPr>
                      <a:r>
                        <a:t>1,0000</a:t>
                      </a:r>
                    </a:p>
                  </a:txBody>
                  <a:tcPr marL="54864" marR="54864" marT="18288" marB="18288" anchor="ctr">
                    <a:solidFill>
                      <a:srgbClr val="EFF8F6"/>
                    </a:solidFill>
                  </a:tcPr>
                </a:tc>
              </a:tr>
              <a:tr h="642366">
                <a:tc>
                  <a:txBody>
                    <a:bodyPr/>
                    <a:lstStyle/>
                    <a:p>
                      <a:pPr algn="ctr">
                        <a:defRPr sz="1250" b="0">
                          <a:solidFill>
                            <a:srgbClr val="1F3042"/>
                          </a:solidFill>
                          <a:latin typeface="Arial"/>
                        </a:defRPr>
                      </a:pPr>
                      <a:r>
                        <a:t>7</a:t>
                      </a:r>
                    </a:p>
                  </a:txBody>
                  <a:tcPr marL="54864" marR="54864" marT="18288" marB="18288" anchor="ctr">
                    <a:solidFill>
                      <a:srgbClr val="FFFFFF"/>
                    </a:solidFill>
                  </a:tcPr>
                </a:tc>
                <a:tc>
                  <a:txBody>
                    <a:bodyPr/>
                    <a:lstStyle/>
                    <a:p>
                      <a:pPr algn="ctr">
                        <a:defRPr sz="1250" b="0">
                          <a:solidFill>
                            <a:srgbClr val="1F3042"/>
                          </a:solidFill>
                          <a:latin typeface="Arial"/>
                        </a:defRPr>
                      </a:pPr>
                      <a:r>
                        <a:t>1,0000</a:t>
                      </a:r>
                    </a:p>
                  </a:txBody>
                  <a:tcPr marL="54864" marR="54864" marT="18288" marB="18288" anchor="ctr">
                    <a:solidFill>
                      <a:srgbClr val="FFFFFF"/>
                    </a:solidFill>
                  </a:tcPr>
                </a:tc>
                <a:tc>
                  <a:txBody>
                    <a:bodyPr/>
                    <a:lstStyle/>
                    <a:p>
                      <a:pPr algn="ctr">
                        <a:defRPr sz="1250" b="0">
                          <a:solidFill>
                            <a:srgbClr val="1F3042"/>
                          </a:solidFill>
                          <a:latin typeface="Arial"/>
                        </a:defRPr>
                      </a:pPr>
                      <a:r>
                        <a:t>0,6309</a:t>
                      </a:r>
                    </a:p>
                  </a:txBody>
                  <a:tcPr marL="54864" marR="54864" marT="18288" marB="18288" anchor="ctr">
                    <a:solidFill>
                      <a:srgbClr val="FFFFFF"/>
                    </a:solidFill>
                  </a:tcPr>
                </a:tc>
                <a:tc>
                  <a:txBody>
                    <a:bodyPr/>
                    <a:lstStyle/>
                    <a:p>
                      <a:pPr algn="ctr">
                        <a:defRPr sz="1250" b="0">
                          <a:solidFill>
                            <a:srgbClr val="1F3042"/>
                          </a:solidFill>
                          <a:latin typeface="Arial"/>
                        </a:defRPr>
                      </a:pPr>
                      <a:r>
                        <a:t>−0,3691</a:t>
                      </a:r>
                    </a:p>
                  </a:txBody>
                  <a:tcPr marL="54864" marR="54864" marT="18288" marB="18288" anchor="ctr">
                    <a:solidFill>
                      <a:srgbClr val="FFFFFF"/>
                    </a:solidFill>
                  </a:tcPr>
                </a:tc>
                <a:tc>
                  <a:txBody>
                    <a:bodyPr/>
                    <a:lstStyle/>
                    <a:p>
                      <a:pPr algn="ctr">
                        <a:defRPr sz="1250" b="0">
                          <a:solidFill>
                            <a:srgbClr val="1F3042"/>
                          </a:solidFill>
                          <a:latin typeface="Arial"/>
                        </a:defRPr>
                      </a:pPr>
                      <a:r>
                        <a:t>1,0000</a:t>
                      </a:r>
                    </a:p>
                  </a:txBody>
                  <a:tcPr marL="54864" marR="54864" marT="18288" marB="18288" anchor="ctr">
                    <a:solidFill>
                      <a:srgbClr val="FFFFFF"/>
                    </a:solidFill>
                  </a:tcPr>
                </a:tc>
              </a:tr>
              <a:tr h="642366">
                <a:tc>
                  <a:txBody>
                    <a:bodyPr/>
                    <a:lstStyle/>
                    <a:p>
                      <a:pPr algn="ctr">
                        <a:defRPr sz="1250" b="0">
                          <a:solidFill>
                            <a:srgbClr val="1F3042"/>
                          </a:solidFill>
                          <a:latin typeface="Arial"/>
                        </a:defRPr>
                      </a:pPr>
                      <a:r>
                        <a:t>999</a:t>
                      </a:r>
                    </a:p>
                  </a:txBody>
                  <a:tcPr marL="54864" marR="54864" marT="18288" marB="18288" anchor="ctr">
                    <a:solidFill>
                      <a:srgbClr val="EFF8F6"/>
                    </a:solidFill>
                  </a:tcPr>
                </a:tc>
                <a:tc>
                  <a:txBody>
                    <a:bodyPr/>
                    <a:lstStyle/>
                    <a:p>
                      <a:pPr algn="ctr">
                        <a:defRPr sz="1250" b="0">
                          <a:solidFill>
                            <a:srgbClr val="1F3042"/>
                          </a:solidFill>
                          <a:latin typeface="Arial"/>
                        </a:defRPr>
                      </a:pPr>
                      <a:r>
                        <a:t>1,0000</a:t>
                      </a:r>
                    </a:p>
                  </a:txBody>
                  <a:tcPr marL="54864" marR="54864" marT="18288" marB="18288" anchor="ctr">
                    <a:solidFill>
                      <a:srgbClr val="EFF8F6"/>
                    </a:solidFill>
                  </a:tcPr>
                </a:tc>
                <a:tc>
                  <a:txBody>
                    <a:bodyPr/>
                    <a:lstStyle/>
                    <a:p>
                      <a:pPr algn="ctr">
                        <a:defRPr sz="1250" b="0">
                          <a:solidFill>
                            <a:srgbClr val="1F3042"/>
                          </a:solidFill>
                          <a:latin typeface="Arial"/>
                        </a:defRPr>
                      </a:pPr>
                      <a:r>
                        <a:t>0,5911</a:t>
                      </a:r>
                    </a:p>
                  </a:txBody>
                  <a:tcPr marL="54864" marR="54864" marT="18288" marB="18288" anchor="ctr">
                    <a:solidFill>
                      <a:srgbClr val="EFF8F6"/>
                    </a:solidFill>
                  </a:tcPr>
                </a:tc>
                <a:tc>
                  <a:txBody>
                    <a:bodyPr/>
                    <a:lstStyle/>
                    <a:p>
                      <a:pPr algn="ctr">
                        <a:defRPr sz="1250" b="0">
                          <a:solidFill>
                            <a:srgbClr val="1F3042"/>
                          </a:solidFill>
                          <a:latin typeface="Arial"/>
                        </a:defRPr>
                      </a:pPr>
                      <a:r>
                        <a:t>−0,4089</a:t>
                      </a:r>
                    </a:p>
                  </a:txBody>
                  <a:tcPr marL="54864" marR="54864" marT="18288" marB="18288" anchor="ctr">
                    <a:solidFill>
                      <a:srgbClr val="EFF8F6"/>
                    </a:solidFill>
                  </a:tcPr>
                </a:tc>
                <a:tc>
                  <a:txBody>
                    <a:bodyPr/>
                    <a:lstStyle/>
                    <a:p>
                      <a:pPr algn="ctr">
                        <a:defRPr sz="1250" b="0">
                          <a:solidFill>
                            <a:srgbClr val="1F3042"/>
                          </a:solidFill>
                          <a:latin typeface="Arial"/>
                        </a:defRPr>
                      </a:pPr>
                      <a:r>
                        <a:t>1,0000</a:t>
                      </a:r>
                    </a:p>
                  </a:txBody>
                  <a:tcPr marL="54864" marR="54864" marT="18288" marB="18288" anchor="ctr">
                    <a:solidFill>
                      <a:srgbClr val="EFF8F6"/>
                    </a:solidFill>
                  </a:tcPr>
                </a:tc>
              </a:tr>
            </a:tbl>
          </a:graphicData>
        </a:graphic>
      </p:graphicFrame>
      <p:sp>
        <p:nvSpPr>
          <p:cNvPr id="12" name="Rounded Rectangle 11"/>
          <p:cNvSpPr/>
          <p:nvPr/>
        </p:nvSpPr>
        <p:spPr>
          <a:xfrm>
            <a:off x="8275320" y="2377440"/>
            <a:ext cx="3392424" cy="2916936"/>
          </a:xfrm>
          <a:prstGeom prst="roundRect">
            <a:avLst>
              <a:gd name="adj" fmla="val 8000"/>
            </a:avLst>
          </a:prstGeom>
          <a:solidFill>
            <a:srgbClr val="FCFAF5"/>
          </a:solidFill>
          <a:ln>
            <a:solidFill>
              <a:srgbClr val="D6E1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439912" y="2542032"/>
            <a:ext cx="3008376"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KẾT QUẢ</a:t>
            </a:r>
          </a:p>
        </p:txBody>
      </p:sp>
      <p:sp>
        <p:nvSpPr>
          <p:cNvPr id="14" name="TextBox 13"/>
          <p:cNvSpPr txBox="1"/>
          <p:nvPr/>
        </p:nvSpPr>
        <p:spPr>
          <a:xfrm>
            <a:off x="8439912" y="2889504"/>
            <a:ext cx="3017520" cy="1225296"/>
          </a:xfrm>
          <a:prstGeom prst="rect">
            <a:avLst/>
          </a:prstGeom>
          <a:noFill/>
        </p:spPr>
        <p:txBody>
          <a:bodyPr wrap="square" lIns="9144" rIns="9144" tIns="9144" bIns="9144" anchor="ctr">
            <a:spAutoFit/>
          </a:bodyPr>
          <a:lstStyle/>
          <a:p>
            <a:pPr algn="l">
              <a:spcBef>
                <a:spcPts val="0"/>
              </a:spcBef>
              <a:spcAft>
                <a:spcPts val="0"/>
              </a:spcAft>
              <a:defRPr sz="1620" b="1">
                <a:solidFill>
                  <a:srgbClr val="95463A"/>
                </a:solidFill>
                <a:latin typeface="Arial"/>
              </a:defRPr>
            </a:pPr>
            <a:r>
              <a:t>ΔAP trung bình</a:t>
            </a:r>
          </a:p>
          <a:p>
            <a:pPr algn="l">
              <a:spcBef>
                <a:spcPts val="0"/>
              </a:spcBef>
              <a:spcAft>
                <a:spcPts val="0"/>
              </a:spcAft>
              <a:defRPr sz="1620" b="1">
                <a:solidFill>
                  <a:srgbClr val="95463A"/>
                </a:solidFill>
                <a:latin typeface="Arial"/>
              </a:defRPr>
            </a:pPr>
            <a:r>
              <a:t>−0,3392 ± 0,0885</a:t>
            </a:r>
          </a:p>
          <a:p>
            <a:pPr algn="l">
              <a:spcBef>
                <a:spcPts val="0"/>
              </a:spcBef>
              <a:spcAft>
                <a:spcPts val="0"/>
              </a:spcAft>
              <a:defRPr sz="1620" b="1">
                <a:solidFill>
                  <a:srgbClr val="95463A"/>
                </a:solidFill>
                <a:latin typeface="Arial"/>
              </a:defRPr>
            </a:pPr>
            <a:r>
              <a:t>(SD mẫu; n = 3)</a:t>
            </a:r>
          </a:p>
        </p:txBody>
      </p:sp>
      <p:sp>
        <p:nvSpPr>
          <p:cNvPr id="15" name="TextBox 14"/>
          <p:cNvSpPr txBox="1"/>
          <p:nvPr/>
        </p:nvSpPr>
        <p:spPr>
          <a:xfrm>
            <a:off x="8439912" y="4379976"/>
            <a:ext cx="2971800" cy="649224"/>
          </a:xfrm>
          <a:prstGeom prst="rect">
            <a:avLst/>
          </a:prstGeom>
          <a:noFill/>
        </p:spPr>
        <p:txBody>
          <a:bodyPr wrap="square" lIns="9144" rIns="9144" tIns="9144" bIns="9144" anchor="ctr">
            <a:spAutoFit/>
          </a:bodyPr>
          <a:lstStyle/>
          <a:p>
            <a:pPr algn="l">
              <a:spcBef>
                <a:spcPts val="0"/>
              </a:spcBef>
              <a:spcAft>
                <a:spcPts val="0"/>
              </a:spcAft>
              <a:defRPr sz="1290" b="1">
                <a:solidFill>
                  <a:srgbClr val="1F3042"/>
                </a:solidFill>
                <a:latin typeface="Arial"/>
              </a:defRPr>
            </a:pPr>
            <a:r>
              <a:t>Cả 3 cặp dưới −0,02. H2 không được hỗ trợ ở đối chứng đã làm.</a:t>
            </a:r>
          </a:p>
        </p:txBody>
      </p:sp>
      <p:sp>
        <p:nvSpPr>
          <p:cNvPr id="16" name="TextBox 15"/>
          <p:cNvSpPr txBox="1"/>
          <p:nvPr/>
        </p:nvSpPr>
        <p:spPr>
          <a:xfrm>
            <a:off x="640080" y="5513832"/>
            <a:ext cx="10972800" cy="411480"/>
          </a:xfrm>
          <a:prstGeom prst="rect">
            <a:avLst/>
          </a:prstGeom>
          <a:noFill/>
        </p:spPr>
        <p:txBody>
          <a:bodyPr wrap="square" lIns="9144" rIns="9144" tIns="9144" bIns="9144" anchor="ctr">
            <a:spAutoFit/>
          </a:bodyPr>
          <a:lstStyle/>
          <a:p>
            <a:pPr algn="l">
              <a:spcBef>
                <a:spcPts val="0"/>
              </a:spcBef>
              <a:spcAft>
                <a:spcPts val="0"/>
              </a:spcAft>
              <a:defRPr sz="1230" b="0">
                <a:solidFill>
                  <a:srgbClr val="1F3042"/>
                </a:solidFill>
                <a:latin typeface="Arial"/>
              </a:defRPr>
            </a:pPr>
            <a:r>
              <a:t>Che khe tham số Sequence ở cả Train/Val rồi fit probe mới: AP vẫn 1,0000. Điều này bác cách giải thích đơn giản rằng kết quả chỉ do khe tham số.</a:t>
            </a:r>
          </a:p>
        </p:txBody>
      </p:sp>
      <p:sp>
        <p:nvSpPr>
          <p:cNvPr id="17" name="TextBox 16"/>
          <p:cNvSpPr txBox="1"/>
          <p:nvPr/>
        </p:nvSpPr>
        <p:spPr>
          <a:xfrm>
            <a:off x="566928" y="6108192"/>
            <a:ext cx="11018520" cy="237744"/>
          </a:xfrm>
          <a:prstGeom prst="rect">
            <a:avLst/>
          </a:prstGeom>
          <a:noFill/>
        </p:spPr>
        <p:txBody>
          <a:bodyPr wrap="square" lIns="9144" rIns="9144" tIns="9144" bIns="9144" anchor="ctr">
            <a:spAutoFit/>
          </a:bodyPr>
          <a:lstStyle/>
          <a:p>
            <a:pPr algn="l">
              <a:spcBef>
                <a:spcPts val="0"/>
              </a:spcBef>
              <a:spcAft>
                <a:spcPts val="0"/>
              </a:spcAft>
              <a:defRPr sz="1150" b="1">
                <a:solidFill>
                  <a:srgbClr val="1E7475"/>
                </a:solidFill>
                <a:latin typeface="Arial"/>
              </a:defRPr>
            </a:pPr>
            <a:r>
              <a:t>Mở: scripts/run_h2_sequence_noparam_sensitivity.py → H2_SEQUENCE_NOPARAM_SENSITIVITY.json</a:t>
            </a:r>
          </a:p>
        </p:txBody>
      </p:sp>
    </p:spTree>
    <p:extLst>
      <p:ext uri="{BB962C8B-B14F-4D97-AF65-F5344CB8AC3E}">
        <p14:creationId xmlns:p14="http://schemas.microsoft.com/office/powerpoint/2010/main" val="203475866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19456"/>
            <a:ext cx="11064240" cy="429768"/>
          </a:xfrm>
          <a:prstGeom prst="rect">
            <a:avLst/>
          </a:prstGeom>
          <a:noFill/>
        </p:spPr>
        <p:txBody>
          <a:bodyPr wrap="square" lIns="9144" rIns="9144" tIns="9144" bIns="9144" anchor="ctr">
            <a:spAutoFit/>
          </a:bodyPr>
          <a:lstStyle/>
          <a:p>
            <a:pPr algn="l">
              <a:spcBef>
                <a:spcPts val="0"/>
              </a:spcBef>
              <a:spcAft>
                <a:spcPts val="0"/>
              </a:spcAft>
              <a:defRPr sz="2600" b="1">
                <a:solidFill>
                  <a:srgbClr val="1F3042"/>
                </a:solidFill>
                <a:latin typeface="Arial"/>
              </a:defRPr>
            </a:pPr>
            <a:r>
              <a:t>H1: đo thay đổi vector, không suy quá cấp độ</a:t>
            </a:r>
          </a:p>
        </p:txBody>
      </p:sp>
      <p:sp>
        <p:nvSpPr>
          <p:cNvPr id="3" name="TextBox 2"/>
          <p:cNvSpPr txBox="1"/>
          <p:nvPr/>
        </p:nvSpPr>
        <p:spPr>
          <a:xfrm>
            <a:off x="521207" y="731520"/>
            <a:ext cx="11064240" cy="256032"/>
          </a:xfrm>
          <a:prstGeom prst="rect">
            <a:avLst/>
          </a:prstGeom>
          <a:noFill/>
        </p:spPr>
        <p:txBody>
          <a:bodyPr wrap="square" lIns="9144" rIns="9144" tIns="9144" bIns="9144" anchor="ctr">
            <a:spAutoFit/>
          </a:bodyPr>
          <a:lstStyle/>
          <a:p>
            <a:pPr algn="l">
              <a:spcBef>
                <a:spcPts val="0"/>
              </a:spcBef>
              <a:spcAft>
                <a:spcPts val="0"/>
              </a:spcAft>
              <a:defRPr sz="1300" b="0">
                <a:solidFill>
                  <a:srgbClr val="5E6970"/>
                </a:solidFill>
                <a:latin typeface="Arial"/>
              </a:defRPr>
            </a:pPr>
            <a:r>
              <a:t>Nhãn tham số ở cấp khe/token; đầu dò V3 đánh giá một vector 128 chiều cấp phiên</a:t>
            </a:r>
          </a:p>
        </p:txBody>
      </p:sp>
      <p:sp>
        <p:nvSpPr>
          <p:cNvPr id="4" name="Rectangle 3"/>
          <p:cNvSpPr/>
          <p:nvPr/>
        </p:nvSpPr>
        <p:spPr>
          <a:xfrm>
            <a:off x="512064" y="1097280"/>
            <a:ext cx="11155680" cy="16459"/>
          </a:xfrm>
          <a:prstGeom prst="rect">
            <a:avLst/>
          </a:prstGeom>
          <a:solidFill>
            <a:srgbClr val="1E7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6437376"/>
            <a:ext cx="10378440" cy="173736"/>
          </a:xfrm>
          <a:prstGeom prst="rect">
            <a:avLst/>
          </a:prstGeom>
          <a:noFill/>
        </p:spPr>
        <p:txBody>
          <a:bodyPr wrap="square" lIns="9144" rIns="9144" tIns="9144" bIns="9144" anchor="ctr">
            <a:spAutoFit/>
          </a:bodyPr>
          <a:lstStyle/>
          <a:p>
            <a:pPr algn="l">
              <a:spcBef>
                <a:spcPts val="0"/>
              </a:spcBef>
              <a:spcAft>
                <a:spcPts val="0"/>
              </a:spcAft>
              <a:defRPr sz="919" b="0">
                <a:solidFill>
                  <a:srgbClr val="5E6970"/>
                </a:solidFill>
                <a:latin typeface="Arial"/>
              </a:defRPr>
            </a:pPr>
            <a:r>
              <a:t>Word: Mục 3.2.3, Bảng 3.8–3.9  ·  scripts/run_h1_masking_ablation.py</a:t>
            </a:r>
          </a:p>
        </p:txBody>
      </p:sp>
      <p:sp>
        <p:nvSpPr>
          <p:cNvPr id="6" name="TextBox 5"/>
          <p:cNvSpPr txBox="1"/>
          <p:nvPr/>
        </p:nvSpPr>
        <p:spPr>
          <a:xfrm>
            <a:off x="10881360" y="6437376"/>
            <a:ext cx="758952" cy="173736"/>
          </a:xfrm>
          <a:prstGeom prst="rect">
            <a:avLst/>
          </a:prstGeom>
          <a:noFill/>
        </p:spPr>
        <p:txBody>
          <a:bodyPr wrap="square" lIns="9144" rIns="9144" tIns="9144" bIns="9144" anchor="ctr">
            <a:spAutoFit/>
          </a:bodyPr>
          <a:lstStyle/>
          <a:p>
            <a:pPr algn="r">
              <a:spcBef>
                <a:spcPts val="0"/>
              </a:spcBef>
              <a:spcAft>
                <a:spcPts val="0"/>
              </a:spcAft>
              <a:defRPr sz="919" b="1">
                <a:solidFill>
                  <a:srgbClr val="5E6970"/>
                </a:solidFill>
                <a:latin typeface="Arial"/>
              </a:defRPr>
            </a:pPr>
            <a:r>
              <a:t>09 / 10</a:t>
            </a:r>
          </a:p>
        </p:txBody>
      </p:sp>
      <p:sp>
        <p:nvSpPr>
          <p:cNvPr id="7" name="Rounded Rectangle 6"/>
          <p:cNvSpPr/>
          <p:nvPr/>
        </p:nvSpPr>
        <p:spPr>
          <a:xfrm>
            <a:off x="512064" y="1325880"/>
            <a:ext cx="3739896" cy="4471416"/>
          </a:xfrm>
          <a:prstGeom prst="roundRect">
            <a:avLst>
              <a:gd name="adj" fmla="val 8000"/>
            </a:avLst>
          </a:prstGeom>
          <a:solidFill>
            <a:srgbClr val="EF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8" name="TextBox 7"/>
          <p:cNvSpPr txBox="1"/>
          <p:nvPr/>
        </p:nvSpPr>
        <p:spPr>
          <a:xfrm>
            <a:off x="704088" y="1481328"/>
            <a:ext cx="3401568"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PHÉP THỬ CẮT BỎ</a:t>
            </a:r>
          </a:p>
        </p:txBody>
      </p:sp>
      <p:sp>
        <p:nvSpPr>
          <p:cNvPr id="9" name="TextBox 8"/>
          <p:cNvSpPr txBox="1"/>
          <p:nvPr/>
        </p:nvSpPr>
        <p:spPr>
          <a:xfrm>
            <a:off x="704088" y="1828800"/>
            <a:ext cx="3355848" cy="1874519"/>
          </a:xfrm>
          <a:prstGeom prst="rect">
            <a:avLst/>
          </a:prstGeom>
          <a:noFill/>
        </p:spPr>
        <p:txBody>
          <a:bodyPr wrap="square" lIns="9144" rIns="9144" tIns="9144" bIns="9144" anchor="ctr">
            <a:spAutoFit/>
          </a:bodyPr>
          <a:lstStyle/>
          <a:p>
            <a:pPr algn="l">
              <a:spcBef>
                <a:spcPts val="0"/>
              </a:spcBef>
              <a:spcAft>
                <a:spcPts val="0"/>
              </a:spcAft>
              <a:defRPr sz="1370" b="0">
                <a:solidFill>
                  <a:srgbClr val="1F3042"/>
                </a:solidFill>
                <a:latin typeface="Arial"/>
              </a:defRPr>
            </a:pPr>
            <a:r>
              <a:t>Giữ cùng checkpoint. Trích xuất z khi có tham số và z′ khi che khe tham số.</a:t>
            </a:r>
          </a:p>
          <a:p>
            <a:pPr algn="l">
              <a:spcBef>
                <a:spcPts val="0"/>
              </a:spcBef>
              <a:spcAft>
                <a:spcPts val="0"/>
              </a:spcAft>
              <a:defRPr sz="1370" b="0">
                <a:solidFill>
                  <a:srgbClr val="1F3042"/>
                </a:solidFill>
                <a:latin typeface="Arial"/>
              </a:defRPr>
            </a:pPr>
          </a:p>
          <a:p>
            <a:pPr algn="l">
              <a:spcBef>
                <a:spcPts val="0"/>
              </a:spcBef>
              <a:spcAft>
                <a:spcPts val="0"/>
              </a:spcAft>
              <a:defRPr sz="1370" b="0">
                <a:solidFill>
                  <a:srgbClr val="1F3042"/>
                </a:solidFill>
                <a:latin typeface="Arial"/>
              </a:defRPr>
            </a:pPr>
            <a:r>
              <a:t>Đo cosine(z,z′), khoảng cách L2 và AP cấp phiên. Cosine gần 1: hướng giống hơn; L2 lớn: xa hơn.</a:t>
            </a:r>
          </a:p>
        </p:txBody>
      </p:sp>
      <p:sp>
        <p:nvSpPr>
          <p:cNvPr id="10" name="TextBox 9"/>
          <p:cNvSpPr txBox="1"/>
          <p:nvPr/>
        </p:nvSpPr>
        <p:spPr>
          <a:xfrm>
            <a:off x="704088" y="4123944"/>
            <a:ext cx="3319272" cy="1124712"/>
          </a:xfrm>
          <a:prstGeom prst="rect">
            <a:avLst/>
          </a:prstGeom>
          <a:noFill/>
        </p:spPr>
        <p:txBody>
          <a:bodyPr wrap="square" lIns="9144" rIns="9144" tIns="9144" bIns="9144" anchor="ctr">
            <a:spAutoFit/>
          </a:bodyPr>
          <a:lstStyle/>
          <a:p>
            <a:pPr algn="l">
              <a:spcBef>
                <a:spcPts val="0"/>
              </a:spcBef>
              <a:spcAft>
                <a:spcPts val="0"/>
              </a:spcAft>
              <a:defRPr sz="1420" b="1">
                <a:solidFill>
                  <a:srgbClr val="95463A"/>
                </a:solidFill>
                <a:latin typeface="Arial"/>
              </a:defRPr>
            </a:pPr>
            <a:r>
              <a:t>Quan sát: vector đổi, AP không đổi. Chưa đo trực tiếp khả năng giữ đúng ngữ nghĩa của từng khe.</a:t>
            </a:r>
          </a:p>
        </p:txBody>
      </p:sp>
      <p:sp>
        <p:nvSpPr>
          <p:cNvPr id="11" name="TextBox 10"/>
          <p:cNvSpPr txBox="1"/>
          <p:nvPr/>
        </p:nvSpPr>
        <p:spPr>
          <a:xfrm>
            <a:off x="4489704" y="1399032"/>
            <a:ext cx="7178040"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BẢNG 3.9 · CÙNG CHECKPOINT TRƯỚC/SAU CHE</a:t>
            </a:r>
          </a:p>
        </p:txBody>
      </p:sp>
      <p:graphicFrame>
        <p:nvGraphicFramePr>
          <p:cNvPr id="12" name="Table 11"/>
          <p:cNvGraphicFramePr>
            <a:graphicFrameLocks noGrp="1"/>
          </p:cNvGraphicFramePr>
          <p:nvPr/>
        </p:nvGraphicFramePr>
        <p:xfrm>
          <a:off x="4489704" y="1737360"/>
          <a:ext cx="7178040" cy="2505456"/>
        </p:xfrm>
        <a:graphic>
          <a:graphicData uri="http://schemas.openxmlformats.org/drawingml/2006/table">
            <a:tbl>
              <a:tblPr firstRow="1" bandRow="1">
                <a:tableStyleId>{5C22544A-7EE6-4342-B048-85BDC9FD1C3A}</a:tableStyleId>
              </a:tblPr>
              <a:tblGrid>
                <a:gridCol w="740664"/>
                <a:gridCol w="1554480"/>
                <a:gridCol w="1362456"/>
                <a:gridCol w="3520440"/>
              </a:tblGrid>
              <a:tr h="626364">
                <a:tc>
                  <a:txBody>
                    <a:bodyPr/>
                    <a:lstStyle/>
                    <a:p>
                      <a:pPr algn="ctr">
                        <a:defRPr sz="1150" b="1">
                          <a:solidFill>
                            <a:srgbClr val="FFFFFF"/>
                          </a:solidFill>
                          <a:latin typeface="Arial"/>
                        </a:defRPr>
                      </a:pPr>
                      <a:r>
                        <a:t>Seed</a:t>
                      </a:r>
                    </a:p>
                  </a:txBody>
                  <a:tcPr marL="54864" marR="54864" marT="18288" marB="18288" anchor="ctr">
                    <a:solidFill>
                      <a:srgbClr val="1E7475"/>
                    </a:solidFill>
                  </a:tcPr>
                </a:tc>
                <a:tc>
                  <a:txBody>
                    <a:bodyPr/>
                    <a:lstStyle/>
                    <a:p>
                      <a:pPr algn="ctr">
                        <a:defRPr sz="1150" b="1">
                          <a:solidFill>
                            <a:srgbClr val="FFFFFF"/>
                          </a:solidFill>
                          <a:latin typeface="Arial"/>
                        </a:defRPr>
                      </a:pPr>
                      <a:r>
                        <a:t>Cosine</a:t>
                      </a:r>
                    </a:p>
                  </a:txBody>
                  <a:tcPr marL="54864" marR="54864" marT="18288" marB="18288" anchor="ctr">
                    <a:solidFill>
                      <a:srgbClr val="1E7475"/>
                    </a:solidFill>
                  </a:tcPr>
                </a:tc>
                <a:tc>
                  <a:txBody>
                    <a:bodyPr/>
                    <a:lstStyle/>
                    <a:p>
                      <a:pPr algn="ctr">
                        <a:defRPr sz="1150" b="1">
                          <a:solidFill>
                            <a:srgbClr val="FFFFFF"/>
                          </a:solidFill>
                          <a:latin typeface="Arial"/>
                        </a:defRPr>
                      </a:pPr>
                      <a:r>
                        <a:t>L2</a:t>
                      </a:r>
                    </a:p>
                  </a:txBody>
                  <a:tcPr marL="54864" marR="54864" marT="18288" marB="18288" anchor="ctr">
                    <a:solidFill>
                      <a:srgbClr val="1E7475"/>
                    </a:solidFill>
                  </a:tcPr>
                </a:tc>
                <a:tc>
                  <a:txBody>
                    <a:bodyPr/>
                    <a:lstStyle/>
                    <a:p>
                      <a:pPr algn="ctr">
                        <a:defRPr sz="1150" b="1">
                          <a:solidFill>
                            <a:srgbClr val="FFFFFF"/>
                          </a:solidFill>
                          <a:latin typeface="Arial"/>
                        </a:defRPr>
                      </a:pPr>
                      <a:r>
                        <a:t>AP có / che</a:t>
                      </a:r>
                    </a:p>
                  </a:txBody>
                  <a:tcPr marL="54864" marR="54864" marT="18288" marB="18288" anchor="ctr">
                    <a:solidFill>
                      <a:srgbClr val="1E7475"/>
                    </a:solidFill>
                  </a:tcPr>
                </a:tc>
              </a:tr>
              <a:tr h="626364">
                <a:tc>
                  <a:txBody>
                    <a:bodyPr/>
                    <a:lstStyle/>
                    <a:p>
                      <a:pPr algn="ctr">
                        <a:defRPr sz="1300" b="0">
                          <a:solidFill>
                            <a:srgbClr val="1F3042"/>
                          </a:solidFill>
                          <a:latin typeface="Arial"/>
                        </a:defRPr>
                      </a:pPr>
                      <a:r>
                        <a:t>42</a:t>
                      </a:r>
                    </a:p>
                  </a:txBody>
                  <a:tcPr marL="54864" marR="54864" marT="18288" marB="18288" anchor="ctr">
                    <a:solidFill>
                      <a:srgbClr val="EFF8F6"/>
                    </a:solidFill>
                  </a:tcPr>
                </a:tc>
                <a:tc>
                  <a:txBody>
                    <a:bodyPr/>
                    <a:lstStyle/>
                    <a:p>
                      <a:pPr algn="ctr">
                        <a:defRPr sz="1300" b="0">
                          <a:solidFill>
                            <a:srgbClr val="1F3042"/>
                          </a:solidFill>
                          <a:latin typeface="Arial"/>
                        </a:defRPr>
                      </a:pPr>
                      <a:r>
                        <a:t>0,9581</a:t>
                      </a:r>
                    </a:p>
                  </a:txBody>
                  <a:tcPr marL="54864" marR="54864" marT="18288" marB="18288" anchor="ctr">
                    <a:solidFill>
                      <a:srgbClr val="EFF8F6"/>
                    </a:solidFill>
                  </a:tcPr>
                </a:tc>
                <a:tc>
                  <a:txBody>
                    <a:bodyPr/>
                    <a:lstStyle/>
                    <a:p>
                      <a:pPr algn="ctr">
                        <a:defRPr sz="1300" b="0">
                          <a:solidFill>
                            <a:srgbClr val="1F3042"/>
                          </a:solidFill>
                          <a:latin typeface="Arial"/>
                        </a:defRPr>
                      </a:pPr>
                      <a:r>
                        <a:t>3,2742</a:t>
                      </a:r>
                    </a:p>
                  </a:txBody>
                  <a:tcPr marL="54864" marR="54864" marT="18288" marB="18288" anchor="ctr">
                    <a:solidFill>
                      <a:srgbClr val="EFF8F6"/>
                    </a:solidFill>
                  </a:tcPr>
                </a:tc>
                <a:tc>
                  <a:txBody>
                    <a:bodyPr/>
                    <a:lstStyle/>
                    <a:p>
                      <a:pPr algn="ctr">
                        <a:defRPr sz="1300" b="0">
                          <a:solidFill>
                            <a:srgbClr val="1F3042"/>
                          </a:solidFill>
                          <a:latin typeface="Arial"/>
                        </a:defRPr>
                      </a:pPr>
                      <a:r>
                        <a:t>1,0000 / 1,0000</a:t>
                      </a:r>
                    </a:p>
                  </a:txBody>
                  <a:tcPr marL="54864" marR="54864" marT="18288" marB="18288" anchor="ctr">
                    <a:solidFill>
                      <a:srgbClr val="EFF8F6"/>
                    </a:solidFill>
                  </a:tcPr>
                </a:tc>
              </a:tr>
              <a:tr h="626364">
                <a:tc>
                  <a:txBody>
                    <a:bodyPr/>
                    <a:lstStyle/>
                    <a:p>
                      <a:pPr algn="ctr">
                        <a:defRPr sz="1300" b="0">
                          <a:solidFill>
                            <a:srgbClr val="1F3042"/>
                          </a:solidFill>
                          <a:latin typeface="Arial"/>
                        </a:defRPr>
                      </a:pPr>
                      <a:r>
                        <a:t>7</a:t>
                      </a:r>
                    </a:p>
                  </a:txBody>
                  <a:tcPr marL="54864" marR="54864" marT="18288" marB="18288" anchor="ctr">
                    <a:solidFill>
                      <a:srgbClr val="FFFFFF"/>
                    </a:solidFill>
                  </a:tcPr>
                </a:tc>
                <a:tc>
                  <a:txBody>
                    <a:bodyPr/>
                    <a:lstStyle/>
                    <a:p>
                      <a:pPr algn="ctr">
                        <a:defRPr sz="1300" b="0">
                          <a:solidFill>
                            <a:srgbClr val="1F3042"/>
                          </a:solidFill>
                          <a:latin typeface="Arial"/>
                        </a:defRPr>
                      </a:pPr>
                      <a:r>
                        <a:t>0,8201</a:t>
                      </a:r>
                    </a:p>
                  </a:txBody>
                  <a:tcPr marL="54864" marR="54864" marT="18288" marB="18288" anchor="ctr">
                    <a:solidFill>
                      <a:srgbClr val="FFFFFF"/>
                    </a:solidFill>
                  </a:tcPr>
                </a:tc>
                <a:tc>
                  <a:txBody>
                    <a:bodyPr/>
                    <a:lstStyle/>
                    <a:p>
                      <a:pPr algn="ctr">
                        <a:defRPr sz="1300" b="0">
                          <a:solidFill>
                            <a:srgbClr val="1F3042"/>
                          </a:solidFill>
                          <a:latin typeface="Arial"/>
                        </a:defRPr>
                      </a:pPr>
                      <a:r>
                        <a:t>6,7778</a:t>
                      </a:r>
                    </a:p>
                  </a:txBody>
                  <a:tcPr marL="54864" marR="54864" marT="18288" marB="18288" anchor="ctr">
                    <a:solidFill>
                      <a:srgbClr val="FFFFFF"/>
                    </a:solidFill>
                  </a:tcPr>
                </a:tc>
                <a:tc>
                  <a:txBody>
                    <a:bodyPr/>
                    <a:lstStyle/>
                    <a:p>
                      <a:pPr algn="ctr">
                        <a:defRPr sz="1300" b="0">
                          <a:solidFill>
                            <a:srgbClr val="1F3042"/>
                          </a:solidFill>
                          <a:latin typeface="Arial"/>
                        </a:defRPr>
                      </a:pPr>
                      <a:r>
                        <a:t>1,0000 / 1,0000</a:t>
                      </a:r>
                    </a:p>
                  </a:txBody>
                  <a:tcPr marL="54864" marR="54864" marT="18288" marB="18288" anchor="ctr">
                    <a:solidFill>
                      <a:srgbClr val="FFFFFF"/>
                    </a:solidFill>
                  </a:tcPr>
                </a:tc>
              </a:tr>
              <a:tr h="626364">
                <a:tc>
                  <a:txBody>
                    <a:bodyPr/>
                    <a:lstStyle/>
                    <a:p>
                      <a:pPr algn="ctr">
                        <a:defRPr sz="1300" b="0">
                          <a:solidFill>
                            <a:srgbClr val="1F3042"/>
                          </a:solidFill>
                          <a:latin typeface="Arial"/>
                        </a:defRPr>
                      </a:pPr>
                      <a:r>
                        <a:t>999</a:t>
                      </a:r>
                    </a:p>
                  </a:txBody>
                  <a:tcPr marL="54864" marR="54864" marT="18288" marB="18288" anchor="ctr">
                    <a:solidFill>
                      <a:srgbClr val="EFF8F6"/>
                    </a:solidFill>
                  </a:tcPr>
                </a:tc>
                <a:tc>
                  <a:txBody>
                    <a:bodyPr/>
                    <a:lstStyle/>
                    <a:p>
                      <a:pPr algn="ctr">
                        <a:defRPr sz="1300" b="0">
                          <a:solidFill>
                            <a:srgbClr val="1F3042"/>
                          </a:solidFill>
                          <a:latin typeface="Arial"/>
                        </a:defRPr>
                      </a:pPr>
                      <a:r>
                        <a:t>0,9546</a:t>
                      </a:r>
                    </a:p>
                  </a:txBody>
                  <a:tcPr marL="54864" marR="54864" marT="18288" marB="18288" anchor="ctr">
                    <a:solidFill>
                      <a:srgbClr val="EFF8F6"/>
                    </a:solidFill>
                  </a:tcPr>
                </a:tc>
                <a:tc>
                  <a:txBody>
                    <a:bodyPr/>
                    <a:lstStyle/>
                    <a:p>
                      <a:pPr algn="ctr">
                        <a:defRPr sz="1300" b="0">
                          <a:solidFill>
                            <a:srgbClr val="1F3042"/>
                          </a:solidFill>
                          <a:latin typeface="Arial"/>
                        </a:defRPr>
                      </a:pPr>
                      <a:r>
                        <a:t>3,4056</a:t>
                      </a:r>
                    </a:p>
                  </a:txBody>
                  <a:tcPr marL="54864" marR="54864" marT="18288" marB="18288" anchor="ctr">
                    <a:solidFill>
                      <a:srgbClr val="EFF8F6"/>
                    </a:solidFill>
                  </a:tcPr>
                </a:tc>
                <a:tc>
                  <a:txBody>
                    <a:bodyPr/>
                    <a:lstStyle/>
                    <a:p>
                      <a:pPr algn="ctr">
                        <a:defRPr sz="1300" b="0">
                          <a:solidFill>
                            <a:srgbClr val="1F3042"/>
                          </a:solidFill>
                          <a:latin typeface="Arial"/>
                        </a:defRPr>
                      </a:pPr>
                      <a:r>
                        <a:t>1,0000 / 1,0000</a:t>
                      </a:r>
                    </a:p>
                  </a:txBody>
                  <a:tcPr marL="54864" marR="54864" marT="18288" marB="18288" anchor="ctr">
                    <a:solidFill>
                      <a:srgbClr val="EFF8F6"/>
                    </a:solidFill>
                  </a:tcPr>
                </a:tc>
              </a:tr>
            </a:tbl>
          </a:graphicData>
        </a:graphic>
      </p:graphicFrame>
      <p:sp>
        <p:nvSpPr>
          <p:cNvPr id="13" name="Rounded Rectangle 12"/>
          <p:cNvSpPr/>
          <p:nvPr/>
        </p:nvSpPr>
        <p:spPr>
          <a:xfrm>
            <a:off x="4489704" y="4462272"/>
            <a:ext cx="7178040" cy="1335024"/>
          </a:xfrm>
          <a:prstGeom prst="roundRect">
            <a:avLst>
              <a:gd name="adj" fmla="val 8000"/>
            </a:avLst>
          </a:prstGeom>
          <a:solidFill>
            <a:srgbClr val="FCFAF5"/>
          </a:solidFill>
          <a:ln>
            <a:solidFill>
              <a:srgbClr val="D6E1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4" name="TextBox 13"/>
          <p:cNvSpPr txBox="1"/>
          <p:nvPr/>
        </p:nvSpPr>
        <p:spPr>
          <a:xfrm>
            <a:off x="4645152" y="4590288"/>
            <a:ext cx="6839712"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BẢNG 3.8 · LƯỢT TÁI LẬP SEED 42</a:t>
            </a:r>
          </a:p>
        </p:txBody>
      </p:sp>
      <p:sp>
        <p:nvSpPr>
          <p:cNvPr id="15" name="TextBox 14"/>
          <p:cNvSpPr txBox="1"/>
          <p:nvPr/>
        </p:nvSpPr>
        <p:spPr>
          <a:xfrm>
            <a:off x="4645152" y="4873752"/>
            <a:ext cx="6848856" cy="777240"/>
          </a:xfrm>
          <a:prstGeom prst="rect">
            <a:avLst/>
          </a:prstGeom>
          <a:noFill/>
        </p:spPr>
        <p:txBody>
          <a:bodyPr wrap="square" lIns="9144" rIns="9144" tIns="9144" bIns="9144" anchor="ctr">
            <a:spAutoFit/>
          </a:bodyPr>
          <a:lstStyle/>
          <a:p>
            <a:pPr algn="l">
              <a:spcBef>
                <a:spcPts val="0"/>
              </a:spcBef>
              <a:spcAft>
                <a:spcPts val="0"/>
              </a:spcAft>
              <a:defRPr sz="1210" b="0">
                <a:solidFill>
                  <a:srgbClr val="1F3042"/>
                </a:solidFill>
                <a:latin typeface="Arial"/>
              </a:defRPr>
            </a:pPr>
            <a:r>
              <a:t>6 epoch; tốt nhất epoch 3; Val loss 0,009218; VRAM 170,45 MB.</a:t>
            </a:r>
          </a:p>
          <a:p>
            <a:pPr algn="l">
              <a:spcBef>
                <a:spcPts val="0"/>
              </a:spcBef>
              <a:spcAft>
                <a:spcPts val="0"/>
              </a:spcAft>
              <a:defRPr sz="1210" b="0">
                <a:solidFill>
                  <a:srgbClr val="1F3042"/>
                </a:solidFill>
                <a:latin typeface="Arial"/>
              </a:defRPr>
            </a:pPr>
            <a:r>
              <a:t>AP nội bộ 0,899385 và AP V3 1,0000: hai giao thức probe khác nhau.</a:t>
            </a:r>
          </a:p>
        </p:txBody>
      </p:sp>
      <p:sp>
        <p:nvSpPr>
          <p:cNvPr id="16" name="TextBox 15"/>
          <p:cNvSpPr txBox="1"/>
          <p:nvPr/>
        </p:nvSpPr>
        <p:spPr>
          <a:xfrm>
            <a:off x="566928" y="6108192"/>
            <a:ext cx="11018520" cy="237744"/>
          </a:xfrm>
          <a:prstGeom prst="rect">
            <a:avLst/>
          </a:prstGeom>
          <a:noFill/>
        </p:spPr>
        <p:txBody>
          <a:bodyPr wrap="square" lIns="9144" rIns="9144" tIns="9144" bIns="9144" anchor="ctr">
            <a:spAutoFit/>
          </a:bodyPr>
          <a:lstStyle/>
          <a:p>
            <a:pPr algn="l">
              <a:spcBef>
                <a:spcPts val="0"/>
              </a:spcBef>
              <a:spcAft>
                <a:spcPts val="0"/>
              </a:spcAft>
              <a:defRPr sz="1120" b="1">
                <a:solidFill>
                  <a:srgbClr val="1E7475"/>
                </a:solidFill>
                <a:latin typeface="Arial"/>
              </a:defRPr>
            </a:pPr>
            <a:r>
              <a:t>Mở: evaluation_v3/h1_ablation/H1_FROZEN_MASKING_ABLATION_SUMMARY.json; evidence/MANUAL_RUN_SUMMARY.txt</a:t>
            </a:r>
          </a:p>
        </p:txBody>
      </p:sp>
    </p:spTree>
    <p:extLst>
      <p:ext uri="{BB962C8B-B14F-4D97-AF65-F5344CB8AC3E}">
        <p14:creationId xmlns:p14="http://schemas.microsoft.com/office/powerpoint/2010/main" val="1687760143"/>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TextBox 1"/>
          <p:cNvSpPr txBox="1"/>
          <p:nvPr/>
        </p:nvSpPr>
        <p:spPr>
          <a:xfrm>
            <a:off x="502920" y="219456"/>
            <a:ext cx="11064240" cy="429768"/>
          </a:xfrm>
          <a:prstGeom prst="rect">
            <a:avLst/>
          </a:prstGeom>
          <a:noFill/>
        </p:spPr>
        <p:txBody>
          <a:bodyPr wrap="square" lIns="9144" rIns="9144" tIns="9144" bIns="9144" anchor="ctr">
            <a:spAutoFit/>
          </a:bodyPr>
          <a:lstStyle/>
          <a:p>
            <a:pPr algn="l">
              <a:spcBef>
                <a:spcPts val="0"/>
              </a:spcBef>
              <a:spcAft>
                <a:spcPts val="0"/>
              </a:spcAft>
              <a:defRPr sz="2600" b="1">
                <a:solidFill>
                  <a:srgbClr val="1F3042"/>
                </a:solidFill>
                <a:latin typeface="Arial"/>
              </a:defRPr>
            </a:pPr>
            <a:r>
              <a:t>Bản đồ chứng cứ để bảo vệ kết quả</a:t>
            </a:r>
          </a:p>
        </p:txBody>
      </p:sp>
      <p:sp>
        <p:nvSpPr>
          <p:cNvPr id="3" name="TextBox 2"/>
          <p:cNvSpPr txBox="1"/>
          <p:nvPr/>
        </p:nvSpPr>
        <p:spPr>
          <a:xfrm>
            <a:off x="521207" y="731520"/>
            <a:ext cx="11064240" cy="256032"/>
          </a:xfrm>
          <a:prstGeom prst="rect">
            <a:avLst/>
          </a:prstGeom>
          <a:noFill/>
        </p:spPr>
        <p:txBody>
          <a:bodyPr wrap="square" lIns="9144" rIns="9144" tIns="9144" bIns="9144" anchor="ctr">
            <a:spAutoFit/>
          </a:bodyPr>
          <a:lstStyle/>
          <a:p>
            <a:pPr algn="l">
              <a:spcBef>
                <a:spcPts val="0"/>
              </a:spcBef>
              <a:spcAft>
                <a:spcPts val="0"/>
              </a:spcAft>
              <a:defRPr sz="1300" b="0">
                <a:solidFill>
                  <a:srgbClr val="5E6970"/>
                </a:solidFill>
                <a:latin typeface="Arial"/>
              </a:defRPr>
            </a:pPr>
            <a:r>
              <a:t>Kết luận nào nói được, mở tệp nào để chứng minh, và chỗ nào còn thiếu</a:t>
            </a:r>
          </a:p>
        </p:txBody>
      </p:sp>
      <p:sp>
        <p:nvSpPr>
          <p:cNvPr id="4" name="Rectangle 3"/>
          <p:cNvSpPr/>
          <p:nvPr/>
        </p:nvSpPr>
        <p:spPr>
          <a:xfrm>
            <a:off x="512064" y="1097280"/>
            <a:ext cx="11155680" cy="16459"/>
          </a:xfrm>
          <a:prstGeom prst="rect">
            <a:avLst/>
          </a:prstGeom>
          <a:solidFill>
            <a:srgbClr val="1E7475"/>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512064" y="6437376"/>
            <a:ext cx="10378440" cy="173736"/>
          </a:xfrm>
          <a:prstGeom prst="rect">
            <a:avLst/>
          </a:prstGeom>
          <a:noFill/>
        </p:spPr>
        <p:txBody>
          <a:bodyPr wrap="square" lIns="9144" rIns="9144" tIns="9144" bIns="9144" anchor="ctr">
            <a:spAutoFit/>
          </a:bodyPr>
          <a:lstStyle/>
          <a:p>
            <a:pPr algn="l">
              <a:spcBef>
                <a:spcPts val="0"/>
              </a:spcBef>
              <a:spcAft>
                <a:spcPts val="0"/>
              </a:spcAft>
              <a:defRPr sz="919" b="0">
                <a:solidFill>
                  <a:srgbClr val="5E6970"/>
                </a:solidFill>
                <a:latin typeface="Arial"/>
              </a:defRPr>
            </a:pPr>
            <a:r>
              <a:t>Word: Mục 3.2.3–3.3.3, Kết luận Chương 3  ·  bao-ve/BAN-DO-CHUNG-CU.md</a:t>
            </a:r>
          </a:p>
        </p:txBody>
      </p:sp>
      <p:sp>
        <p:nvSpPr>
          <p:cNvPr id="6" name="TextBox 5"/>
          <p:cNvSpPr txBox="1"/>
          <p:nvPr/>
        </p:nvSpPr>
        <p:spPr>
          <a:xfrm>
            <a:off x="10881360" y="6437376"/>
            <a:ext cx="758952" cy="173736"/>
          </a:xfrm>
          <a:prstGeom prst="rect">
            <a:avLst/>
          </a:prstGeom>
          <a:noFill/>
        </p:spPr>
        <p:txBody>
          <a:bodyPr wrap="square" lIns="9144" rIns="9144" tIns="9144" bIns="9144" anchor="ctr">
            <a:spAutoFit/>
          </a:bodyPr>
          <a:lstStyle/>
          <a:p>
            <a:pPr algn="r">
              <a:spcBef>
                <a:spcPts val="0"/>
              </a:spcBef>
              <a:spcAft>
                <a:spcPts val="0"/>
              </a:spcAft>
              <a:defRPr sz="919" b="1">
                <a:solidFill>
                  <a:srgbClr val="5E6970"/>
                </a:solidFill>
                <a:latin typeface="Arial"/>
              </a:defRPr>
            </a:pPr>
            <a:r>
              <a:t>10 / 10</a:t>
            </a:r>
          </a:p>
        </p:txBody>
      </p:sp>
      <p:sp>
        <p:nvSpPr>
          <p:cNvPr id="7" name="TextBox 6"/>
          <p:cNvSpPr txBox="1"/>
          <p:nvPr/>
        </p:nvSpPr>
        <p:spPr>
          <a:xfrm>
            <a:off x="539496" y="1362456"/>
            <a:ext cx="11082528" cy="228600"/>
          </a:xfrm>
          <a:prstGeom prst="rect">
            <a:avLst/>
          </a:prstGeom>
          <a:noFill/>
        </p:spPr>
        <p:txBody>
          <a:bodyPr wrap="square" lIns="9144" rIns="9144" tIns="9144" bIns="9144" anchor="ctr">
            <a:spAutoFit/>
          </a:bodyPr>
          <a:lstStyle/>
          <a:p>
            <a:pPr algn="l">
              <a:spcBef>
                <a:spcPts val="0"/>
              </a:spcBef>
              <a:spcAft>
                <a:spcPts val="0"/>
              </a:spcAft>
              <a:defRPr sz="1300" b="1">
                <a:solidFill>
                  <a:srgbClr val="1E7475"/>
                </a:solidFill>
                <a:latin typeface="Arial"/>
              </a:defRPr>
            </a:pPr>
            <a:r>
              <a:t>MỞ TRONG VS CODE THEO THỨ TỰ CÂU HỎI</a:t>
            </a:r>
          </a:p>
        </p:txBody>
      </p:sp>
      <p:graphicFrame>
        <p:nvGraphicFramePr>
          <p:cNvPr id="8" name="Table 7"/>
          <p:cNvGraphicFramePr>
            <a:graphicFrameLocks noGrp="1"/>
          </p:cNvGraphicFramePr>
          <p:nvPr/>
        </p:nvGraphicFramePr>
        <p:xfrm>
          <a:off x="539496" y="1700784"/>
          <a:ext cx="11128248" cy="3383280"/>
        </p:xfrm>
        <a:graphic>
          <a:graphicData uri="http://schemas.openxmlformats.org/drawingml/2006/table">
            <a:tbl>
              <a:tblPr firstRow="1" bandRow="1">
                <a:tableStyleId>{5C22544A-7EE6-4342-B048-85BDC9FD1C3A}</a:tableStyleId>
              </a:tblPr>
              <a:tblGrid>
                <a:gridCol w="1956816"/>
                <a:gridCol w="4700016"/>
                <a:gridCol w="4471416"/>
              </a:tblGrid>
              <a:tr h="563880">
                <a:tc>
                  <a:txBody>
                    <a:bodyPr/>
                    <a:lstStyle/>
                    <a:p>
                      <a:pPr algn="l">
                        <a:defRPr sz="1150" b="1">
                          <a:solidFill>
                            <a:srgbClr val="FFFFFF"/>
                          </a:solidFill>
                          <a:latin typeface="Arial"/>
                        </a:defRPr>
                      </a:pPr>
                      <a:r>
                        <a:t>Cô hỏi</a:t>
                      </a:r>
                    </a:p>
                  </a:txBody>
                  <a:tcPr marL="54864" marR="54864" marT="18288" marB="18288" anchor="ctr">
                    <a:solidFill>
                      <a:srgbClr val="1E7475"/>
                    </a:solidFill>
                  </a:tcPr>
                </a:tc>
                <a:tc>
                  <a:txBody>
                    <a:bodyPr/>
                    <a:lstStyle/>
                    <a:p>
                      <a:pPr algn="l">
                        <a:defRPr sz="1150" b="1">
                          <a:solidFill>
                            <a:srgbClr val="FFFFFF"/>
                          </a:solidFill>
                          <a:latin typeface="Arial"/>
                        </a:defRPr>
                      </a:pPr>
                      <a:r>
                        <a:t>Bằng chứng cần mở</a:t>
                      </a:r>
                    </a:p>
                  </a:txBody>
                  <a:tcPr marL="54864" marR="54864" marT="18288" marB="18288" anchor="ctr">
                    <a:solidFill>
                      <a:srgbClr val="1E7475"/>
                    </a:solidFill>
                  </a:tcPr>
                </a:tc>
                <a:tc>
                  <a:txBody>
                    <a:bodyPr/>
                    <a:lstStyle/>
                    <a:p>
                      <a:pPr algn="l">
                        <a:defRPr sz="1150" b="1">
                          <a:solidFill>
                            <a:srgbClr val="FFFFFF"/>
                          </a:solidFill>
                          <a:latin typeface="Arial"/>
                        </a:defRPr>
                      </a:pPr>
                      <a:r>
                        <a:t>Điều có thể kết luận</a:t>
                      </a:r>
                    </a:p>
                  </a:txBody>
                  <a:tcPr marL="54864" marR="54864" marT="18288" marB="18288" anchor="ctr">
                    <a:solidFill>
                      <a:srgbClr val="1E7475"/>
                    </a:solidFill>
                  </a:tcPr>
                </a:tc>
              </a:tr>
              <a:tr h="563880">
                <a:tc>
                  <a:txBody>
                    <a:bodyPr/>
                    <a:lstStyle/>
                    <a:p>
                      <a:pPr algn="l">
                        <a:defRPr sz="1180" b="0">
                          <a:solidFill>
                            <a:srgbClr val="1F3042"/>
                          </a:solidFill>
                          <a:latin typeface="Arial"/>
                        </a:defRPr>
                      </a:pPr>
                      <a:r>
                        <a:t>Dữ liệu chia ra sao?</a:t>
                      </a:r>
                    </a:p>
                  </a:txBody>
                  <a:tcPr marL="54864" marR="54864" marT="18288" marB="18288" anchor="ctr">
                    <a:solidFill>
                      <a:srgbClr val="EFF8F6"/>
                    </a:solidFill>
                  </a:tcPr>
                </a:tc>
                <a:tc>
                  <a:txBody>
                    <a:bodyPr/>
                    <a:lstStyle/>
                    <a:p>
                      <a:pPr algn="l">
                        <a:defRPr sz="1060" b="0">
                          <a:solidFill>
                            <a:srgbClr val="1F3042"/>
                          </a:solidFill>
                          <a:latin typeface="Arial"/>
                        </a:defRPr>
                      </a:pPr>
                      <a:r>
                        <a:t>datasets/manifests/SUBSET-MANIFEST-HDFS.json</a:t>
                      </a:r>
                    </a:p>
                  </a:txBody>
                  <a:tcPr marL="54864" marR="54864" marT="18288" marB="18288" anchor="ctr">
                    <a:solidFill>
                      <a:srgbClr val="EFF8F6"/>
                    </a:solidFill>
                  </a:tcPr>
                </a:tc>
                <a:tc>
                  <a:txBody>
                    <a:bodyPr/>
                    <a:lstStyle/>
                    <a:p>
                      <a:pPr algn="l">
                        <a:defRPr sz="1160" b="0">
                          <a:solidFill>
                            <a:srgbClr val="1F3042"/>
                          </a:solidFill>
                          <a:latin typeface="Arial"/>
                        </a:defRPr>
                      </a:pPr>
                      <a:r>
                        <a:t>Train trước Val; Test SEALED trong manifest</a:t>
                      </a:r>
                    </a:p>
                  </a:txBody>
                  <a:tcPr marL="54864" marR="54864" marT="18288" marB="18288" anchor="ctr">
                    <a:solidFill>
                      <a:srgbClr val="EFF8F6"/>
                    </a:solidFill>
                  </a:tcPr>
                </a:tc>
              </a:tr>
              <a:tr h="563880">
                <a:tc>
                  <a:txBody>
                    <a:bodyPr/>
                    <a:lstStyle/>
                    <a:p>
                      <a:pPr algn="l">
                        <a:defRPr sz="1180" b="0">
                          <a:solidFill>
                            <a:srgbClr val="1F3042"/>
                          </a:solidFill>
                          <a:latin typeface="Arial"/>
                        </a:defRPr>
                      </a:pPr>
                      <a:r>
                        <a:t>Mô hình học gì?</a:t>
                      </a:r>
                    </a:p>
                  </a:txBody>
                  <a:tcPr marL="54864" marR="54864" marT="18288" marB="18288" anchor="ctr">
                    <a:solidFill>
                      <a:srgbClr val="FFFFFF"/>
                    </a:solidFill>
                  </a:tcPr>
                </a:tc>
                <a:tc>
                  <a:txBody>
                    <a:bodyPr/>
                    <a:lstStyle/>
                    <a:p>
                      <a:pPr algn="l">
                        <a:defRPr sz="1060" b="0">
                          <a:solidFill>
                            <a:srgbClr val="1F3042"/>
                          </a:solidFill>
                          <a:latin typeface="Arial"/>
                        </a:defRPr>
                      </a:pPr>
                      <a:r>
                        <a:t>stage_a2_trainer.py:261–286; multi_view.py:215–249,329–340</a:t>
                      </a:r>
                    </a:p>
                  </a:txBody>
                  <a:tcPr marL="54864" marR="54864" marT="18288" marB="18288" anchor="ctr">
                    <a:solidFill>
                      <a:srgbClr val="FFFFFF"/>
                    </a:solidFill>
                  </a:tcPr>
                </a:tc>
                <a:tc>
                  <a:txBody>
                    <a:bodyPr/>
                    <a:lstStyle/>
                    <a:p>
                      <a:pPr algn="l">
                        <a:defRPr sz="1160" b="0">
                          <a:solidFill>
                            <a:srgbClr val="1F3042"/>
                          </a:solidFill>
                          <a:latin typeface="Arial"/>
                        </a:defRPr>
                      </a:pPr>
                      <a:r>
                        <a:t>3 loss đồ thị; VICReg chỉ dùng ở đường huấn luyện</a:t>
                      </a:r>
                    </a:p>
                  </a:txBody>
                  <a:tcPr marL="54864" marR="54864" marT="18288" marB="18288" anchor="ctr">
                    <a:solidFill>
                      <a:srgbClr val="FFFFFF"/>
                    </a:solidFill>
                  </a:tcPr>
                </a:tc>
              </a:tr>
              <a:tr h="563880">
                <a:tc>
                  <a:txBody>
                    <a:bodyPr/>
                    <a:lstStyle/>
                    <a:p>
                      <a:pPr algn="l">
                        <a:defRPr sz="1180" b="0">
                          <a:solidFill>
                            <a:srgbClr val="1F3042"/>
                          </a:solidFill>
                          <a:latin typeface="Arial"/>
                        </a:defRPr>
                      </a:pPr>
                      <a:r>
                        <a:t>Ai được cập nhật ở V3?</a:t>
                      </a:r>
                    </a:p>
                  </a:txBody>
                  <a:tcPr marL="54864" marR="54864" marT="18288" marB="18288" anchor="ctr">
                    <a:solidFill>
                      <a:srgbClr val="EFF8F6"/>
                    </a:solidFill>
                  </a:tcPr>
                </a:tc>
                <a:tc>
                  <a:txBody>
                    <a:bodyPr/>
                    <a:lstStyle/>
                    <a:p>
                      <a:pPr algn="l">
                        <a:defRPr sz="1060" b="0">
                          <a:solidFill>
                            <a:srgbClr val="1F3042"/>
                          </a:solidFill>
                          <a:latin typeface="Arial"/>
                        </a:defRPr>
                      </a:pPr>
                      <a:r>
                        <a:t>scripts/evaluate_nineplus_v3.py:187–327</a:t>
                      </a:r>
                    </a:p>
                  </a:txBody>
                  <a:tcPr marL="54864" marR="54864" marT="18288" marB="18288" anchor="ctr">
                    <a:solidFill>
                      <a:srgbClr val="EFF8F6"/>
                    </a:solidFill>
                  </a:tcPr>
                </a:tc>
                <a:tc>
                  <a:txBody>
                    <a:bodyPr/>
                    <a:lstStyle/>
                    <a:p>
                      <a:pPr algn="l">
                        <a:defRPr sz="1160" b="0">
                          <a:solidFill>
                            <a:srgbClr val="1F3042"/>
                          </a:solidFill>
                          <a:latin typeface="Arial"/>
                        </a:defRPr>
                      </a:pPr>
                      <a:r>
                        <a:t>optimizer chỉ nhận probe.parameters(); backbone 0 bước</a:t>
                      </a:r>
                    </a:p>
                  </a:txBody>
                  <a:tcPr marL="54864" marR="54864" marT="18288" marB="18288" anchor="ctr">
                    <a:solidFill>
                      <a:srgbClr val="EFF8F6"/>
                    </a:solidFill>
                  </a:tcPr>
                </a:tc>
              </a:tr>
              <a:tr h="563880">
                <a:tc>
                  <a:txBody>
                    <a:bodyPr/>
                    <a:lstStyle/>
                    <a:p>
                      <a:pPr algn="l">
                        <a:defRPr sz="1180" b="0">
                          <a:solidFill>
                            <a:srgbClr val="1F3042"/>
                          </a:solidFill>
                          <a:latin typeface="Arial"/>
                        </a:defRPr>
                      </a:pPr>
                      <a:r>
                        <a:t>Sáu số AP từ đâu?</a:t>
                      </a:r>
                    </a:p>
                  </a:txBody>
                  <a:tcPr marL="54864" marR="54864" marT="18288" marB="18288" anchor="ctr">
                    <a:solidFill>
                      <a:srgbClr val="FFFFFF"/>
                    </a:solidFill>
                  </a:tcPr>
                </a:tc>
                <a:tc>
                  <a:txBody>
                    <a:bodyPr/>
                    <a:lstStyle/>
                    <a:p>
                      <a:pPr algn="l">
                        <a:defRPr sz="1060" b="0">
                          <a:solidFill>
                            <a:srgbClr val="1F3042"/>
                          </a:solidFill>
                          <a:latin typeface="Arial"/>
                        </a:defRPr>
                      </a:pPr>
                      <a:r>
                        <a:t>evaluation_v3/V3_SIX_BACKBONE_EVALUATION_SUMMARY.json</a:t>
                      </a:r>
                    </a:p>
                  </a:txBody>
                  <a:tcPr marL="54864" marR="54864" marT="18288" marB="18288" anchor="ctr">
                    <a:solidFill>
                      <a:srgbClr val="FFFFFF"/>
                    </a:solidFill>
                  </a:tcPr>
                </a:tc>
                <a:tc>
                  <a:txBody>
                    <a:bodyPr/>
                    <a:lstStyle/>
                    <a:p>
                      <a:pPr algn="l">
                        <a:defRPr sz="1160" b="0">
                          <a:solidFill>
                            <a:srgbClr val="1F3042"/>
                          </a:solidFill>
                          <a:latin typeface="Arial"/>
                        </a:defRPr>
                      </a:pPr>
                      <a:r>
                        <a:t>Sequence 1,0000; Multi-View 0,6608 ± 0,0885</a:t>
                      </a:r>
                    </a:p>
                  </a:txBody>
                  <a:tcPr marL="54864" marR="54864" marT="18288" marB="18288" anchor="ctr">
                    <a:solidFill>
                      <a:srgbClr val="FFFFFF"/>
                    </a:solidFill>
                  </a:tcPr>
                </a:tc>
              </a:tr>
              <a:tr h="563880">
                <a:tc>
                  <a:txBody>
                    <a:bodyPr/>
                    <a:lstStyle/>
                    <a:p>
                      <a:pPr algn="l">
                        <a:defRPr sz="1180" b="0">
                          <a:solidFill>
                            <a:srgbClr val="1F3042"/>
                          </a:solidFill>
                          <a:latin typeface="Arial"/>
                        </a:defRPr>
                      </a:pPr>
                      <a:r>
                        <a:t>H2 và H1 đến đâu?</a:t>
                      </a:r>
                    </a:p>
                  </a:txBody>
                  <a:tcPr marL="54864" marR="54864" marT="18288" marB="18288" anchor="ctr">
                    <a:solidFill>
                      <a:srgbClr val="EFF8F6"/>
                    </a:solidFill>
                  </a:tcPr>
                </a:tc>
                <a:tc>
                  <a:txBody>
                    <a:bodyPr/>
                    <a:lstStyle/>
                    <a:p>
                      <a:pPr algn="l">
                        <a:defRPr sz="1060" b="0">
                          <a:solidFill>
                            <a:srgbClr val="1F3042"/>
                          </a:solidFill>
                          <a:latin typeface="Arial"/>
                        </a:defRPr>
                      </a:pPr>
                      <a:r>
                        <a:t>H2_SEQUENCE_NOPARAM_SENSITIVITY.json; h1_ablation/</a:t>
                      </a:r>
                    </a:p>
                  </a:txBody>
                  <a:tcPr marL="54864" marR="54864" marT="18288" marB="18288" anchor="ctr">
                    <a:solidFill>
                      <a:srgbClr val="EFF8F6"/>
                    </a:solidFill>
                  </a:tcPr>
                </a:tc>
                <a:tc>
                  <a:txBody>
                    <a:bodyPr/>
                    <a:lstStyle/>
                    <a:p>
                      <a:pPr algn="l">
                        <a:defRPr sz="1160" b="0">
                          <a:solidFill>
                            <a:srgbClr val="1F3042"/>
                          </a:solidFill>
                          <a:latin typeface="Arial"/>
                        </a:defRPr>
                      </a:pPr>
                      <a:r>
                        <a:t>H2 không hỗ trợ; H1 chưa đo đúng cấp token</a:t>
                      </a:r>
                    </a:p>
                  </a:txBody>
                  <a:tcPr marL="54864" marR="54864" marT="18288" marB="18288" anchor="ctr">
                    <a:solidFill>
                      <a:srgbClr val="EFF8F6"/>
                    </a:solidFill>
                  </a:tcPr>
                </a:tc>
              </a:tr>
            </a:tbl>
          </a:graphicData>
        </a:graphic>
      </p:graphicFrame>
      <p:sp>
        <p:nvSpPr>
          <p:cNvPr id="9" name="Rounded Rectangle 8"/>
          <p:cNvSpPr/>
          <p:nvPr/>
        </p:nvSpPr>
        <p:spPr>
          <a:xfrm>
            <a:off x="539496" y="5257800"/>
            <a:ext cx="5394960" cy="649224"/>
          </a:xfrm>
          <a:prstGeom prst="roundRect">
            <a:avLst>
              <a:gd name="adj" fmla="val 8000"/>
            </a:avLst>
          </a:prstGeom>
          <a:solidFill>
            <a:srgbClr val="EFF8F6"/>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94944" y="5367528"/>
            <a:ext cx="5074920" cy="448056"/>
          </a:xfrm>
          <a:prstGeom prst="rect">
            <a:avLst/>
          </a:prstGeom>
          <a:noFill/>
        </p:spPr>
        <p:txBody>
          <a:bodyPr wrap="square" lIns="9144" rIns="9144" tIns="9144" bIns="9144" anchor="ctr">
            <a:spAutoFit/>
          </a:bodyPr>
          <a:lstStyle/>
          <a:p>
            <a:pPr algn="l">
              <a:spcBef>
                <a:spcPts val="0"/>
              </a:spcBef>
              <a:spcAft>
                <a:spcPts val="0"/>
              </a:spcAft>
              <a:defRPr sz="1280" b="1">
                <a:solidFill>
                  <a:srgbClr val="1F3042"/>
                </a:solidFill>
                <a:latin typeface="Arial"/>
              </a:defRPr>
            </a:pPr>
            <a:r>
              <a:t>Đã có: C1 đặc tả; C2 kiến trúc; C3 hiện thực + kiểm toán.</a:t>
            </a:r>
          </a:p>
        </p:txBody>
      </p:sp>
      <p:sp>
        <p:nvSpPr>
          <p:cNvPr id="11" name="Rounded Rectangle 10"/>
          <p:cNvSpPr/>
          <p:nvPr/>
        </p:nvSpPr>
        <p:spPr>
          <a:xfrm>
            <a:off x="6135624" y="5257800"/>
            <a:ext cx="5532120" cy="649224"/>
          </a:xfrm>
          <a:prstGeom prst="roundRect">
            <a:avLst>
              <a:gd name="adj" fmla="val 8000"/>
            </a:avLst>
          </a:prstGeom>
          <a:solidFill>
            <a:srgbClr val="FCFAF5"/>
          </a:solidFill>
          <a:ln>
            <a:solidFill>
              <a:srgbClr val="D6E1E3"/>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2" name="TextBox 11"/>
          <p:cNvSpPr txBox="1"/>
          <p:nvPr/>
        </p:nvSpPr>
        <p:spPr>
          <a:xfrm>
            <a:off x="6291072" y="5367528"/>
            <a:ext cx="5230368" cy="448056"/>
          </a:xfrm>
          <a:prstGeom prst="rect">
            <a:avLst/>
          </a:prstGeom>
          <a:noFill/>
        </p:spPr>
        <p:txBody>
          <a:bodyPr wrap="square" lIns="9144" rIns="9144" tIns="9144" bIns="9144" anchor="ctr">
            <a:spAutoFit/>
          </a:bodyPr>
          <a:lstStyle/>
          <a:p>
            <a:pPr algn="l">
              <a:spcBef>
                <a:spcPts val="0"/>
              </a:spcBef>
              <a:spcAft>
                <a:spcPts val="0"/>
              </a:spcAft>
              <a:defRPr sz="1250" b="1">
                <a:solidFill>
                  <a:srgbClr val="95463A"/>
                </a:solidFill>
                <a:latin typeface="Arial"/>
              </a:defRPr>
            </a:pPr>
            <a:r>
              <a:t>Chưa có: H1 cấp token; H3–H5; Graph-Only V3; độ trễ; Test.</a:t>
            </a:r>
          </a:p>
        </p:txBody>
      </p:sp>
      <p:sp>
        <p:nvSpPr>
          <p:cNvPr id="13" name="TextBox 12"/>
          <p:cNvSpPr txBox="1"/>
          <p:nvPr/>
        </p:nvSpPr>
        <p:spPr>
          <a:xfrm>
            <a:off x="566928" y="6108192"/>
            <a:ext cx="11018520" cy="237744"/>
          </a:xfrm>
          <a:prstGeom prst="rect">
            <a:avLst/>
          </a:prstGeom>
          <a:noFill/>
        </p:spPr>
        <p:txBody>
          <a:bodyPr wrap="square" lIns="9144" rIns="9144" tIns="9144" bIns="9144" anchor="ctr">
            <a:spAutoFit/>
          </a:bodyPr>
          <a:lstStyle/>
          <a:p>
            <a:pPr algn="l">
              <a:spcBef>
                <a:spcPts val="0"/>
              </a:spcBef>
              <a:spcAft>
                <a:spcPts val="0"/>
              </a:spcAft>
              <a:defRPr sz="1200" b="1">
                <a:solidFill>
                  <a:srgbClr val="1E7475"/>
                </a:solidFill>
                <a:latin typeface="Arial"/>
              </a:defRPr>
            </a:pPr>
            <a:r>
              <a:t>Chỉ công bố kết luận trong phạm vi HDFS Validation; chưa có bằng chứng để gọi mô hình đa góc nhìn tốt hơn.</a:t>
            </a:r>
          </a:p>
        </p:txBody>
      </p:sp>
    </p:spTree>
    <p:extLst>
      <p:ext uri="{BB962C8B-B14F-4D97-AF65-F5344CB8AC3E}">
        <p14:creationId xmlns:p14="http://schemas.microsoft.com/office/powerpoint/2010/main" val="1954728657"/>
      </p:ext>
    </p:extLst>
  </p:cSld>
  <p:clrMapOvr>
    <a:masterClrMapping/>
  </p:clrMapOvr>
</p:sld>
</file>

<file path=ppt/theme/theme1.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ppt/theme/theme2.xml><?xml version="1.0" encoding="utf-8"?>
<a:theme xmlns:a="http://schemas.openxmlformats.org/drawingml/2006/main" name="ChatGPT">
  <a:themeElements>
    <a:clrScheme name="ChatGPT">
      <a:dk1>
        <a:srgbClr val="000000"/>
      </a:dk1>
      <a:lt1>
        <a:srgbClr val="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Calibri Light"/>
        <a:ea typeface="Calibri Light"/>
        <a:cs typeface="Calibri Light"/>
      </a:majorFont>
      <a:minorFont>
        <a:latin typeface="Calibri"/>
        <a:ea typeface="Calibri"/>
        <a:cs typeface="Calibri"/>
      </a:minorFont>
    </a:fontScheme>
    <a:fmtScheme name="ChatGPT">
      <a:fillStyleLst>
        <a:solidFill>
          <a:schemeClr val="phClr"/>
        </a:solidFill>
        <a:gradFill>
          <a:gsLst>
            <a:gs pos="0">
              <a:schemeClr val="phClr">
                <a:tint val="67000"/>
                <a:lumMod val="110000"/>
                <a:satMod val="105000"/>
              </a:schemeClr>
            </a:gs>
            <a:gs pos="50000">
              <a:schemeClr val="phClr">
                <a:tint val="73000"/>
                <a:lumMod val="105000"/>
                <a:satMod val="103000"/>
              </a:schemeClr>
            </a:gs>
            <a:gs pos="100000">
              <a:schemeClr val="phClr">
                <a:tint val="81000"/>
                <a:lumMod val="105000"/>
                <a:satMod val="109000"/>
              </a:schemeClr>
            </a:gs>
          </a:gsLst>
          <a:lin ang="5400000" scaled="0"/>
        </a:gradFill>
        <a:gradFill>
          <a:gsLst>
            <a:gs pos="0">
              <a:schemeClr val="phClr">
                <a:tint val="94000"/>
                <a:lumMod val="102000"/>
                <a:satMod val="103000"/>
              </a:schemeClr>
            </a:gs>
            <a:gs pos="50000">
              <a:schemeClr val="phClr">
                <a:shade val="100000"/>
                <a:lumMod val="100000"/>
                <a:satMod val="110000"/>
              </a:schemeClr>
            </a:gs>
            <a:gs pos="100000">
              <a:schemeClr val="phClr">
                <a:shade val="78000"/>
                <a:lumMod val="99000"/>
                <a:satMod val="120000"/>
              </a:schemeClr>
            </a:gs>
          </a:gsLst>
          <a:lin ang="5400000" scaled="0"/>
        </a:gradFill>
      </a:fillStyleLst>
      <a:lnStyleLst>
        <a:ln w="12700">
          <a:solidFill>
            <a:schemeClr val="phClr"/>
          </a:solidFill>
          <a:prstDash val="solid"/>
        </a:ln>
        <a:ln w="19050">
          <a:solidFill>
            <a:schemeClr val="phClr"/>
          </a:solidFill>
          <a:prstDash val="solid"/>
        </a:ln>
        <a:ln w="25400">
          <a:solidFill>
            <a:schemeClr val="phClr"/>
          </a:solidFill>
          <a:prstDash val="solid"/>
        </a:ln>
      </a:lnStyleLst>
      <a:effectStyleLst>
        <a:effectStyle>
          <a:effectLst/>
        </a:effectStyle>
        <a:effectStyle>
          <a:effectLst/>
        </a:effectStyle>
        <a:effectStyle>
          <a:effectLst>
            <a:outerShdw blurRad="57150" dist="19050" dir="5400000">
              <a:srgbClr val="000000">
                <a:alpha val="16000"/>
              </a:srgbClr>
            </a:outerShdw>
          </a:effectLst>
        </a:effectStyle>
        <a:effectStyle>
          <a:effectLst>
            <a:outerShdw blurRad="19050" dist="9525" dir="5400000">
              <a:srgbClr val="000000">
                <a:alpha val="6000"/>
              </a:srgbClr>
            </a:outerShdw>
          </a:effectLst>
        </a:effectStyle>
        <a:effectStyle>
          <a:effectLst>
            <a:outerShdw blurRad="28575" dist="9525" dir="5400000">
              <a:srgbClr val="000000">
                <a:alpha val="8000"/>
              </a:srgbClr>
            </a:outerShdw>
          </a:effectLst>
        </a:effectStyle>
        <a:effectStyle>
          <a:effectLst>
            <a:outerShdw blurRad="57150" dist="19050" dir="5400000">
              <a:srgbClr val="000000">
                <a:alpha val="10000"/>
              </a:srgbClr>
            </a:outerShdw>
          </a:effectLst>
        </a:effectStyle>
        <a:effectStyle>
          <a:effectLst>
            <a:outerShdw blurRad="114300" dist="38100" dir="5400000">
              <a:srgbClr val="000000">
                <a:alpha val="12000"/>
              </a:srgbClr>
            </a:outerShdw>
          </a:effectLst>
        </a:effectStyle>
        <a:effectStyle>
          <a:effectLst>
            <a:outerShdw blurRad="171450" dist="57150" dir="5400000">
              <a:srgbClr val="000000">
                <a:alpha val="16000"/>
              </a:srgbClr>
            </a:outerShdw>
          </a:effectLst>
        </a:effectStyle>
        <a:effectStyle>
          <a:effectLst>
            <a:outerShdw blurRad="266700" dist="95250" dir="5400000">
              <a:srgbClr val="000000">
                <a:alpha val="24000"/>
              </a:srgbClr>
            </a:outerShdw>
          </a:effectLst>
        </a:effectStyle>
      </a:effectStyleLst>
      <a:bgFillStyleLst>
        <a:solidFill>
          <a:schemeClr val="phClr"/>
        </a:solidFill>
        <a:solidFill>
          <a:schemeClr val="phClr">
            <a:tint val="95000"/>
            <a:satMod val="170000"/>
          </a:schemeClr>
        </a:solidFill>
        <a:gradFill>
          <a:gsLst>
            <a:gs pos="0">
              <a:schemeClr val="phClr">
                <a:tint val="93000"/>
                <a:shade val="98000"/>
                <a:lumMod val="102000"/>
                <a:satMod val="150000"/>
              </a:schemeClr>
            </a:gs>
            <a:gs pos="50000">
              <a:schemeClr val="phClr">
                <a:tint val="98000"/>
                <a:shade val="90000"/>
                <a:lumMod val="103000"/>
                <a:satMod val="130000"/>
              </a:schemeClr>
            </a:gs>
            <a:gs pos="100000">
              <a:schemeClr val="phClr">
                <a:shade val="63000"/>
                <a:satMod val="120000"/>
              </a:schemeClr>
            </a:gs>
          </a:gsLst>
          <a:lin ang="5400000" scaled="0"/>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4558</Words>
  <Application>Microsoft Office PowerPoint</Application>
  <DocSecurity>0</DocSecurity>
  <PresentationFormat>Widescreen</PresentationFormat>
  <Paragraphs>290</Paragraphs>
  <Slides>10</Slides>
  <Notes>10</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10</vt:i4>
      </vt:variant>
    </vt:vector>
  </HeadingPairs>
  <TitlesOfParts>
    <vt:vector size="13" baseType="lpstr">
      <vt:lpstr>Arial</vt:lpstr>
      <vt:lpstr>Calibri</vt:lpstr>
      <vt:lpstr>ChatGPT</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Presentation</dc:title>
  <dc:creator>Walnut Exporter</dc:creator>
  <cp:lastModifiedBy>Acer</cp:lastModifiedBy>
  <cp:revision>1</cp:revision>
  <dcterms:created xsi:type="dcterms:W3CDTF">2026-10-06T11:17:47Z</dcterms:created>
  <dcterms:modified xsi:type="dcterms:W3CDTF">2026-10-06T18:20:46Z</dcterms:modified>
</cp:coreProperties>
</file>